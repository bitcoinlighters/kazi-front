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7" d="100"/>
          <a:sy n="57" d="100"/>
        </p:scale>
        <p:origin x="744" y="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100" b="1" i="0">
                <a:solidFill>
                  <a:srgbClr val="1A1A2E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50" b="1" i="0">
                <a:solidFill>
                  <a:srgbClr val="696975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ts val="1655"/>
              </a:lnSpc>
              <a:tabLst>
                <a:tab pos="756285" algn="l"/>
              </a:tabLst>
            </a:pPr>
            <a:r>
              <a:rPr spc="130" dirty="0"/>
              <a:t>KAZI</a:t>
            </a:r>
            <a:r>
              <a:rPr spc="-250" dirty="0"/>
              <a:t> </a:t>
            </a:r>
            <a:r>
              <a:rPr sz="1450" b="0" spc="705" dirty="0">
                <a:latin typeface="Segoe UI Symbol"/>
                <a:cs typeface="Segoe UI Symbol"/>
              </a:rPr>
              <a:t>⚡</a:t>
            </a:r>
            <a:r>
              <a:rPr sz="1450" b="0" dirty="0">
                <a:latin typeface="Segoe UI Symbol"/>
                <a:cs typeface="Segoe UI Symbol"/>
              </a:rPr>
              <a:t>	</a:t>
            </a:r>
            <a:r>
              <a:rPr dirty="0"/>
              <a:t>•</a:t>
            </a:r>
            <a:r>
              <a:rPr spc="440" dirty="0"/>
              <a:t> </a:t>
            </a:r>
            <a:r>
              <a:rPr spc="120" dirty="0"/>
              <a:t>2026</a:t>
            </a:r>
            <a:endParaRPr sz="1450">
              <a:latin typeface="Segoe UI Symbol"/>
              <a:cs typeface="Segoe UI Symbol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50" b="1" i="0">
                <a:solidFill>
                  <a:srgbClr val="696975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pc="165" dirty="0"/>
              <a:t>0</a:t>
            </a:r>
            <a:fld id="{81D60167-4931-47E6-BA6A-407CBD079E47}" type="slidenum">
              <a:rPr spc="165" dirty="0"/>
              <a:t>‹#›</a:t>
            </a:fld>
            <a:r>
              <a:rPr spc="204" dirty="0"/>
              <a:t> </a:t>
            </a:r>
            <a:r>
              <a:rPr dirty="0"/>
              <a:t>/</a:t>
            </a:r>
            <a:r>
              <a:rPr spc="210" dirty="0"/>
              <a:t> </a:t>
            </a:r>
            <a:r>
              <a:rPr spc="-65" dirty="0"/>
              <a:t>12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100" b="1" i="0">
                <a:solidFill>
                  <a:srgbClr val="1A1A2E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50" b="1" i="0">
                <a:solidFill>
                  <a:srgbClr val="696975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ts val="1655"/>
              </a:lnSpc>
              <a:tabLst>
                <a:tab pos="756285" algn="l"/>
              </a:tabLst>
            </a:pPr>
            <a:r>
              <a:rPr spc="130" dirty="0"/>
              <a:t>KAZI</a:t>
            </a:r>
            <a:r>
              <a:rPr spc="-250" dirty="0"/>
              <a:t> </a:t>
            </a:r>
            <a:r>
              <a:rPr sz="1450" b="0" spc="705" dirty="0">
                <a:latin typeface="Segoe UI Symbol"/>
                <a:cs typeface="Segoe UI Symbol"/>
              </a:rPr>
              <a:t>⚡</a:t>
            </a:r>
            <a:r>
              <a:rPr sz="1450" b="0" dirty="0">
                <a:latin typeface="Segoe UI Symbol"/>
                <a:cs typeface="Segoe UI Symbol"/>
              </a:rPr>
              <a:t>	</a:t>
            </a:r>
            <a:r>
              <a:rPr dirty="0"/>
              <a:t>•</a:t>
            </a:r>
            <a:r>
              <a:rPr spc="440" dirty="0"/>
              <a:t> </a:t>
            </a:r>
            <a:r>
              <a:rPr spc="120" dirty="0"/>
              <a:t>2026</a:t>
            </a:r>
            <a:endParaRPr sz="1450">
              <a:latin typeface="Segoe UI Symbol"/>
              <a:cs typeface="Segoe UI Symbol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50" b="1" i="0">
                <a:solidFill>
                  <a:srgbClr val="696975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pc="165" dirty="0"/>
              <a:t>0</a:t>
            </a:r>
            <a:fld id="{81D60167-4931-47E6-BA6A-407CBD079E47}" type="slidenum">
              <a:rPr spc="165" dirty="0"/>
              <a:t>‹#›</a:t>
            </a:fld>
            <a:r>
              <a:rPr spc="204" dirty="0"/>
              <a:t> </a:t>
            </a:r>
            <a:r>
              <a:rPr dirty="0"/>
              <a:t>/</a:t>
            </a:r>
            <a:r>
              <a:rPr spc="210" dirty="0"/>
              <a:t> </a:t>
            </a:r>
            <a:r>
              <a:rPr spc="-65" dirty="0"/>
              <a:t>12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100" b="1" i="0">
                <a:solidFill>
                  <a:srgbClr val="1A1A2E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50" b="1" i="0">
                <a:solidFill>
                  <a:srgbClr val="696975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ts val="1655"/>
              </a:lnSpc>
              <a:tabLst>
                <a:tab pos="756285" algn="l"/>
              </a:tabLst>
            </a:pPr>
            <a:r>
              <a:rPr spc="130" dirty="0"/>
              <a:t>KAZI</a:t>
            </a:r>
            <a:r>
              <a:rPr spc="-250" dirty="0"/>
              <a:t> </a:t>
            </a:r>
            <a:r>
              <a:rPr sz="1450" b="0" spc="705" dirty="0">
                <a:latin typeface="Segoe UI Symbol"/>
                <a:cs typeface="Segoe UI Symbol"/>
              </a:rPr>
              <a:t>⚡</a:t>
            </a:r>
            <a:r>
              <a:rPr sz="1450" b="0" dirty="0">
                <a:latin typeface="Segoe UI Symbol"/>
                <a:cs typeface="Segoe UI Symbol"/>
              </a:rPr>
              <a:t>	</a:t>
            </a:r>
            <a:r>
              <a:rPr dirty="0"/>
              <a:t>•</a:t>
            </a:r>
            <a:r>
              <a:rPr spc="440" dirty="0"/>
              <a:t> </a:t>
            </a:r>
            <a:r>
              <a:rPr spc="120" dirty="0"/>
              <a:t>2026</a:t>
            </a:r>
            <a:endParaRPr sz="1450">
              <a:latin typeface="Segoe UI Symbol"/>
              <a:cs typeface="Segoe UI Symbol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50" b="1" i="0">
                <a:solidFill>
                  <a:srgbClr val="696975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pc="165" dirty="0"/>
              <a:t>0</a:t>
            </a:r>
            <a:fld id="{81D60167-4931-47E6-BA6A-407CBD079E47}" type="slidenum">
              <a:rPr spc="165" dirty="0"/>
              <a:t>‹#›</a:t>
            </a:fld>
            <a:r>
              <a:rPr spc="204" dirty="0"/>
              <a:t> </a:t>
            </a:r>
            <a:r>
              <a:rPr dirty="0"/>
              <a:t>/</a:t>
            </a:r>
            <a:r>
              <a:rPr spc="210" dirty="0"/>
              <a:t> </a:t>
            </a:r>
            <a:r>
              <a:rPr spc="-65" dirty="0"/>
              <a:t>12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100" b="1" i="0">
                <a:solidFill>
                  <a:srgbClr val="1A1A2E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50" b="1" i="0">
                <a:solidFill>
                  <a:srgbClr val="696975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ts val="1655"/>
              </a:lnSpc>
              <a:tabLst>
                <a:tab pos="756285" algn="l"/>
              </a:tabLst>
            </a:pPr>
            <a:r>
              <a:rPr spc="130" dirty="0"/>
              <a:t>KAZI</a:t>
            </a:r>
            <a:r>
              <a:rPr spc="-250" dirty="0"/>
              <a:t> </a:t>
            </a:r>
            <a:r>
              <a:rPr sz="1450" b="0" spc="705" dirty="0">
                <a:latin typeface="Segoe UI Symbol"/>
                <a:cs typeface="Segoe UI Symbol"/>
              </a:rPr>
              <a:t>⚡</a:t>
            </a:r>
            <a:r>
              <a:rPr sz="1450" b="0" dirty="0">
                <a:latin typeface="Segoe UI Symbol"/>
                <a:cs typeface="Segoe UI Symbol"/>
              </a:rPr>
              <a:t>	</a:t>
            </a:r>
            <a:r>
              <a:rPr dirty="0"/>
              <a:t>•</a:t>
            </a:r>
            <a:r>
              <a:rPr spc="440" dirty="0"/>
              <a:t> </a:t>
            </a:r>
            <a:r>
              <a:rPr spc="120" dirty="0"/>
              <a:t>2026</a:t>
            </a:r>
            <a:endParaRPr sz="1450">
              <a:latin typeface="Segoe UI Symbol"/>
              <a:cs typeface="Segoe UI Symbol"/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50" b="1" i="0">
                <a:solidFill>
                  <a:srgbClr val="696975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pc="165" dirty="0"/>
              <a:t>0</a:t>
            </a:r>
            <a:fld id="{81D60167-4931-47E6-BA6A-407CBD079E47}" type="slidenum">
              <a:rPr spc="165" dirty="0"/>
              <a:t>‹#›</a:t>
            </a:fld>
            <a:r>
              <a:rPr spc="204" dirty="0"/>
              <a:t> </a:t>
            </a:r>
            <a:r>
              <a:rPr dirty="0"/>
              <a:t>/</a:t>
            </a:r>
            <a:r>
              <a:rPr spc="210" dirty="0"/>
              <a:t> </a:t>
            </a:r>
            <a:r>
              <a:rPr spc="-65" dirty="0"/>
              <a:t>12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50" b="1" i="0">
                <a:solidFill>
                  <a:srgbClr val="696975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ts val="1655"/>
              </a:lnSpc>
              <a:tabLst>
                <a:tab pos="756285" algn="l"/>
              </a:tabLst>
            </a:pPr>
            <a:r>
              <a:rPr spc="130" dirty="0"/>
              <a:t>KAZI</a:t>
            </a:r>
            <a:r>
              <a:rPr spc="-250" dirty="0"/>
              <a:t> </a:t>
            </a:r>
            <a:r>
              <a:rPr sz="1450" b="0" spc="705" dirty="0">
                <a:latin typeface="Segoe UI Symbol"/>
                <a:cs typeface="Segoe UI Symbol"/>
              </a:rPr>
              <a:t>⚡</a:t>
            </a:r>
            <a:r>
              <a:rPr sz="1450" b="0" dirty="0">
                <a:latin typeface="Segoe UI Symbol"/>
                <a:cs typeface="Segoe UI Symbol"/>
              </a:rPr>
              <a:t>	</a:t>
            </a:r>
            <a:r>
              <a:rPr dirty="0"/>
              <a:t>•</a:t>
            </a:r>
            <a:r>
              <a:rPr spc="440" dirty="0"/>
              <a:t> </a:t>
            </a:r>
            <a:r>
              <a:rPr spc="120" dirty="0"/>
              <a:t>2026</a:t>
            </a:r>
            <a:endParaRPr sz="1450">
              <a:latin typeface="Segoe UI Symbol"/>
              <a:cs typeface="Segoe UI Symbol"/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50" b="1" i="0">
                <a:solidFill>
                  <a:srgbClr val="696975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pc="165" dirty="0"/>
              <a:t>0</a:t>
            </a:r>
            <a:fld id="{81D60167-4931-47E6-BA6A-407CBD079E47}" type="slidenum">
              <a:rPr spc="165" dirty="0"/>
              <a:t>‹#›</a:t>
            </a:fld>
            <a:r>
              <a:rPr spc="204" dirty="0"/>
              <a:t> </a:t>
            </a:r>
            <a:r>
              <a:rPr dirty="0"/>
              <a:t>/</a:t>
            </a:r>
            <a:r>
              <a:rPr spc="210" dirty="0"/>
              <a:t> </a:t>
            </a:r>
            <a:r>
              <a:rPr spc="-65" dirty="0"/>
              <a:t>12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6F6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54100" y="958719"/>
            <a:ext cx="14029690" cy="15944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100" b="1" i="0">
                <a:solidFill>
                  <a:srgbClr val="1A1A2E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19175" y="3324225"/>
            <a:ext cx="16135350" cy="49974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054100" y="9735528"/>
            <a:ext cx="1407795" cy="236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50" b="1" i="0">
                <a:solidFill>
                  <a:srgbClr val="696975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ts val="1655"/>
              </a:lnSpc>
              <a:tabLst>
                <a:tab pos="756285" algn="l"/>
              </a:tabLst>
            </a:pPr>
            <a:r>
              <a:rPr spc="130" dirty="0"/>
              <a:t>KAZI</a:t>
            </a:r>
            <a:r>
              <a:rPr spc="-250" dirty="0"/>
              <a:t> </a:t>
            </a:r>
            <a:r>
              <a:rPr sz="1450" b="0" spc="705" dirty="0">
                <a:latin typeface="Segoe UI Symbol"/>
                <a:cs typeface="Segoe UI Symbol"/>
              </a:rPr>
              <a:t>⚡</a:t>
            </a:r>
            <a:r>
              <a:rPr sz="1450" b="0" dirty="0">
                <a:latin typeface="Segoe UI Symbol"/>
                <a:cs typeface="Segoe UI Symbol"/>
              </a:rPr>
              <a:t>	</a:t>
            </a:r>
            <a:r>
              <a:rPr dirty="0"/>
              <a:t>•</a:t>
            </a:r>
            <a:r>
              <a:rPr spc="440" dirty="0"/>
              <a:t> </a:t>
            </a:r>
            <a:r>
              <a:rPr spc="120" dirty="0"/>
              <a:t>2026</a:t>
            </a:r>
            <a:endParaRPr sz="1450">
              <a:latin typeface="Segoe UI Symbol"/>
              <a:cs typeface="Segoe UI Symbol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532510" y="9735528"/>
            <a:ext cx="631825" cy="236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50" b="1" i="0">
                <a:solidFill>
                  <a:srgbClr val="696975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pc="165" dirty="0"/>
              <a:t>0</a:t>
            </a:r>
            <a:fld id="{81D60167-4931-47E6-BA6A-407CBD079E47}" type="slidenum">
              <a:rPr spc="165" dirty="0"/>
              <a:t>‹#›</a:t>
            </a:fld>
            <a:r>
              <a:rPr spc="204" dirty="0"/>
              <a:t> </a:t>
            </a:r>
            <a:r>
              <a:rPr dirty="0"/>
              <a:t>/</a:t>
            </a:r>
            <a:r>
              <a:rPr spc="210" dirty="0"/>
              <a:t> </a:t>
            </a:r>
            <a:r>
              <a:rPr spc="-65" dirty="0"/>
              <a:t>12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001000" y="0"/>
            <a:ext cx="10287000" cy="10287000"/>
            <a:chOff x="8001000" y="0"/>
            <a:chExt cx="1028700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953500" y="0"/>
              <a:ext cx="9334499" cy="102869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01000" y="0"/>
              <a:ext cx="3619499" cy="10286999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1054100" y="1092200"/>
            <a:ext cx="493776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1A1A2E"/>
                </a:solidFill>
                <a:latin typeface="Trebuchet MS"/>
                <a:cs typeface="Trebuchet MS"/>
              </a:rPr>
              <a:t>R</a:t>
            </a:r>
            <a:r>
              <a:rPr sz="1500" b="1" spc="-215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500" b="1" spc="185" dirty="0">
                <a:solidFill>
                  <a:srgbClr val="1A1A2E"/>
                </a:solidFill>
                <a:latin typeface="Trebuchet MS"/>
                <a:cs typeface="Trebuchet MS"/>
              </a:rPr>
              <a:t>W</a:t>
            </a:r>
            <a:r>
              <a:rPr sz="1500" b="1" spc="-215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500" b="1" spc="95" dirty="0">
                <a:solidFill>
                  <a:srgbClr val="1A1A2E"/>
                </a:solidFill>
                <a:latin typeface="Trebuchet MS"/>
                <a:cs typeface="Trebuchet MS"/>
              </a:rPr>
              <a:t>A</a:t>
            </a:r>
            <a:r>
              <a:rPr sz="1500" b="1" spc="-215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500" b="1" spc="80" dirty="0">
                <a:solidFill>
                  <a:srgbClr val="1A1A2E"/>
                </a:solidFill>
                <a:latin typeface="Trebuchet MS"/>
                <a:cs typeface="Trebuchet MS"/>
              </a:rPr>
              <a:t>N</a:t>
            </a:r>
            <a:r>
              <a:rPr sz="1500" b="1" spc="-215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500" b="1" spc="95" dirty="0">
                <a:solidFill>
                  <a:srgbClr val="1A1A2E"/>
                </a:solidFill>
                <a:latin typeface="Trebuchet MS"/>
                <a:cs typeface="Trebuchet MS"/>
              </a:rPr>
              <a:t>D</a:t>
            </a:r>
            <a:r>
              <a:rPr sz="1500" b="1" spc="-215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500" b="1" spc="95" dirty="0">
                <a:solidFill>
                  <a:srgbClr val="1A1A2E"/>
                </a:solidFill>
                <a:latin typeface="Trebuchet MS"/>
                <a:cs typeface="Trebuchet MS"/>
              </a:rPr>
              <a:t>A</a:t>
            </a:r>
            <a:r>
              <a:rPr sz="1500" b="1" spc="170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500" b="1" dirty="0">
                <a:solidFill>
                  <a:srgbClr val="1A1A2E"/>
                </a:solidFill>
                <a:latin typeface="Trebuchet MS"/>
                <a:cs typeface="Trebuchet MS"/>
              </a:rPr>
              <a:t>•</a:t>
            </a:r>
            <a:r>
              <a:rPr sz="1500" b="1" spc="355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500" b="1" spc="210" dirty="0">
                <a:solidFill>
                  <a:srgbClr val="1A1A2E"/>
                </a:solidFill>
                <a:latin typeface="Trebuchet MS"/>
                <a:cs typeface="Trebuchet MS"/>
              </a:rPr>
              <a:t>M</a:t>
            </a:r>
            <a:r>
              <a:rPr sz="1500" b="1" spc="-215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500" b="1" spc="-25" dirty="0">
                <a:solidFill>
                  <a:srgbClr val="1A1A2E"/>
                </a:solidFill>
                <a:latin typeface="Trebuchet MS"/>
                <a:cs typeface="Trebuchet MS"/>
              </a:rPr>
              <a:t>I</a:t>
            </a:r>
            <a:r>
              <a:rPr sz="1500" b="1" spc="-215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500" b="1" spc="190" dirty="0">
                <a:solidFill>
                  <a:srgbClr val="1A1A2E"/>
                </a:solidFill>
                <a:latin typeface="Trebuchet MS"/>
                <a:cs typeface="Trebuchet MS"/>
              </a:rPr>
              <a:t>C</a:t>
            </a:r>
            <a:r>
              <a:rPr sz="1500" b="1" spc="-215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500" b="1" dirty="0">
                <a:solidFill>
                  <a:srgbClr val="1A1A2E"/>
                </a:solidFill>
                <a:latin typeface="Trebuchet MS"/>
                <a:cs typeface="Trebuchet MS"/>
              </a:rPr>
              <a:t>R</a:t>
            </a:r>
            <a:r>
              <a:rPr sz="1500" b="1" spc="-215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500" b="1" spc="135" dirty="0">
                <a:solidFill>
                  <a:srgbClr val="1A1A2E"/>
                </a:solidFill>
                <a:latin typeface="Trebuchet MS"/>
                <a:cs typeface="Trebuchet MS"/>
              </a:rPr>
              <a:t>O</a:t>
            </a:r>
            <a:r>
              <a:rPr sz="1500" b="1" spc="-215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500" b="1" spc="235" dirty="0">
                <a:solidFill>
                  <a:srgbClr val="1A1A2E"/>
                </a:solidFill>
                <a:latin typeface="Trebuchet MS"/>
                <a:cs typeface="Trebuchet MS"/>
              </a:rPr>
              <a:t>-</a:t>
            </a:r>
            <a:r>
              <a:rPr sz="1500" b="1" spc="-215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500" b="1" dirty="0">
                <a:solidFill>
                  <a:srgbClr val="1A1A2E"/>
                </a:solidFill>
                <a:latin typeface="Trebuchet MS"/>
                <a:cs typeface="Trebuchet MS"/>
              </a:rPr>
              <a:t>E</a:t>
            </a:r>
            <a:r>
              <a:rPr sz="1500" b="1" spc="-215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500" b="1" spc="95" dirty="0">
                <a:solidFill>
                  <a:srgbClr val="1A1A2E"/>
                </a:solidFill>
                <a:latin typeface="Trebuchet MS"/>
                <a:cs typeface="Trebuchet MS"/>
              </a:rPr>
              <a:t>A</a:t>
            </a:r>
            <a:r>
              <a:rPr sz="1500" b="1" spc="-215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500" b="1" dirty="0">
                <a:solidFill>
                  <a:srgbClr val="1A1A2E"/>
                </a:solidFill>
                <a:latin typeface="Trebuchet MS"/>
                <a:cs typeface="Trebuchet MS"/>
              </a:rPr>
              <a:t>R</a:t>
            </a:r>
            <a:r>
              <a:rPr sz="1500" b="1" spc="-215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500" b="1" spc="80" dirty="0">
                <a:solidFill>
                  <a:srgbClr val="1A1A2E"/>
                </a:solidFill>
                <a:latin typeface="Trebuchet MS"/>
                <a:cs typeface="Trebuchet MS"/>
              </a:rPr>
              <a:t>N</a:t>
            </a:r>
            <a:r>
              <a:rPr sz="1500" b="1" spc="-215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500" b="1" spc="-25" dirty="0">
                <a:solidFill>
                  <a:srgbClr val="1A1A2E"/>
                </a:solidFill>
                <a:latin typeface="Trebuchet MS"/>
                <a:cs typeface="Trebuchet MS"/>
              </a:rPr>
              <a:t>I</a:t>
            </a:r>
            <a:r>
              <a:rPr sz="1500" b="1" spc="-215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500" b="1" spc="80" dirty="0">
                <a:solidFill>
                  <a:srgbClr val="1A1A2E"/>
                </a:solidFill>
                <a:latin typeface="Trebuchet MS"/>
                <a:cs typeface="Trebuchet MS"/>
              </a:rPr>
              <a:t>N</a:t>
            </a:r>
            <a:r>
              <a:rPr sz="1500" b="1" spc="-215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500" b="1" spc="140" dirty="0">
                <a:solidFill>
                  <a:srgbClr val="1A1A2E"/>
                </a:solidFill>
                <a:latin typeface="Trebuchet MS"/>
                <a:cs typeface="Trebuchet MS"/>
              </a:rPr>
              <a:t>G</a:t>
            </a:r>
            <a:r>
              <a:rPr sz="1500" b="1" spc="-215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500" b="1" spc="125" dirty="0">
                <a:solidFill>
                  <a:srgbClr val="1A1A2E"/>
                </a:solidFill>
                <a:latin typeface="Trebuchet MS"/>
                <a:cs typeface="Trebuchet MS"/>
              </a:rPr>
              <a:t>S</a:t>
            </a:r>
            <a:r>
              <a:rPr sz="1500" b="1" spc="355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500" b="1" dirty="0">
                <a:solidFill>
                  <a:srgbClr val="1A1A2E"/>
                </a:solidFill>
                <a:latin typeface="Trebuchet MS"/>
                <a:cs typeface="Trebuchet MS"/>
              </a:rPr>
              <a:t>•</a:t>
            </a:r>
            <a:r>
              <a:rPr sz="1500" b="1" spc="355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500" b="1" dirty="0">
                <a:solidFill>
                  <a:srgbClr val="1A1A2E"/>
                </a:solidFill>
                <a:latin typeface="Trebuchet MS"/>
                <a:cs typeface="Trebuchet MS"/>
              </a:rPr>
              <a:t>L</a:t>
            </a:r>
            <a:r>
              <a:rPr sz="1500" b="1" spc="-215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500" b="1" spc="-25" dirty="0">
                <a:solidFill>
                  <a:srgbClr val="1A1A2E"/>
                </a:solidFill>
                <a:latin typeface="Trebuchet MS"/>
                <a:cs typeface="Trebuchet MS"/>
              </a:rPr>
              <a:t>I</a:t>
            </a:r>
            <a:r>
              <a:rPr sz="1500" b="1" spc="-215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500" b="1" spc="140" dirty="0">
                <a:solidFill>
                  <a:srgbClr val="1A1A2E"/>
                </a:solidFill>
                <a:latin typeface="Trebuchet MS"/>
                <a:cs typeface="Trebuchet MS"/>
              </a:rPr>
              <a:t>G</a:t>
            </a:r>
            <a:r>
              <a:rPr sz="1500" b="1" spc="-215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500" b="1" dirty="0">
                <a:solidFill>
                  <a:srgbClr val="1A1A2E"/>
                </a:solidFill>
                <a:latin typeface="Trebuchet MS"/>
                <a:cs typeface="Trebuchet MS"/>
              </a:rPr>
              <a:t>H</a:t>
            </a:r>
            <a:r>
              <a:rPr sz="1500" b="1" spc="-215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500" b="1" spc="-35" dirty="0">
                <a:solidFill>
                  <a:srgbClr val="1A1A2E"/>
                </a:solidFill>
                <a:latin typeface="Trebuchet MS"/>
                <a:cs typeface="Trebuchet MS"/>
              </a:rPr>
              <a:t>T</a:t>
            </a:r>
            <a:r>
              <a:rPr sz="1500" b="1" spc="-215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500" b="1" spc="80" dirty="0">
                <a:solidFill>
                  <a:srgbClr val="1A1A2E"/>
                </a:solidFill>
                <a:latin typeface="Trebuchet MS"/>
                <a:cs typeface="Trebuchet MS"/>
              </a:rPr>
              <a:t>N</a:t>
            </a:r>
            <a:r>
              <a:rPr sz="1500" b="1" spc="-215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500" b="1" spc="-25" dirty="0">
                <a:solidFill>
                  <a:srgbClr val="1A1A2E"/>
                </a:solidFill>
                <a:latin typeface="Trebuchet MS"/>
                <a:cs typeface="Trebuchet MS"/>
              </a:rPr>
              <a:t>I</a:t>
            </a:r>
            <a:r>
              <a:rPr sz="1500" b="1" spc="-215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500" b="1" spc="80" dirty="0">
                <a:solidFill>
                  <a:srgbClr val="1A1A2E"/>
                </a:solidFill>
                <a:latin typeface="Trebuchet MS"/>
                <a:cs typeface="Trebuchet MS"/>
              </a:rPr>
              <a:t>N</a:t>
            </a:r>
            <a:r>
              <a:rPr sz="1500" b="1" spc="-215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500" b="1" spc="90" dirty="0">
                <a:solidFill>
                  <a:srgbClr val="1A1A2E"/>
                </a:solidFill>
                <a:latin typeface="Trebuchet MS"/>
                <a:cs typeface="Trebuchet MS"/>
              </a:rPr>
              <a:t>G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66800" y="6057899"/>
            <a:ext cx="876935" cy="66675"/>
          </a:xfrm>
          <a:custGeom>
            <a:avLst/>
            <a:gdLst/>
            <a:ahLst/>
            <a:cxnLst/>
            <a:rect l="l" t="t" r="r" b="b"/>
            <a:pathLst>
              <a:path w="876935" h="66675">
                <a:moveTo>
                  <a:pt x="876411" y="66675"/>
                </a:moveTo>
                <a:lnTo>
                  <a:pt x="0" y="66675"/>
                </a:lnTo>
                <a:lnTo>
                  <a:pt x="0" y="0"/>
                </a:lnTo>
                <a:lnTo>
                  <a:pt x="876411" y="0"/>
                </a:lnTo>
                <a:lnTo>
                  <a:pt x="876411" y="66675"/>
                </a:lnTo>
                <a:close/>
              </a:path>
            </a:pathLst>
          </a:custGeom>
          <a:solidFill>
            <a:srgbClr val="F6931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1054100" y="2270769"/>
            <a:ext cx="6075680" cy="238950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ts val="15294"/>
              </a:lnSpc>
              <a:spcBef>
                <a:spcPts val="120"/>
              </a:spcBef>
            </a:pPr>
            <a:r>
              <a:rPr sz="11250" spc="1320" dirty="0">
                <a:solidFill>
                  <a:srgbClr val="F6931A"/>
                </a:solidFill>
              </a:rPr>
              <a:t>Ka</a:t>
            </a:r>
            <a:r>
              <a:rPr lang="en-US" sz="11250" spc="1320" dirty="0">
                <a:solidFill>
                  <a:srgbClr val="F6931A"/>
                </a:solidFill>
              </a:rPr>
              <a:t>z</a:t>
            </a:r>
            <a:r>
              <a:rPr sz="11250" spc="1320" dirty="0">
                <a:solidFill>
                  <a:srgbClr val="F6931A"/>
                </a:solidFill>
              </a:rPr>
              <a:t>i</a:t>
            </a:r>
            <a:r>
              <a:rPr sz="12900" b="0" spc="1320" dirty="0">
                <a:solidFill>
                  <a:srgbClr val="F6931A"/>
                </a:solidFill>
                <a:latin typeface="Segoe UI Symbol"/>
                <a:cs typeface="Segoe UI Symbol"/>
              </a:rPr>
              <a:t>⚡</a:t>
            </a:r>
            <a:endParaRPr sz="12900" dirty="0">
              <a:latin typeface="Segoe UI Symbol"/>
              <a:cs typeface="Segoe UI Symbol"/>
            </a:endParaRPr>
          </a:p>
          <a:p>
            <a:pPr marL="12700">
              <a:lnSpc>
                <a:spcPts val="3295"/>
              </a:lnSpc>
            </a:pPr>
            <a:r>
              <a:rPr sz="2900" spc="200" dirty="0">
                <a:latin typeface="Trebuchet MS"/>
                <a:cs typeface="Trebuchet MS"/>
              </a:rPr>
              <a:t>A</a:t>
            </a:r>
            <a:r>
              <a:rPr sz="2900" spc="-170" dirty="0">
                <a:latin typeface="Trebuchet MS"/>
                <a:cs typeface="Trebuchet MS"/>
              </a:rPr>
              <a:t> </a:t>
            </a:r>
            <a:r>
              <a:rPr sz="2900" spc="90" dirty="0">
                <a:latin typeface="Trebuchet MS"/>
                <a:cs typeface="Trebuchet MS"/>
              </a:rPr>
              <a:t>smarter</a:t>
            </a:r>
            <a:r>
              <a:rPr sz="2900" spc="-170" dirty="0">
                <a:latin typeface="Trebuchet MS"/>
                <a:cs typeface="Trebuchet MS"/>
              </a:rPr>
              <a:t> </a:t>
            </a:r>
            <a:r>
              <a:rPr sz="2900" spc="155" dirty="0">
                <a:latin typeface="Trebuchet MS"/>
                <a:cs typeface="Trebuchet MS"/>
              </a:rPr>
              <a:t>micro-</a:t>
            </a:r>
            <a:r>
              <a:rPr sz="2900" spc="75" dirty="0">
                <a:latin typeface="Trebuchet MS"/>
                <a:cs typeface="Trebuchet MS"/>
              </a:rPr>
              <a:t>earnings</a:t>
            </a:r>
            <a:r>
              <a:rPr sz="2900" spc="-170" dirty="0">
                <a:latin typeface="Trebuchet MS"/>
                <a:cs typeface="Trebuchet MS"/>
              </a:rPr>
              <a:t> </a:t>
            </a:r>
            <a:r>
              <a:rPr sz="2900" spc="45" dirty="0">
                <a:latin typeface="Trebuchet MS"/>
                <a:cs typeface="Trebuchet MS"/>
              </a:rPr>
              <a:t>project</a:t>
            </a:r>
            <a:endParaRPr sz="2900" dirty="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54100" y="6755288"/>
            <a:ext cx="5233670" cy="996950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sz="1650" dirty="0">
                <a:solidFill>
                  <a:srgbClr val="1A1A2E"/>
                </a:solidFill>
                <a:latin typeface="Trebuchet MS"/>
                <a:cs typeface="Trebuchet MS"/>
              </a:rPr>
              <a:t>Presented</a:t>
            </a:r>
            <a:r>
              <a:rPr sz="1650" spc="320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650" spc="75" dirty="0">
                <a:solidFill>
                  <a:srgbClr val="1A1A2E"/>
                </a:solidFill>
                <a:latin typeface="Trebuchet MS"/>
                <a:cs typeface="Trebuchet MS"/>
              </a:rPr>
              <a:t>by</a:t>
            </a:r>
            <a:endParaRPr sz="1650">
              <a:latin typeface="Trebuchet MS"/>
              <a:cs typeface="Trebuchet MS"/>
            </a:endParaRPr>
          </a:p>
          <a:p>
            <a:pPr marL="12700" marR="5080">
              <a:lnSpc>
                <a:spcPct val="128800"/>
              </a:lnSpc>
            </a:pPr>
            <a:r>
              <a:rPr sz="1650" spc="55" dirty="0">
                <a:solidFill>
                  <a:srgbClr val="1A1A2E"/>
                </a:solidFill>
                <a:latin typeface="Trebuchet MS"/>
                <a:cs typeface="Trebuchet MS"/>
              </a:rPr>
              <a:t>Dushime</a:t>
            </a:r>
            <a:r>
              <a:rPr sz="1650" spc="-45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650" dirty="0">
                <a:solidFill>
                  <a:srgbClr val="1A1A2E"/>
                </a:solidFill>
                <a:latin typeface="Trebuchet MS"/>
                <a:cs typeface="Trebuchet MS"/>
              </a:rPr>
              <a:t>Aline</a:t>
            </a:r>
            <a:r>
              <a:rPr sz="1650" spc="-45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650" spc="50" dirty="0">
                <a:solidFill>
                  <a:srgbClr val="1A1A2E"/>
                </a:solidFill>
                <a:latin typeface="Trebuchet MS"/>
                <a:cs typeface="Trebuchet MS"/>
              </a:rPr>
              <a:t>Denise</a:t>
            </a:r>
            <a:r>
              <a:rPr sz="1650" spc="415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650" spc="-280" dirty="0">
                <a:solidFill>
                  <a:srgbClr val="1A1A2E"/>
                </a:solidFill>
                <a:latin typeface="Trebuchet MS"/>
                <a:cs typeface="Trebuchet MS"/>
              </a:rPr>
              <a:t>•</a:t>
            </a:r>
            <a:r>
              <a:rPr sz="1650" spc="409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650" dirty="0">
                <a:solidFill>
                  <a:srgbClr val="1A1A2E"/>
                </a:solidFill>
                <a:latin typeface="Trebuchet MS"/>
                <a:cs typeface="Trebuchet MS"/>
              </a:rPr>
              <a:t>Izabayo</a:t>
            </a:r>
            <a:r>
              <a:rPr sz="1650" spc="-40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650" dirty="0">
                <a:solidFill>
                  <a:srgbClr val="1A1A2E"/>
                </a:solidFill>
                <a:latin typeface="Trebuchet MS"/>
                <a:cs typeface="Trebuchet MS"/>
              </a:rPr>
              <a:t>Eloi</a:t>
            </a:r>
            <a:r>
              <a:rPr sz="1650" spc="409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650" spc="-280" dirty="0">
                <a:solidFill>
                  <a:srgbClr val="1A1A2E"/>
                </a:solidFill>
                <a:latin typeface="Trebuchet MS"/>
                <a:cs typeface="Trebuchet MS"/>
              </a:rPr>
              <a:t>•</a:t>
            </a:r>
            <a:r>
              <a:rPr sz="1650" spc="415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650" spc="50" dirty="0">
                <a:solidFill>
                  <a:srgbClr val="1A1A2E"/>
                </a:solidFill>
                <a:latin typeface="Trebuchet MS"/>
                <a:cs typeface="Trebuchet MS"/>
              </a:rPr>
              <a:t>Kabuye</a:t>
            </a:r>
            <a:r>
              <a:rPr sz="1650" spc="-45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650" spc="-10" dirty="0">
                <a:solidFill>
                  <a:srgbClr val="1A1A2E"/>
                </a:solidFill>
                <a:latin typeface="Trebuchet MS"/>
                <a:cs typeface="Trebuchet MS"/>
              </a:rPr>
              <a:t>Prince </a:t>
            </a:r>
            <a:r>
              <a:rPr sz="1650" dirty="0">
                <a:solidFill>
                  <a:srgbClr val="1A1A2E"/>
                </a:solidFill>
                <a:latin typeface="Trebuchet MS"/>
                <a:cs typeface="Trebuchet MS"/>
              </a:rPr>
              <a:t>Manzi</a:t>
            </a:r>
            <a:r>
              <a:rPr sz="1650" spc="-25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650" dirty="0">
                <a:solidFill>
                  <a:srgbClr val="1A1A2E"/>
                </a:solidFill>
                <a:latin typeface="Trebuchet MS"/>
                <a:cs typeface="Trebuchet MS"/>
              </a:rPr>
              <a:t>Alpe</a:t>
            </a:r>
            <a:r>
              <a:rPr sz="1650" spc="450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650" spc="-280" dirty="0">
                <a:solidFill>
                  <a:srgbClr val="1A1A2E"/>
                </a:solidFill>
                <a:latin typeface="Trebuchet MS"/>
                <a:cs typeface="Trebuchet MS"/>
              </a:rPr>
              <a:t>•</a:t>
            </a:r>
            <a:r>
              <a:rPr sz="1650" spc="455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650" spc="110" dirty="0">
                <a:solidFill>
                  <a:srgbClr val="1A1A2E"/>
                </a:solidFill>
                <a:latin typeface="Trebuchet MS"/>
                <a:cs typeface="Trebuchet MS"/>
              </a:rPr>
              <a:t>Mucyo</a:t>
            </a:r>
            <a:r>
              <a:rPr sz="1650" spc="-25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650" dirty="0">
                <a:solidFill>
                  <a:srgbClr val="1A1A2E"/>
                </a:solidFill>
                <a:latin typeface="Trebuchet MS"/>
                <a:cs typeface="Trebuchet MS"/>
              </a:rPr>
              <a:t>Herve</a:t>
            </a:r>
            <a:r>
              <a:rPr sz="1650" spc="455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650" spc="-280" dirty="0">
                <a:solidFill>
                  <a:srgbClr val="1A1A2E"/>
                </a:solidFill>
                <a:latin typeface="Trebuchet MS"/>
                <a:cs typeface="Trebuchet MS"/>
              </a:rPr>
              <a:t>•</a:t>
            </a:r>
            <a:r>
              <a:rPr sz="1650" spc="455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650" spc="-10" dirty="0">
                <a:solidFill>
                  <a:srgbClr val="1A1A2E"/>
                </a:solidFill>
                <a:latin typeface="Trebuchet MS"/>
                <a:cs typeface="Trebuchet MS"/>
              </a:rPr>
              <a:t>Pierre</a:t>
            </a:r>
            <a:r>
              <a:rPr sz="1650" spc="-25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650" spc="-10" dirty="0">
                <a:solidFill>
                  <a:srgbClr val="1A1A2E"/>
                </a:solidFill>
                <a:latin typeface="Trebuchet MS"/>
                <a:cs typeface="Trebuchet MS"/>
              </a:rPr>
              <a:t>Bahati</a:t>
            </a:r>
            <a:endParaRPr sz="16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54100" y="654050"/>
            <a:ext cx="162179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35" dirty="0">
                <a:solidFill>
                  <a:srgbClr val="1A1A2E"/>
                </a:solidFill>
                <a:latin typeface="Trebuchet MS"/>
                <a:cs typeface="Trebuchet MS"/>
              </a:rPr>
              <a:t>T</a:t>
            </a:r>
            <a:r>
              <a:rPr sz="1500" b="1" spc="-204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500" b="1" dirty="0">
                <a:solidFill>
                  <a:srgbClr val="1A1A2E"/>
                </a:solidFill>
                <a:latin typeface="Trebuchet MS"/>
                <a:cs typeface="Trebuchet MS"/>
              </a:rPr>
              <a:t>H</a:t>
            </a:r>
            <a:r>
              <a:rPr sz="1500" b="1" spc="-204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500" b="1" dirty="0">
                <a:solidFill>
                  <a:srgbClr val="1A1A2E"/>
                </a:solidFill>
                <a:latin typeface="Trebuchet MS"/>
                <a:cs typeface="Trebuchet MS"/>
              </a:rPr>
              <a:t>E</a:t>
            </a:r>
            <a:r>
              <a:rPr sz="1500" b="1" spc="420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500" b="1" dirty="0">
                <a:solidFill>
                  <a:srgbClr val="1A1A2E"/>
                </a:solidFill>
                <a:latin typeface="Trebuchet MS"/>
                <a:cs typeface="Trebuchet MS"/>
              </a:rPr>
              <a:t>P</a:t>
            </a:r>
            <a:r>
              <a:rPr sz="1500" b="1" spc="-204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500" b="1" dirty="0">
                <a:solidFill>
                  <a:srgbClr val="1A1A2E"/>
                </a:solidFill>
                <a:latin typeface="Trebuchet MS"/>
                <a:cs typeface="Trebuchet MS"/>
              </a:rPr>
              <a:t>R</a:t>
            </a:r>
            <a:r>
              <a:rPr sz="1500" b="1" spc="-200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500" b="1" spc="135" dirty="0">
                <a:solidFill>
                  <a:srgbClr val="1A1A2E"/>
                </a:solidFill>
                <a:latin typeface="Trebuchet MS"/>
                <a:cs typeface="Trebuchet MS"/>
              </a:rPr>
              <a:t>O</a:t>
            </a:r>
            <a:r>
              <a:rPr sz="1500" b="1" spc="-204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500" b="1" spc="50" dirty="0">
                <a:solidFill>
                  <a:srgbClr val="1A1A2E"/>
                </a:solidFill>
                <a:latin typeface="Trebuchet MS"/>
                <a:cs typeface="Trebuchet MS"/>
              </a:rPr>
              <a:t>B</a:t>
            </a:r>
            <a:r>
              <a:rPr sz="1500" b="1" spc="-204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500" b="1" dirty="0">
                <a:solidFill>
                  <a:srgbClr val="1A1A2E"/>
                </a:solidFill>
                <a:latin typeface="Trebuchet MS"/>
                <a:cs typeface="Trebuchet MS"/>
              </a:rPr>
              <a:t>L</a:t>
            </a:r>
            <a:r>
              <a:rPr sz="1500" b="1" spc="-204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500" b="1" dirty="0">
                <a:solidFill>
                  <a:srgbClr val="1A1A2E"/>
                </a:solidFill>
                <a:latin typeface="Trebuchet MS"/>
                <a:cs typeface="Trebuchet MS"/>
              </a:rPr>
              <a:t>E</a:t>
            </a:r>
            <a:r>
              <a:rPr sz="1500" b="1" spc="-200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500" b="1" spc="160" dirty="0">
                <a:solidFill>
                  <a:srgbClr val="1A1A2E"/>
                </a:solidFill>
                <a:latin typeface="Trebuchet MS"/>
                <a:cs typeface="Trebuchet MS"/>
              </a:rPr>
              <a:t>M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054100" y="1054861"/>
            <a:ext cx="9634855" cy="1497965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12700" marR="5080">
              <a:lnSpc>
                <a:spcPts val="5480"/>
              </a:lnSpc>
              <a:spcBef>
                <a:spcPts val="815"/>
              </a:spcBef>
            </a:pPr>
            <a:r>
              <a:rPr dirty="0"/>
              <a:t>Youth</a:t>
            </a:r>
            <a:r>
              <a:rPr spc="-30" dirty="0"/>
              <a:t> </a:t>
            </a:r>
            <a:r>
              <a:rPr dirty="0"/>
              <a:t>unemployment</a:t>
            </a:r>
            <a:r>
              <a:rPr spc="-30" dirty="0"/>
              <a:t> </a:t>
            </a:r>
            <a:r>
              <a:rPr dirty="0"/>
              <a:t>is</a:t>
            </a:r>
            <a:r>
              <a:rPr spc="-25" dirty="0"/>
              <a:t> </a:t>
            </a:r>
            <a:r>
              <a:rPr spc="-10" dirty="0"/>
              <a:t>slowing </a:t>
            </a:r>
            <a:r>
              <a:rPr dirty="0"/>
              <a:t>Rwanda</a:t>
            </a:r>
            <a:r>
              <a:rPr spc="-100" dirty="0"/>
              <a:t> </a:t>
            </a:r>
            <a:r>
              <a:rPr spc="-10" dirty="0"/>
              <a:t>down.</a:t>
            </a:r>
          </a:p>
        </p:txBody>
      </p:sp>
      <p:sp>
        <p:nvSpPr>
          <p:cNvPr id="4" name="object 4"/>
          <p:cNvSpPr/>
          <p:nvPr/>
        </p:nvSpPr>
        <p:spPr>
          <a:xfrm>
            <a:off x="1066800" y="9582150"/>
            <a:ext cx="16154400" cy="0"/>
          </a:xfrm>
          <a:custGeom>
            <a:avLst/>
            <a:gdLst/>
            <a:ahLst/>
            <a:cxnLst/>
            <a:rect l="l" t="t" r="r" b="b"/>
            <a:pathLst>
              <a:path w="16154400">
                <a:moveTo>
                  <a:pt x="0" y="0"/>
                </a:moveTo>
                <a:lnTo>
                  <a:pt x="16154398" y="0"/>
                </a:lnTo>
              </a:path>
            </a:pathLst>
          </a:custGeom>
          <a:ln w="9524">
            <a:solidFill>
              <a:srgbClr val="D9D9D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382500" y="1428750"/>
            <a:ext cx="4838699" cy="6476999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1066800" y="3219449"/>
            <a:ext cx="10172700" cy="0"/>
          </a:xfrm>
          <a:custGeom>
            <a:avLst/>
            <a:gdLst/>
            <a:ahLst/>
            <a:cxnLst/>
            <a:rect l="l" t="t" r="r" b="b"/>
            <a:pathLst>
              <a:path w="10172700">
                <a:moveTo>
                  <a:pt x="0" y="0"/>
                </a:moveTo>
                <a:lnTo>
                  <a:pt x="10172699" y="0"/>
                </a:lnTo>
              </a:path>
            </a:pathLst>
          </a:custGeom>
          <a:ln w="9524">
            <a:solidFill>
              <a:srgbClr val="D9D9D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066800" y="4000500"/>
            <a:ext cx="10172700" cy="0"/>
          </a:xfrm>
          <a:custGeom>
            <a:avLst/>
            <a:gdLst/>
            <a:ahLst/>
            <a:cxnLst/>
            <a:rect l="l" t="t" r="r" b="b"/>
            <a:pathLst>
              <a:path w="10172700">
                <a:moveTo>
                  <a:pt x="0" y="0"/>
                </a:moveTo>
                <a:lnTo>
                  <a:pt x="10172699" y="0"/>
                </a:lnTo>
              </a:path>
            </a:pathLst>
          </a:custGeom>
          <a:ln w="9524">
            <a:solidFill>
              <a:srgbClr val="D9D9D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066800" y="4781550"/>
            <a:ext cx="10172700" cy="0"/>
          </a:xfrm>
          <a:custGeom>
            <a:avLst/>
            <a:gdLst/>
            <a:ahLst/>
            <a:cxnLst/>
            <a:rect l="l" t="t" r="r" b="b"/>
            <a:pathLst>
              <a:path w="10172700">
                <a:moveTo>
                  <a:pt x="0" y="0"/>
                </a:moveTo>
                <a:lnTo>
                  <a:pt x="10172699" y="0"/>
                </a:lnTo>
              </a:path>
            </a:pathLst>
          </a:custGeom>
          <a:ln w="9524">
            <a:solidFill>
              <a:srgbClr val="D9D9D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066800" y="5562599"/>
            <a:ext cx="10172700" cy="0"/>
          </a:xfrm>
          <a:custGeom>
            <a:avLst/>
            <a:gdLst/>
            <a:ahLst/>
            <a:cxnLst/>
            <a:rect l="l" t="t" r="r" b="b"/>
            <a:pathLst>
              <a:path w="10172700">
                <a:moveTo>
                  <a:pt x="0" y="0"/>
                </a:moveTo>
                <a:lnTo>
                  <a:pt x="10172699" y="0"/>
                </a:lnTo>
              </a:path>
            </a:pathLst>
          </a:custGeom>
          <a:ln w="9524">
            <a:solidFill>
              <a:srgbClr val="D9D9D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066800" y="6343649"/>
            <a:ext cx="10172700" cy="0"/>
          </a:xfrm>
          <a:custGeom>
            <a:avLst/>
            <a:gdLst/>
            <a:ahLst/>
            <a:cxnLst/>
            <a:rect l="l" t="t" r="r" b="b"/>
            <a:pathLst>
              <a:path w="10172700">
                <a:moveTo>
                  <a:pt x="0" y="0"/>
                </a:moveTo>
                <a:lnTo>
                  <a:pt x="10172699" y="0"/>
                </a:lnTo>
              </a:path>
            </a:pathLst>
          </a:custGeom>
          <a:ln w="9524">
            <a:solidFill>
              <a:srgbClr val="D9D9D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066800" y="7124700"/>
            <a:ext cx="10172700" cy="0"/>
          </a:xfrm>
          <a:custGeom>
            <a:avLst/>
            <a:gdLst/>
            <a:ahLst/>
            <a:cxnLst/>
            <a:rect l="l" t="t" r="r" b="b"/>
            <a:pathLst>
              <a:path w="10172700">
                <a:moveTo>
                  <a:pt x="0" y="0"/>
                </a:moveTo>
                <a:lnTo>
                  <a:pt x="10172699" y="0"/>
                </a:lnTo>
              </a:path>
            </a:pathLst>
          </a:custGeom>
          <a:ln w="9524">
            <a:solidFill>
              <a:srgbClr val="D9D9D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054100" y="3302952"/>
            <a:ext cx="4429760" cy="426212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150" b="1" dirty="0">
                <a:solidFill>
                  <a:srgbClr val="1A1A2E"/>
                </a:solidFill>
                <a:latin typeface="Trebuchet MS"/>
                <a:cs typeface="Trebuchet MS"/>
              </a:rPr>
              <a:t>01</a:t>
            </a:r>
            <a:r>
              <a:rPr sz="2150" b="1" spc="220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2150" b="1" spc="50" dirty="0">
                <a:solidFill>
                  <a:srgbClr val="1A1A2E"/>
                </a:solidFill>
                <a:latin typeface="Trebuchet MS"/>
                <a:cs typeface="Trebuchet MS"/>
              </a:rPr>
              <a:t>Limited</a:t>
            </a:r>
            <a:r>
              <a:rPr sz="2150" b="1" spc="-165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2150" b="1" spc="85" dirty="0">
                <a:solidFill>
                  <a:srgbClr val="1A1A2E"/>
                </a:solidFill>
                <a:latin typeface="Trebuchet MS"/>
                <a:cs typeface="Trebuchet MS"/>
              </a:rPr>
              <a:t>income</a:t>
            </a:r>
            <a:r>
              <a:rPr sz="2150" b="1" spc="-160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2150" b="1" spc="50" dirty="0">
                <a:solidFill>
                  <a:srgbClr val="1A1A2E"/>
                </a:solidFill>
                <a:latin typeface="Trebuchet MS"/>
                <a:cs typeface="Trebuchet MS"/>
              </a:rPr>
              <a:t>opportunities</a:t>
            </a:r>
            <a:endParaRPr sz="2150">
              <a:latin typeface="Trebuchet MS"/>
              <a:cs typeface="Trebuchet MS"/>
            </a:endParaRPr>
          </a:p>
          <a:p>
            <a:pPr marL="12700" marR="615315">
              <a:lnSpc>
                <a:spcPct val="238400"/>
              </a:lnSpc>
            </a:pPr>
            <a:r>
              <a:rPr sz="2150" b="1" spc="125" dirty="0">
                <a:solidFill>
                  <a:srgbClr val="1A1A2E"/>
                </a:solidFill>
                <a:latin typeface="Trebuchet MS"/>
                <a:cs typeface="Trebuchet MS"/>
              </a:rPr>
              <a:t>02</a:t>
            </a:r>
            <a:r>
              <a:rPr sz="2150" b="1" spc="430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2150" b="1" spc="60" dirty="0">
                <a:solidFill>
                  <a:srgbClr val="1A1A2E"/>
                </a:solidFill>
                <a:latin typeface="Trebuchet MS"/>
                <a:cs typeface="Trebuchet MS"/>
              </a:rPr>
              <a:t>Unpredictable</a:t>
            </a:r>
            <a:r>
              <a:rPr sz="2150" b="1" spc="-120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2150" b="1" spc="50" dirty="0">
                <a:solidFill>
                  <a:srgbClr val="1A1A2E"/>
                </a:solidFill>
                <a:latin typeface="Trebuchet MS"/>
                <a:cs typeface="Trebuchet MS"/>
              </a:rPr>
              <a:t>earnings </a:t>
            </a:r>
            <a:r>
              <a:rPr sz="2150" b="1" spc="150" dirty="0">
                <a:solidFill>
                  <a:srgbClr val="1A1A2E"/>
                </a:solidFill>
                <a:latin typeface="Trebuchet MS"/>
                <a:cs typeface="Trebuchet MS"/>
              </a:rPr>
              <a:t>03</a:t>
            </a:r>
            <a:r>
              <a:rPr sz="2150" b="1" spc="520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2150" b="1" dirty="0">
                <a:solidFill>
                  <a:srgbClr val="1A1A2E"/>
                </a:solidFill>
                <a:latin typeface="Trebuchet MS"/>
                <a:cs typeface="Trebuchet MS"/>
              </a:rPr>
              <a:t>Skills</a:t>
            </a:r>
            <a:r>
              <a:rPr sz="2150" b="1" spc="-70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2150" b="1" spc="80" dirty="0">
                <a:solidFill>
                  <a:srgbClr val="1A1A2E"/>
                </a:solidFill>
                <a:latin typeface="Trebuchet MS"/>
                <a:cs typeface="Trebuchet MS"/>
              </a:rPr>
              <a:t>going</a:t>
            </a:r>
            <a:r>
              <a:rPr sz="2150" b="1" spc="-70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2150" b="1" spc="40" dirty="0">
                <a:solidFill>
                  <a:srgbClr val="1A1A2E"/>
                </a:solidFill>
                <a:latin typeface="Trebuchet MS"/>
                <a:cs typeface="Trebuchet MS"/>
              </a:rPr>
              <a:t>unmonetized</a:t>
            </a:r>
            <a:endParaRPr sz="2150">
              <a:latin typeface="Trebuchet MS"/>
              <a:cs typeface="Trebuchet MS"/>
            </a:endParaRPr>
          </a:p>
          <a:p>
            <a:pPr marL="12700" marR="13335">
              <a:lnSpc>
                <a:spcPct val="238400"/>
              </a:lnSpc>
            </a:pPr>
            <a:r>
              <a:rPr sz="2150" spc="275" dirty="0">
                <a:solidFill>
                  <a:srgbClr val="696975"/>
                </a:solidFill>
                <a:latin typeface="Trebuchet MS"/>
                <a:cs typeface="Trebuchet MS"/>
              </a:rPr>
              <a:t>04</a:t>
            </a:r>
            <a:r>
              <a:rPr sz="2150" spc="-55" dirty="0">
                <a:solidFill>
                  <a:srgbClr val="696975"/>
                </a:solidFill>
                <a:latin typeface="Trebuchet MS"/>
                <a:cs typeface="Trebuchet MS"/>
              </a:rPr>
              <a:t>  </a:t>
            </a:r>
            <a:r>
              <a:rPr sz="2150" spc="65" dirty="0">
                <a:solidFill>
                  <a:srgbClr val="696975"/>
                </a:solidFill>
                <a:latin typeface="Trebuchet MS"/>
                <a:cs typeface="Trebuchet MS"/>
              </a:rPr>
              <a:t>Payment</a:t>
            </a:r>
            <a:r>
              <a:rPr sz="2150" spc="-50" dirty="0">
                <a:solidFill>
                  <a:srgbClr val="696975"/>
                </a:solidFill>
                <a:latin typeface="Trebuchet MS"/>
                <a:cs typeface="Trebuchet MS"/>
              </a:rPr>
              <a:t> </a:t>
            </a:r>
            <a:r>
              <a:rPr sz="2150" dirty="0">
                <a:solidFill>
                  <a:srgbClr val="696975"/>
                </a:solidFill>
                <a:latin typeface="Trebuchet MS"/>
                <a:cs typeface="Trebuchet MS"/>
              </a:rPr>
              <a:t>friction</a:t>
            </a:r>
            <a:r>
              <a:rPr sz="2150" spc="-55" dirty="0">
                <a:solidFill>
                  <a:srgbClr val="696975"/>
                </a:solidFill>
                <a:latin typeface="Trebuchet MS"/>
                <a:cs typeface="Trebuchet MS"/>
              </a:rPr>
              <a:t> </a:t>
            </a:r>
            <a:r>
              <a:rPr sz="2150" dirty="0">
                <a:solidFill>
                  <a:srgbClr val="696975"/>
                </a:solidFill>
                <a:latin typeface="Trebuchet MS"/>
                <a:cs typeface="Trebuchet MS"/>
              </a:rPr>
              <a:t>for</a:t>
            </a:r>
            <a:r>
              <a:rPr sz="2150" spc="-55" dirty="0">
                <a:solidFill>
                  <a:srgbClr val="696975"/>
                </a:solidFill>
                <a:latin typeface="Trebuchet MS"/>
                <a:cs typeface="Trebuchet MS"/>
              </a:rPr>
              <a:t> </a:t>
            </a:r>
            <a:r>
              <a:rPr sz="2150" dirty="0">
                <a:solidFill>
                  <a:srgbClr val="696975"/>
                </a:solidFill>
                <a:latin typeface="Trebuchet MS"/>
                <a:cs typeface="Trebuchet MS"/>
              </a:rPr>
              <a:t>small</a:t>
            </a:r>
            <a:r>
              <a:rPr sz="2150" spc="-50" dirty="0">
                <a:solidFill>
                  <a:srgbClr val="696975"/>
                </a:solidFill>
                <a:latin typeface="Trebuchet MS"/>
                <a:cs typeface="Trebuchet MS"/>
              </a:rPr>
              <a:t> </a:t>
            </a:r>
            <a:r>
              <a:rPr sz="2150" spc="35" dirty="0">
                <a:solidFill>
                  <a:srgbClr val="696975"/>
                </a:solidFill>
                <a:latin typeface="Trebuchet MS"/>
                <a:cs typeface="Trebuchet MS"/>
              </a:rPr>
              <a:t>jobs </a:t>
            </a:r>
            <a:r>
              <a:rPr sz="2150" spc="285" dirty="0">
                <a:solidFill>
                  <a:srgbClr val="696975"/>
                </a:solidFill>
                <a:latin typeface="Trebuchet MS"/>
                <a:cs typeface="Trebuchet MS"/>
              </a:rPr>
              <a:t>05</a:t>
            </a:r>
            <a:r>
              <a:rPr sz="2150" spc="-55" dirty="0">
                <a:solidFill>
                  <a:srgbClr val="696975"/>
                </a:solidFill>
                <a:latin typeface="Trebuchet MS"/>
                <a:cs typeface="Trebuchet MS"/>
              </a:rPr>
              <a:t>  </a:t>
            </a:r>
            <a:r>
              <a:rPr sz="2150" dirty="0">
                <a:solidFill>
                  <a:srgbClr val="696975"/>
                </a:solidFill>
                <a:latin typeface="Trebuchet MS"/>
                <a:cs typeface="Trebuchet MS"/>
              </a:rPr>
              <a:t>Financial</a:t>
            </a:r>
            <a:r>
              <a:rPr sz="2150" spc="-55" dirty="0">
                <a:solidFill>
                  <a:srgbClr val="696975"/>
                </a:solidFill>
                <a:latin typeface="Trebuchet MS"/>
                <a:cs typeface="Trebuchet MS"/>
              </a:rPr>
              <a:t> </a:t>
            </a:r>
            <a:r>
              <a:rPr sz="2150" spc="35" dirty="0">
                <a:solidFill>
                  <a:srgbClr val="696975"/>
                </a:solidFill>
                <a:latin typeface="Trebuchet MS"/>
                <a:cs typeface="Trebuchet MS"/>
              </a:rPr>
              <a:t>exclusion</a:t>
            </a:r>
            <a:endParaRPr sz="21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070"/>
              </a:spcBef>
            </a:pPr>
            <a:endParaRPr sz="21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2150" spc="300" dirty="0">
                <a:solidFill>
                  <a:srgbClr val="696975"/>
                </a:solidFill>
                <a:latin typeface="Trebuchet MS"/>
                <a:cs typeface="Trebuchet MS"/>
              </a:rPr>
              <a:t>06</a:t>
            </a:r>
            <a:r>
              <a:rPr sz="2150" spc="-30" dirty="0">
                <a:solidFill>
                  <a:srgbClr val="696975"/>
                </a:solidFill>
                <a:latin typeface="Trebuchet MS"/>
                <a:cs typeface="Trebuchet MS"/>
              </a:rPr>
              <a:t>  </a:t>
            </a:r>
            <a:r>
              <a:rPr sz="2150" spc="70" dirty="0">
                <a:solidFill>
                  <a:srgbClr val="696975"/>
                </a:solidFill>
                <a:latin typeface="Trebuchet MS"/>
                <a:cs typeface="Trebuchet MS"/>
              </a:rPr>
              <a:t>Delayed</a:t>
            </a:r>
            <a:r>
              <a:rPr sz="2150" spc="-35" dirty="0">
                <a:solidFill>
                  <a:srgbClr val="696975"/>
                </a:solidFill>
                <a:latin typeface="Trebuchet MS"/>
                <a:cs typeface="Trebuchet MS"/>
              </a:rPr>
              <a:t> </a:t>
            </a:r>
            <a:r>
              <a:rPr sz="2150" dirty="0">
                <a:solidFill>
                  <a:srgbClr val="696975"/>
                </a:solidFill>
                <a:latin typeface="Trebuchet MS"/>
                <a:cs typeface="Trebuchet MS"/>
              </a:rPr>
              <a:t>freelance</a:t>
            </a:r>
            <a:r>
              <a:rPr sz="2150" spc="-30" dirty="0">
                <a:solidFill>
                  <a:srgbClr val="696975"/>
                </a:solidFill>
                <a:latin typeface="Trebuchet MS"/>
                <a:cs typeface="Trebuchet MS"/>
              </a:rPr>
              <a:t> </a:t>
            </a:r>
            <a:r>
              <a:rPr sz="2150" spc="90" dirty="0">
                <a:solidFill>
                  <a:srgbClr val="696975"/>
                </a:solidFill>
                <a:latin typeface="Trebuchet MS"/>
                <a:cs typeface="Trebuchet MS"/>
              </a:rPr>
              <a:t>payments</a:t>
            </a:r>
            <a:endParaRPr sz="215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5"/>
              </a:lnSpc>
              <a:tabLst>
                <a:tab pos="756285" algn="l"/>
              </a:tabLst>
            </a:pPr>
            <a:r>
              <a:rPr spc="130" dirty="0"/>
              <a:t>KAZI</a:t>
            </a:r>
            <a:r>
              <a:rPr spc="-250" dirty="0"/>
              <a:t> </a:t>
            </a:r>
            <a:r>
              <a:rPr sz="1450" b="0" spc="705" dirty="0">
                <a:latin typeface="Segoe UI Symbol"/>
                <a:cs typeface="Segoe UI Symbol"/>
              </a:rPr>
              <a:t>⚡</a:t>
            </a:r>
            <a:r>
              <a:rPr sz="1450" b="0" dirty="0">
                <a:latin typeface="Segoe UI Symbol"/>
                <a:cs typeface="Segoe UI Symbol"/>
              </a:rPr>
              <a:t>	</a:t>
            </a:r>
            <a:r>
              <a:rPr dirty="0"/>
              <a:t>•</a:t>
            </a:r>
            <a:r>
              <a:rPr spc="440" dirty="0"/>
              <a:t> </a:t>
            </a:r>
            <a:r>
              <a:rPr spc="120" dirty="0"/>
              <a:t>2026</a:t>
            </a:r>
            <a:endParaRPr sz="1450">
              <a:latin typeface="Segoe UI Symbol"/>
              <a:cs typeface="Segoe UI Symbo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532510" y="9735528"/>
            <a:ext cx="623570" cy="2362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250" b="1" spc="135" dirty="0">
                <a:solidFill>
                  <a:srgbClr val="696975"/>
                </a:solidFill>
                <a:latin typeface="Trebuchet MS"/>
                <a:cs typeface="Trebuchet MS"/>
              </a:rPr>
              <a:t>0</a:t>
            </a:r>
            <a:fld id="{81D60167-4931-47E6-BA6A-407CBD079E47}" type="slidenum">
              <a:rPr sz="1250" b="1" spc="135" dirty="0">
                <a:solidFill>
                  <a:srgbClr val="696975"/>
                </a:solidFill>
                <a:latin typeface="Trebuchet MS"/>
                <a:cs typeface="Trebuchet MS"/>
              </a:rPr>
              <a:t>2</a:t>
            </a:fld>
            <a:r>
              <a:rPr sz="1250" b="1" spc="204" dirty="0">
                <a:solidFill>
                  <a:srgbClr val="696975"/>
                </a:solidFill>
                <a:latin typeface="Trebuchet MS"/>
                <a:cs typeface="Trebuchet MS"/>
              </a:rPr>
              <a:t> </a:t>
            </a:r>
            <a:r>
              <a:rPr sz="1250" b="1" dirty="0">
                <a:solidFill>
                  <a:srgbClr val="696975"/>
                </a:solidFill>
                <a:latin typeface="Trebuchet MS"/>
                <a:cs typeface="Trebuchet MS"/>
              </a:rPr>
              <a:t>/</a:t>
            </a:r>
            <a:r>
              <a:rPr sz="1250" b="1" spc="204" dirty="0">
                <a:solidFill>
                  <a:srgbClr val="696975"/>
                </a:solidFill>
                <a:latin typeface="Trebuchet MS"/>
                <a:cs typeface="Trebuchet MS"/>
              </a:rPr>
              <a:t> </a:t>
            </a:r>
            <a:r>
              <a:rPr sz="1250" b="1" spc="-60" dirty="0">
                <a:solidFill>
                  <a:srgbClr val="696975"/>
                </a:solidFill>
                <a:latin typeface="Trebuchet MS"/>
                <a:cs typeface="Trebuchet MS"/>
              </a:rPr>
              <a:t>12</a:t>
            </a:r>
            <a:endParaRPr sz="12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54100" y="654050"/>
            <a:ext cx="253047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1A1A2E"/>
                </a:solidFill>
                <a:latin typeface="Trebuchet MS"/>
                <a:cs typeface="Trebuchet MS"/>
              </a:rPr>
              <a:t>P</a:t>
            </a:r>
            <a:r>
              <a:rPr sz="1500" b="1" spc="-210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500" b="1" dirty="0">
                <a:solidFill>
                  <a:srgbClr val="1A1A2E"/>
                </a:solidFill>
                <a:latin typeface="Trebuchet MS"/>
                <a:cs typeface="Trebuchet MS"/>
              </a:rPr>
              <a:t>U</a:t>
            </a:r>
            <a:r>
              <a:rPr sz="1500" b="1" spc="-204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500" b="1" spc="50" dirty="0">
                <a:solidFill>
                  <a:srgbClr val="1A1A2E"/>
                </a:solidFill>
                <a:latin typeface="Trebuchet MS"/>
                <a:cs typeface="Trebuchet MS"/>
              </a:rPr>
              <a:t>B</a:t>
            </a:r>
            <a:r>
              <a:rPr sz="1500" b="1" spc="-210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500" b="1" dirty="0">
                <a:solidFill>
                  <a:srgbClr val="1A1A2E"/>
                </a:solidFill>
                <a:latin typeface="Trebuchet MS"/>
                <a:cs typeface="Trebuchet MS"/>
              </a:rPr>
              <a:t>L</a:t>
            </a:r>
            <a:r>
              <a:rPr sz="1500" b="1" spc="-204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500" b="1" spc="-25" dirty="0">
                <a:solidFill>
                  <a:srgbClr val="1A1A2E"/>
                </a:solidFill>
                <a:latin typeface="Trebuchet MS"/>
                <a:cs typeface="Trebuchet MS"/>
              </a:rPr>
              <a:t>I</a:t>
            </a:r>
            <a:r>
              <a:rPr sz="1500" b="1" spc="-204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500" b="1" spc="125" dirty="0">
                <a:solidFill>
                  <a:srgbClr val="1A1A2E"/>
                </a:solidFill>
                <a:latin typeface="Trebuchet MS"/>
                <a:cs typeface="Trebuchet MS"/>
              </a:rPr>
              <a:t>S</a:t>
            </a:r>
            <a:r>
              <a:rPr sz="1500" b="1" spc="-210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500" b="1" dirty="0">
                <a:solidFill>
                  <a:srgbClr val="1A1A2E"/>
                </a:solidFill>
                <a:latin typeface="Trebuchet MS"/>
                <a:cs typeface="Trebuchet MS"/>
              </a:rPr>
              <a:t>H</a:t>
            </a:r>
            <a:r>
              <a:rPr sz="1500" b="1" spc="-204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500" b="1" dirty="0">
                <a:solidFill>
                  <a:srgbClr val="1A1A2E"/>
                </a:solidFill>
                <a:latin typeface="Trebuchet MS"/>
                <a:cs typeface="Trebuchet MS"/>
              </a:rPr>
              <a:t>E</a:t>
            </a:r>
            <a:r>
              <a:rPr sz="1500" b="1" spc="-210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500" b="1" spc="95" dirty="0">
                <a:solidFill>
                  <a:srgbClr val="1A1A2E"/>
                </a:solidFill>
                <a:latin typeface="Trebuchet MS"/>
                <a:cs typeface="Trebuchet MS"/>
              </a:rPr>
              <a:t>D</a:t>
            </a:r>
            <a:r>
              <a:rPr sz="1500" b="1" spc="409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500" b="1" dirty="0">
                <a:solidFill>
                  <a:srgbClr val="1A1A2E"/>
                </a:solidFill>
                <a:latin typeface="Trebuchet MS"/>
                <a:cs typeface="Trebuchet MS"/>
              </a:rPr>
              <a:t>E</a:t>
            </a:r>
            <a:r>
              <a:rPr sz="1500" b="1" spc="-204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500" b="1" spc="100" dirty="0">
                <a:solidFill>
                  <a:srgbClr val="1A1A2E"/>
                </a:solidFill>
                <a:latin typeface="Trebuchet MS"/>
                <a:cs typeface="Trebuchet MS"/>
              </a:rPr>
              <a:t>V</a:t>
            </a:r>
            <a:r>
              <a:rPr sz="1500" b="1" spc="-210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500" b="1" spc="-25" dirty="0">
                <a:solidFill>
                  <a:srgbClr val="1A1A2E"/>
                </a:solidFill>
                <a:latin typeface="Trebuchet MS"/>
                <a:cs typeface="Trebuchet MS"/>
              </a:rPr>
              <a:t>I</a:t>
            </a:r>
            <a:r>
              <a:rPr sz="1500" b="1" spc="-204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500" b="1" spc="95" dirty="0">
                <a:solidFill>
                  <a:srgbClr val="1A1A2E"/>
                </a:solidFill>
                <a:latin typeface="Trebuchet MS"/>
                <a:cs typeface="Trebuchet MS"/>
              </a:rPr>
              <a:t>D</a:t>
            </a:r>
            <a:r>
              <a:rPr sz="1500" b="1" spc="-210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500" b="1" dirty="0">
                <a:solidFill>
                  <a:srgbClr val="1A1A2E"/>
                </a:solidFill>
                <a:latin typeface="Trebuchet MS"/>
                <a:cs typeface="Trebuchet MS"/>
              </a:rPr>
              <a:t>E</a:t>
            </a:r>
            <a:r>
              <a:rPr sz="1500" b="1" spc="-204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500" b="1" spc="80" dirty="0">
                <a:solidFill>
                  <a:srgbClr val="1A1A2E"/>
                </a:solidFill>
                <a:latin typeface="Trebuchet MS"/>
                <a:cs typeface="Trebuchet MS"/>
              </a:rPr>
              <a:t>N</a:t>
            </a:r>
            <a:r>
              <a:rPr sz="1500" b="1" spc="-204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500" b="1" spc="190" dirty="0">
                <a:solidFill>
                  <a:srgbClr val="1A1A2E"/>
                </a:solidFill>
                <a:latin typeface="Trebuchet MS"/>
                <a:cs typeface="Trebuchet MS"/>
              </a:rPr>
              <a:t>C</a:t>
            </a:r>
            <a:r>
              <a:rPr sz="1500" b="1" spc="-210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500" b="1" spc="-50" dirty="0">
                <a:solidFill>
                  <a:srgbClr val="1A1A2E"/>
                </a:solidFill>
                <a:latin typeface="Trebuchet MS"/>
                <a:cs typeface="Trebuchet MS"/>
              </a:rPr>
              <a:t>E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884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The</a:t>
            </a:r>
            <a:r>
              <a:rPr spc="-35" dirty="0"/>
              <a:t> </a:t>
            </a:r>
            <a:r>
              <a:rPr spc="-25" dirty="0"/>
              <a:t>evidence</a:t>
            </a:r>
            <a:r>
              <a:rPr spc="-35" dirty="0"/>
              <a:t> </a:t>
            </a:r>
            <a:r>
              <a:rPr dirty="0"/>
              <a:t>shows</a:t>
            </a:r>
            <a:r>
              <a:rPr spc="-30" dirty="0"/>
              <a:t> </a:t>
            </a:r>
            <a:r>
              <a:rPr dirty="0"/>
              <a:t>a</a:t>
            </a:r>
            <a:r>
              <a:rPr spc="-35" dirty="0"/>
              <a:t> </a:t>
            </a:r>
            <a:r>
              <a:rPr dirty="0"/>
              <a:t>widening</a:t>
            </a:r>
            <a:r>
              <a:rPr spc="-30" dirty="0"/>
              <a:t> </a:t>
            </a:r>
            <a:r>
              <a:rPr spc="35" dirty="0"/>
              <a:t>gap.</a:t>
            </a:r>
          </a:p>
        </p:txBody>
      </p:sp>
      <p:sp>
        <p:nvSpPr>
          <p:cNvPr id="4" name="object 4"/>
          <p:cNvSpPr/>
          <p:nvPr/>
        </p:nvSpPr>
        <p:spPr>
          <a:xfrm>
            <a:off x="1066800" y="9582150"/>
            <a:ext cx="16154400" cy="0"/>
          </a:xfrm>
          <a:custGeom>
            <a:avLst/>
            <a:gdLst/>
            <a:ahLst/>
            <a:cxnLst/>
            <a:rect l="l" t="t" r="r" b="b"/>
            <a:pathLst>
              <a:path w="16154400">
                <a:moveTo>
                  <a:pt x="0" y="0"/>
                </a:moveTo>
                <a:lnTo>
                  <a:pt x="16154398" y="0"/>
                </a:lnTo>
              </a:path>
            </a:pathLst>
          </a:custGeom>
          <a:ln w="9524">
            <a:solidFill>
              <a:srgbClr val="D9D9D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66800" y="3352800"/>
            <a:ext cx="4953000" cy="2857500"/>
          </a:xfrm>
          <a:prstGeom prst="rect">
            <a:avLst/>
          </a:prstGeom>
          <a:solidFill>
            <a:srgbClr val="FFFFFF"/>
          </a:solidFill>
          <a:ln w="19049">
            <a:solidFill>
              <a:srgbClr val="D9D9D4"/>
            </a:solidFill>
          </a:ln>
        </p:spPr>
        <p:txBody>
          <a:bodyPr vert="horz" wrap="square" lIns="0" tIns="367665" rIns="0" bIns="0" rtlCol="0">
            <a:spAutoFit/>
          </a:bodyPr>
          <a:lstStyle/>
          <a:p>
            <a:pPr marL="361315">
              <a:lnSpc>
                <a:spcPct val="100000"/>
              </a:lnSpc>
              <a:spcBef>
                <a:spcPts val="2895"/>
              </a:spcBef>
            </a:pPr>
            <a:r>
              <a:rPr sz="6450" b="1" spc="-925" dirty="0">
                <a:solidFill>
                  <a:srgbClr val="F6931A"/>
                </a:solidFill>
                <a:latin typeface="Cambria"/>
                <a:cs typeface="Cambria"/>
              </a:rPr>
              <a:t>15.7%</a:t>
            </a:r>
            <a:endParaRPr sz="6450">
              <a:latin typeface="Cambria"/>
              <a:cs typeface="Cambria"/>
            </a:endParaRPr>
          </a:p>
          <a:p>
            <a:pPr marL="361315">
              <a:lnSpc>
                <a:spcPct val="100000"/>
              </a:lnSpc>
              <a:spcBef>
                <a:spcPts val="1035"/>
              </a:spcBef>
            </a:pPr>
            <a:r>
              <a:rPr sz="2000" b="1" spc="50" dirty="0">
                <a:solidFill>
                  <a:srgbClr val="1A1A2E"/>
                </a:solidFill>
                <a:latin typeface="Trebuchet MS"/>
                <a:cs typeface="Trebuchet MS"/>
              </a:rPr>
              <a:t>Youth</a:t>
            </a:r>
            <a:r>
              <a:rPr sz="2000" b="1" spc="-114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2000" b="1" spc="75" dirty="0">
                <a:solidFill>
                  <a:srgbClr val="1A1A2E"/>
                </a:solidFill>
                <a:latin typeface="Trebuchet MS"/>
                <a:cs typeface="Trebuchet MS"/>
              </a:rPr>
              <a:t>unemployment</a:t>
            </a:r>
            <a:r>
              <a:rPr sz="2000" b="1" spc="-114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2000" b="1" spc="-20" dirty="0">
                <a:solidFill>
                  <a:srgbClr val="1A1A2E"/>
                </a:solidFill>
                <a:latin typeface="Trebuchet MS"/>
                <a:cs typeface="Trebuchet MS"/>
              </a:rPr>
              <a:t>rate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5"/>
              </a:lnSpc>
              <a:tabLst>
                <a:tab pos="756285" algn="l"/>
              </a:tabLst>
            </a:pPr>
            <a:r>
              <a:rPr spc="130" dirty="0"/>
              <a:t>KAZI</a:t>
            </a:r>
            <a:r>
              <a:rPr spc="-250" dirty="0"/>
              <a:t> </a:t>
            </a:r>
            <a:r>
              <a:rPr sz="1450" b="0" spc="705" dirty="0">
                <a:latin typeface="Segoe UI Symbol"/>
                <a:cs typeface="Segoe UI Symbol"/>
              </a:rPr>
              <a:t>⚡</a:t>
            </a:r>
            <a:r>
              <a:rPr sz="1450" b="0" dirty="0">
                <a:latin typeface="Segoe UI Symbol"/>
                <a:cs typeface="Segoe UI Symbol"/>
              </a:rPr>
              <a:t>	</a:t>
            </a:r>
            <a:r>
              <a:rPr dirty="0"/>
              <a:t>•</a:t>
            </a:r>
            <a:r>
              <a:rPr spc="440" dirty="0"/>
              <a:t> </a:t>
            </a:r>
            <a:r>
              <a:rPr spc="120" dirty="0"/>
              <a:t>2026</a:t>
            </a:r>
            <a:endParaRPr sz="1450">
              <a:latin typeface="Segoe UI Symbol"/>
              <a:cs typeface="Segoe UI Symbo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532510" y="9735528"/>
            <a:ext cx="623570" cy="2362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250" b="1" spc="135" dirty="0">
                <a:solidFill>
                  <a:srgbClr val="696975"/>
                </a:solidFill>
                <a:latin typeface="Trebuchet MS"/>
                <a:cs typeface="Trebuchet MS"/>
              </a:rPr>
              <a:t>0</a:t>
            </a:r>
            <a:fld id="{81D60167-4931-47E6-BA6A-407CBD079E47}" type="slidenum">
              <a:rPr sz="1250" b="1" spc="135" dirty="0">
                <a:solidFill>
                  <a:srgbClr val="696975"/>
                </a:solidFill>
                <a:latin typeface="Trebuchet MS"/>
                <a:cs typeface="Trebuchet MS"/>
              </a:rPr>
              <a:t>3</a:t>
            </a:fld>
            <a:r>
              <a:rPr sz="1250" b="1" spc="204" dirty="0">
                <a:solidFill>
                  <a:srgbClr val="696975"/>
                </a:solidFill>
                <a:latin typeface="Trebuchet MS"/>
                <a:cs typeface="Trebuchet MS"/>
              </a:rPr>
              <a:t> </a:t>
            </a:r>
            <a:r>
              <a:rPr sz="1250" b="1" dirty="0">
                <a:solidFill>
                  <a:srgbClr val="696975"/>
                </a:solidFill>
                <a:latin typeface="Trebuchet MS"/>
                <a:cs typeface="Trebuchet MS"/>
              </a:rPr>
              <a:t>/</a:t>
            </a:r>
            <a:r>
              <a:rPr sz="1250" b="1" spc="204" dirty="0">
                <a:solidFill>
                  <a:srgbClr val="696975"/>
                </a:solidFill>
                <a:latin typeface="Trebuchet MS"/>
                <a:cs typeface="Trebuchet MS"/>
              </a:rPr>
              <a:t> </a:t>
            </a:r>
            <a:r>
              <a:rPr sz="1250" b="1" spc="-60" dirty="0">
                <a:solidFill>
                  <a:srgbClr val="696975"/>
                </a:solidFill>
                <a:latin typeface="Trebuchet MS"/>
                <a:cs typeface="Trebuchet MS"/>
              </a:rPr>
              <a:t>12</a:t>
            </a:r>
            <a:endParaRPr sz="125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438899" y="3352800"/>
            <a:ext cx="4953000" cy="2857500"/>
          </a:xfrm>
          <a:prstGeom prst="rect">
            <a:avLst/>
          </a:prstGeom>
          <a:solidFill>
            <a:srgbClr val="FFF1DE"/>
          </a:solidFill>
          <a:ln w="19049">
            <a:solidFill>
              <a:srgbClr val="D9D9D4"/>
            </a:solidFill>
          </a:ln>
        </p:spPr>
        <p:txBody>
          <a:bodyPr vert="horz" wrap="square" lIns="0" tIns="367665" rIns="0" bIns="0" rtlCol="0">
            <a:spAutoFit/>
          </a:bodyPr>
          <a:lstStyle/>
          <a:p>
            <a:pPr marL="361315">
              <a:lnSpc>
                <a:spcPct val="100000"/>
              </a:lnSpc>
              <a:spcBef>
                <a:spcPts val="2895"/>
              </a:spcBef>
            </a:pPr>
            <a:r>
              <a:rPr sz="6450" b="1" spc="-705" dirty="0">
                <a:solidFill>
                  <a:srgbClr val="F6931A"/>
                </a:solidFill>
                <a:latin typeface="Cambria"/>
                <a:cs typeface="Cambria"/>
              </a:rPr>
              <a:t>59.7%</a:t>
            </a:r>
            <a:endParaRPr sz="6450">
              <a:latin typeface="Cambria"/>
              <a:cs typeface="Cambria"/>
            </a:endParaRPr>
          </a:p>
          <a:p>
            <a:pPr marL="361315">
              <a:lnSpc>
                <a:spcPct val="100000"/>
              </a:lnSpc>
              <a:spcBef>
                <a:spcPts val="1035"/>
              </a:spcBef>
            </a:pPr>
            <a:r>
              <a:rPr sz="2000" b="1" spc="50" dirty="0">
                <a:solidFill>
                  <a:srgbClr val="1A1A2E"/>
                </a:solidFill>
                <a:latin typeface="Trebuchet MS"/>
                <a:cs typeface="Trebuchet MS"/>
              </a:rPr>
              <a:t>Labour</a:t>
            </a:r>
            <a:r>
              <a:rPr sz="2000" b="1" spc="30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1A1A2E"/>
                </a:solidFill>
                <a:latin typeface="Trebuchet MS"/>
                <a:cs typeface="Trebuchet MS"/>
              </a:rPr>
              <a:t>underutilization</a:t>
            </a:r>
            <a:r>
              <a:rPr sz="2000" b="1" spc="35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2000" b="1" spc="-20" dirty="0">
                <a:solidFill>
                  <a:srgbClr val="1A1A2E"/>
                </a:solidFill>
                <a:latin typeface="Trebuchet MS"/>
                <a:cs typeface="Trebuchet MS"/>
              </a:rPr>
              <a:t>rate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810999" y="3352800"/>
            <a:ext cx="4953000" cy="2857500"/>
          </a:xfrm>
          <a:prstGeom prst="rect">
            <a:avLst/>
          </a:prstGeom>
          <a:solidFill>
            <a:srgbClr val="FFFFFF"/>
          </a:solidFill>
          <a:ln w="19049">
            <a:solidFill>
              <a:srgbClr val="D9D9D4"/>
            </a:solidFill>
          </a:ln>
        </p:spPr>
        <p:txBody>
          <a:bodyPr vert="horz" wrap="square" lIns="0" tIns="367665" rIns="0" bIns="0" rtlCol="0">
            <a:spAutoFit/>
          </a:bodyPr>
          <a:lstStyle/>
          <a:p>
            <a:pPr marL="361315">
              <a:lnSpc>
                <a:spcPct val="100000"/>
              </a:lnSpc>
              <a:spcBef>
                <a:spcPts val="2895"/>
              </a:spcBef>
            </a:pPr>
            <a:r>
              <a:rPr sz="6450" b="1" spc="-790" dirty="0">
                <a:solidFill>
                  <a:srgbClr val="F6931A"/>
                </a:solidFill>
                <a:latin typeface="Cambria"/>
                <a:cs typeface="Cambria"/>
              </a:rPr>
              <a:t>13.4%</a:t>
            </a:r>
            <a:endParaRPr sz="6450">
              <a:latin typeface="Cambria"/>
              <a:cs typeface="Cambria"/>
            </a:endParaRPr>
          </a:p>
          <a:p>
            <a:pPr marL="361315">
              <a:lnSpc>
                <a:spcPct val="100000"/>
              </a:lnSpc>
              <a:spcBef>
                <a:spcPts val="1035"/>
              </a:spcBef>
            </a:pPr>
            <a:r>
              <a:rPr sz="2000" b="1" spc="45" dirty="0">
                <a:solidFill>
                  <a:srgbClr val="1A1A2E"/>
                </a:solidFill>
                <a:latin typeface="Trebuchet MS"/>
                <a:cs typeface="Trebuchet MS"/>
              </a:rPr>
              <a:t>National</a:t>
            </a:r>
            <a:r>
              <a:rPr sz="2000" b="1" spc="-110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2000" b="1" spc="75" dirty="0">
                <a:solidFill>
                  <a:srgbClr val="1A1A2E"/>
                </a:solidFill>
                <a:latin typeface="Trebuchet MS"/>
                <a:cs typeface="Trebuchet MS"/>
              </a:rPr>
              <a:t>unemployment</a:t>
            </a:r>
            <a:r>
              <a:rPr sz="2000" b="1" spc="-105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2000" b="1" spc="-20" dirty="0">
                <a:solidFill>
                  <a:srgbClr val="1A1A2E"/>
                </a:solidFill>
                <a:latin typeface="Trebuchet MS"/>
                <a:cs typeface="Trebuchet MS"/>
              </a:rPr>
              <a:t>rate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54100" y="7964487"/>
            <a:ext cx="419227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696975"/>
                </a:solidFill>
                <a:latin typeface="Trebuchet MS"/>
                <a:cs typeface="Trebuchet MS"/>
              </a:rPr>
              <a:t>Source:</a:t>
            </a:r>
            <a:r>
              <a:rPr sz="1500" spc="65" dirty="0">
                <a:solidFill>
                  <a:srgbClr val="696975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696975"/>
                </a:solidFill>
                <a:latin typeface="Trebuchet MS"/>
                <a:cs typeface="Trebuchet MS"/>
              </a:rPr>
              <a:t>Rwanda</a:t>
            </a:r>
            <a:r>
              <a:rPr sz="1500" spc="70" dirty="0">
                <a:solidFill>
                  <a:srgbClr val="696975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696975"/>
                </a:solidFill>
                <a:latin typeface="Trebuchet MS"/>
                <a:cs typeface="Trebuchet MS"/>
              </a:rPr>
              <a:t>Labour</a:t>
            </a:r>
            <a:r>
              <a:rPr sz="1500" spc="70" dirty="0">
                <a:solidFill>
                  <a:srgbClr val="696975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696975"/>
                </a:solidFill>
                <a:latin typeface="Trebuchet MS"/>
                <a:cs typeface="Trebuchet MS"/>
              </a:rPr>
              <a:t>Force</a:t>
            </a:r>
            <a:r>
              <a:rPr sz="1500" spc="70" dirty="0">
                <a:solidFill>
                  <a:srgbClr val="696975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696975"/>
                </a:solidFill>
                <a:latin typeface="Trebuchet MS"/>
                <a:cs typeface="Trebuchet MS"/>
              </a:rPr>
              <a:t>Survey,</a:t>
            </a:r>
            <a:r>
              <a:rPr sz="1500" spc="70" dirty="0">
                <a:solidFill>
                  <a:srgbClr val="696975"/>
                </a:solidFill>
                <a:latin typeface="Trebuchet MS"/>
                <a:cs typeface="Trebuchet MS"/>
              </a:rPr>
              <a:t> </a:t>
            </a:r>
            <a:r>
              <a:rPr sz="1500" spc="110" dirty="0">
                <a:solidFill>
                  <a:srgbClr val="696975"/>
                </a:solidFill>
                <a:latin typeface="Trebuchet MS"/>
                <a:cs typeface="Trebuchet MS"/>
              </a:rPr>
              <a:t>Q2</a:t>
            </a:r>
            <a:r>
              <a:rPr sz="1500" spc="70" dirty="0">
                <a:solidFill>
                  <a:srgbClr val="696975"/>
                </a:solidFill>
                <a:latin typeface="Trebuchet MS"/>
                <a:cs typeface="Trebuchet MS"/>
              </a:rPr>
              <a:t> </a:t>
            </a:r>
            <a:r>
              <a:rPr sz="1500" spc="45" dirty="0">
                <a:solidFill>
                  <a:srgbClr val="696975"/>
                </a:solidFill>
                <a:latin typeface="Trebuchet MS"/>
                <a:cs typeface="Trebuchet MS"/>
              </a:rPr>
              <a:t>2026.</a:t>
            </a:r>
            <a:endParaRPr sz="15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54100" y="654050"/>
            <a:ext cx="273177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35" dirty="0">
                <a:solidFill>
                  <a:srgbClr val="1A1A2E"/>
                </a:solidFill>
                <a:latin typeface="Trebuchet MS"/>
                <a:cs typeface="Trebuchet MS"/>
              </a:rPr>
              <a:t>T</a:t>
            </a:r>
            <a:r>
              <a:rPr sz="1500" b="1" spc="-210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500" b="1" dirty="0">
                <a:solidFill>
                  <a:srgbClr val="1A1A2E"/>
                </a:solidFill>
                <a:latin typeface="Trebuchet MS"/>
                <a:cs typeface="Trebuchet MS"/>
              </a:rPr>
              <a:t>H</a:t>
            </a:r>
            <a:r>
              <a:rPr sz="1500" b="1" spc="-204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500" b="1" dirty="0">
                <a:solidFill>
                  <a:srgbClr val="1A1A2E"/>
                </a:solidFill>
                <a:latin typeface="Trebuchet MS"/>
                <a:cs typeface="Trebuchet MS"/>
              </a:rPr>
              <a:t>E</a:t>
            </a:r>
            <a:r>
              <a:rPr sz="1500" b="1" spc="409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500" b="1" spc="135" dirty="0">
                <a:solidFill>
                  <a:srgbClr val="1A1A2E"/>
                </a:solidFill>
                <a:latin typeface="Trebuchet MS"/>
                <a:cs typeface="Trebuchet MS"/>
              </a:rPr>
              <a:t>O</a:t>
            </a:r>
            <a:r>
              <a:rPr sz="1500" b="1" spc="-204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500" b="1" dirty="0">
                <a:solidFill>
                  <a:srgbClr val="1A1A2E"/>
                </a:solidFill>
                <a:latin typeface="Trebuchet MS"/>
                <a:cs typeface="Trebuchet MS"/>
              </a:rPr>
              <a:t>P</a:t>
            </a:r>
            <a:r>
              <a:rPr sz="1500" b="1" spc="-210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500" b="1" dirty="0">
                <a:solidFill>
                  <a:srgbClr val="1A1A2E"/>
                </a:solidFill>
                <a:latin typeface="Trebuchet MS"/>
                <a:cs typeface="Trebuchet MS"/>
              </a:rPr>
              <a:t>P</a:t>
            </a:r>
            <a:r>
              <a:rPr sz="1500" b="1" spc="-204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500" b="1" spc="135" dirty="0">
                <a:solidFill>
                  <a:srgbClr val="1A1A2E"/>
                </a:solidFill>
                <a:latin typeface="Trebuchet MS"/>
                <a:cs typeface="Trebuchet MS"/>
              </a:rPr>
              <a:t>O</a:t>
            </a:r>
            <a:r>
              <a:rPr sz="1500" b="1" spc="-204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500" b="1" dirty="0">
                <a:solidFill>
                  <a:srgbClr val="1A1A2E"/>
                </a:solidFill>
                <a:latin typeface="Trebuchet MS"/>
                <a:cs typeface="Trebuchet MS"/>
              </a:rPr>
              <a:t>R</a:t>
            </a:r>
            <a:r>
              <a:rPr sz="1500" b="1" spc="-204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500" b="1" spc="-35" dirty="0">
                <a:solidFill>
                  <a:srgbClr val="1A1A2E"/>
                </a:solidFill>
                <a:latin typeface="Trebuchet MS"/>
                <a:cs typeface="Trebuchet MS"/>
              </a:rPr>
              <a:t>T</a:t>
            </a:r>
            <a:r>
              <a:rPr sz="1500" b="1" spc="-210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500" b="1" dirty="0">
                <a:solidFill>
                  <a:srgbClr val="1A1A2E"/>
                </a:solidFill>
                <a:latin typeface="Trebuchet MS"/>
                <a:cs typeface="Trebuchet MS"/>
              </a:rPr>
              <a:t>U</a:t>
            </a:r>
            <a:r>
              <a:rPr sz="1500" b="1" spc="-204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500" b="1" spc="80" dirty="0">
                <a:solidFill>
                  <a:srgbClr val="1A1A2E"/>
                </a:solidFill>
                <a:latin typeface="Trebuchet MS"/>
                <a:cs typeface="Trebuchet MS"/>
              </a:rPr>
              <a:t>N</a:t>
            </a:r>
            <a:r>
              <a:rPr sz="1500" b="1" spc="-204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500" b="1" spc="-25" dirty="0">
                <a:solidFill>
                  <a:srgbClr val="1A1A2E"/>
                </a:solidFill>
                <a:latin typeface="Trebuchet MS"/>
                <a:cs typeface="Trebuchet MS"/>
              </a:rPr>
              <a:t>I</a:t>
            </a:r>
            <a:r>
              <a:rPr sz="1500" b="1" spc="-204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500" b="1" spc="-35" dirty="0">
                <a:solidFill>
                  <a:srgbClr val="1A1A2E"/>
                </a:solidFill>
                <a:latin typeface="Trebuchet MS"/>
                <a:cs typeface="Trebuchet MS"/>
              </a:rPr>
              <a:t>T</a:t>
            </a:r>
            <a:r>
              <a:rPr sz="1500" b="1" spc="-210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500" b="1" dirty="0">
                <a:solidFill>
                  <a:srgbClr val="1A1A2E"/>
                </a:solidFill>
                <a:latin typeface="Trebuchet MS"/>
                <a:cs typeface="Trebuchet MS"/>
              </a:rPr>
              <a:t>Y</a:t>
            </a:r>
            <a:r>
              <a:rPr sz="1500" b="1" spc="409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500" b="1" spc="140" dirty="0">
                <a:solidFill>
                  <a:srgbClr val="1A1A2E"/>
                </a:solidFill>
                <a:latin typeface="Trebuchet MS"/>
                <a:cs typeface="Trebuchet MS"/>
              </a:rPr>
              <a:t>G</a:t>
            </a:r>
            <a:r>
              <a:rPr sz="1500" b="1" spc="-204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500" b="1" spc="95" dirty="0">
                <a:solidFill>
                  <a:srgbClr val="1A1A2E"/>
                </a:solidFill>
                <a:latin typeface="Trebuchet MS"/>
                <a:cs typeface="Trebuchet MS"/>
              </a:rPr>
              <a:t>A</a:t>
            </a:r>
            <a:r>
              <a:rPr sz="1500" b="1" spc="-204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500" b="1" spc="-50" dirty="0">
                <a:solidFill>
                  <a:srgbClr val="1A1A2E"/>
                </a:solidFill>
                <a:latin typeface="Trebuchet MS"/>
                <a:cs typeface="Trebuchet MS"/>
              </a:rPr>
              <a:t>P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9647" rIns="0" bIns="0" rtlCol="0">
            <a:spAutoFit/>
          </a:bodyPr>
          <a:lstStyle/>
          <a:p>
            <a:pPr marL="12700" marR="5080">
              <a:lnSpc>
                <a:spcPts val="5480"/>
              </a:lnSpc>
              <a:spcBef>
                <a:spcPts val="815"/>
              </a:spcBef>
            </a:pPr>
            <a:r>
              <a:rPr dirty="0"/>
              <a:t>The</a:t>
            </a:r>
            <a:r>
              <a:rPr spc="-85" dirty="0"/>
              <a:t> </a:t>
            </a:r>
            <a:r>
              <a:rPr dirty="0"/>
              <a:t>challenge</a:t>
            </a:r>
            <a:r>
              <a:rPr spc="-10" dirty="0"/>
              <a:t> </a:t>
            </a:r>
            <a:r>
              <a:rPr dirty="0"/>
              <a:t>isn't</a:t>
            </a:r>
            <a:r>
              <a:rPr spc="-10" dirty="0"/>
              <a:t> </a:t>
            </a:r>
            <a:r>
              <a:rPr dirty="0"/>
              <a:t>a</a:t>
            </a:r>
            <a:r>
              <a:rPr spc="-10" dirty="0"/>
              <a:t> </a:t>
            </a:r>
            <a:r>
              <a:rPr dirty="0"/>
              <a:t>lack</a:t>
            </a:r>
            <a:r>
              <a:rPr spc="-5" dirty="0"/>
              <a:t> </a:t>
            </a:r>
            <a:r>
              <a:rPr dirty="0"/>
              <a:t>of</a:t>
            </a:r>
            <a:r>
              <a:rPr spc="-10" dirty="0"/>
              <a:t> </a:t>
            </a:r>
            <a:r>
              <a:rPr dirty="0"/>
              <a:t>skill</a:t>
            </a:r>
            <a:r>
              <a:rPr spc="-10" dirty="0"/>
              <a:t> </a:t>
            </a:r>
            <a:r>
              <a:rPr spc="-565" dirty="0"/>
              <a:t>—</a:t>
            </a:r>
            <a:r>
              <a:rPr spc="65" dirty="0"/>
              <a:t> </a:t>
            </a:r>
            <a:r>
              <a:rPr dirty="0"/>
              <a:t>it's</a:t>
            </a:r>
            <a:r>
              <a:rPr spc="-10" dirty="0"/>
              <a:t> </a:t>
            </a:r>
            <a:r>
              <a:rPr dirty="0"/>
              <a:t>a</a:t>
            </a:r>
            <a:r>
              <a:rPr spc="-10" dirty="0"/>
              <a:t> </a:t>
            </a:r>
            <a:r>
              <a:rPr dirty="0"/>
              <a:t>lack</a:t>
            </a:r>
            <a:r>
              <a:rPr spc="-5" dirty="0"/>
              <a:t> </a:t>
            </a:r>
            <a:r>
              <a:rPr spc="-25" dirty="0"/>
              <a:t>of </a:t>
            </a:r>
            <a:r>
              <a:rPr spc="-10" dirty="0"/>
              <a:t>access.</a:t>
            </a:r>
          </a:p>
        </p:txBody>
      </p:sp>
      <p:sp>
        <p:nvSpPr>
          <p:cNvPr id="4" name="object 4"/>
          <p:cNvSpPr/>
          <p:nvPr/>
        </p:nvSpPr>
        <p:spPr>
          <a:xfrm>
            <a:off x="1066800" y="9582150"/>
            <a:ext cx="16154400" cy="0"/>
          </a:xfrm>
          <a:custGeom>
            <a:avLst/>
            <a:gdLst/>
            <a:ahLst/>
            <a:cxnLst/>
            <a:rect l="l" t="t" r="r" b="b"/>
            <a:pathLst>
              <a:path w="16154400">
                <a:moveTo>
                  <a:pt x="0" y="0"/>
                </a:moveTo>
                <a:lnTo>
                  <a:pt x="16154398" y="0"/>
                </a:lnTo>
              </a:path>
            </a:pathLst>
          </a:custGeom>
          <a:ln w="9524">
            <a:solidFill>
              <a:srgbClr val="D9D9D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66800" y="3943350"/>
            <a:ext cx="4953000" cy="2381250"/>
          </a:xfrm>
          <a:prstGeom prst="rect">
            <a:avLst/>
          </a:prstGeom>
          <a:solidFill>
            <a:srgbClr val="FFFFFF"/>
          </a:solidFill>
          <a:ln w="19049">
            <a:solidFill>
              <a:srgbClr val="D9D9D4"/>
            </a:solidFill>
          </a:ln>
        </p:spPr>
        <p:txBody>
          <a:bodyPr vert="horz" wrap="square" lIns="0" tIns="346710" rIns="0" bIns="0" rtlCol="0">
            <a:spAutoFit/>
          </a:bodyPr>
          <a:lstStyle/>
          <a:p>
            <a:pPr marL="304165">
              <a:lnSpc>
                <a:spcPct val="100000"/>
              </a:lnSpc>
              <a:spcBef>
                <a:spcPts val="2730"/>
              </a:spcBef>
            </a:pPr>
            <a:r>
              <a:rPr sz="2900" b="1" dirty="0">
                <a:solidFill>
                  <a:srgbClr val="F6931A"/>
                </a:solidFill>
                <a:latin typeface="Cambria"/>
                <a:cs typeface="Cambria"/>
              </a:rPr>
              <a:t>Young</a:t>
            </a:r>
            <a:r>
              <a:rPr sz="2900" b="1" spc="270" dirty="0">
                <a:solidFill>
                  <a:srgbClr val="F6931A"/>
                </a:solidFill>
                <a:latin typeface="Cambria"/>
                <a:cs typeface="Cambria"/>
              </a:rPr>
              <a:t> </a:t>
            </a:r>
            <a:r>
              <a:rPr sz="2900" b="1" spc="-10" dirty="0">
                <a:solidFill>
                  <a:srgbClr val="F6931A"/>
                </a:solidFill>
                <a:latin typeface="Cambria"/>
                <a:cs typeface="Cambria"/>
              </a:rPr>
              <a:t>people</a:t>
            </a:r>
            <a:endParaRPr sz="2900">
              <a:latin typeface="Cambria"/>
              <a:cs typeface="Cambria"/>
            </a:endParaRPr>
          </a:p>
          <a:p>
            <a:pPr marL="304165" marR="560070">
              <a:lnSpc>
                <a:spcPct val="111500"/>
              </a:lnSpc>
              <a:spcBef>
                <a:spcPts val="1745"/>
              </a:spcBef>
            </a:pPr>
            <a:r>
              <a:rPr sz="1850" spc="55" dirty="0">
                <a:solidFill>
                  <a:srgbClr val="1A1A2E"/>
                </a:solidFill>
                <a:latin typeface="Trebuchet MS"/>
                <a:cs typeface="Trebuchet MS"/>
              </a:rPr>
              <a:t>don't</a:t>
            </a:r>
            <a:r>
              <a:rPr sz="1850" dirty="0">
                <a:solidFill>
                  <a:srgbClr val="1A1A2E"/>
                </a:solidFill>
                <a:latin typeface="Trebuchet MS"/>
                <a:cs typeface="Trebuchet MS"/>
              </a:rPr>
              <a:t> know where </a:t>
            </a:r>
            <a:r>
              <a:rPr sz="1850" spc="50" dirty="0">
                <a:solidFill>
                  <a:srgbClr val="1A1A2E"/>
                </a:solidFill>
                <a:latin typeface="Trebuchet MS"/>
                <a:cs typeface="Trebuchet MS"/>
              </a:rPr>
              <a:t>to</a:t>
            </a:r>
            <a:r>
              <a:rPr sz="1850" dirty="0">
                <a:solidFill>
                  <a:srgbClr val="1A1A2E"/>
                </a:solidFill>
                <a:latin typeface="Trebuchet MS"/>
                <a:cs typeface="Trebuchet MS"/>
              </a:rPr>
              <a:t> find </a:t>
            </a:r>
            <a:r>
              <a:rPr sz="1850" spc="60" dirty="0">
                <a:solidFill>
                  <a:srgbClr val="1A1A2E"/>
                </a:solidFill>
                <a:latin typeface="Trebuchet MS"/>
                <a:cs typeface="Trebuchet MS"/>
              </a:rPr>
              <a:t>paid</a:t>
            </a:r>
            <a:r>
              <a:rPr sz="1850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850" spc="80" dirty="0">
                <a:solidFill>
                  <a:srgbClr val="1A1A2E"/>
                </a:solidFill>
                <a:latin typeface="Trebuchet MS"/>
                <a:cs typeface="Trebuchet MS"/>
              </a:rPr>
              <a:t>micro-</a:t>
            </a:r>
            <a:r>
              <a:rPr sz="1850" spc="65" dirty="0">
                <a:solidFill>
                  <a:srgbClr val="1A1A2E"/>
                </a:solidFill>
                <a:latin typeface="Trebuchet MS"/>
                <a:cs typeface="Trebuchet MS"/>
              </a:rPr>
              <a:t>tasks</a:t>
            </a:r>
            <a:endParaRPr sz="185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5"/>
              </a:lnSpc>
              <a:tabLst>
                <a:tab pos="756285" algn="l"/>
              </a:tabLst>
            </a:pPr>
            <a:r>
              <a:rPr spc="130" dirty="0"/>
              <a:t>KAZI</a:t>
            </a:r>
            <a:r>
              <a:rPr spc="-250" dirty="0"/>
              <a:t> </a:t>
            </a:r>
            <a:r>
              <a:rPr sz="1450" b="0" spc="705" dirty="0">
                <a:latin typeface="Segoe UI Symbol"/>
                <a:cs typeface="Segoe UI Symbol"/>
              </a:rPr>
              <a:t>⚡</a:t>
            </a:r>
            <a:r>
              <a:rPr sz="1450" b="0" dirty="0">
                <a:latin typeface="Segoe UI Symbol"/>
                <a:cs typeface="Segoe UI Symbol"/>
              </a:rPr>
              <a:t>	</a:t>
            </a:r>
            <a:r>
              <a:rPr dirty="0"/>
              <a:t>•</a:t>
            </a:r>
            <a:r>
              <a:rPr spc="440" dirty="0"/>
              <a:t> </a:t>
            </a:r>
            <a:r>
              <a:rPr spc="120" dirty="0"/>
              <a:t>2026</a:t>
            </a:r>
            <a:endParaRPr sz="1450">
              <a:latin typeface="Segoe UI Symbol"/>
              <a:cs typeface="Segoe UI Symbol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pc="165" dirty="0"/>
              <a:t>05</a:t>
            </a:r>
            <a:r>
              <a:rPr spc="204" dirty="0"/>
              <a:t> </a:t>
            </a:r>
            <a:r>
              <a:rPr dirty="0"/>
              <a:t>/</a:t>
            </a:r>
            <a:r>
              <a:rPr spc="210" dirty="0"/>
              <a:t> </a:t>
            </a:r>
            <a:r>
              <a:rPr spc="-65" dirty="0"/>
              <a:t>12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438899" y="3943350"/>
            <a:ext cx="4953000" cy="2381250"/>
          </a:xfrm>
          <a:prstGeom prst="rect">
            <a:avLst/>
          </a:prstGeom>
          <a:solidFill>
            <a:srgbClr val="FFFFFF"/>
          </a:solidFill>
          <a:ln w="19049">
            <a:solidFill>
              <a:srgbClr val="D9D9D4"/>
            </a:solidFill>
          </a:ln>
        </p:spPr>
        <p:txBody>
          <a:bodyPr vert="horz" wrap="square" lIns="0" tIns="346710" rIns="0" bIns="0" rtlCol="0">
            <a:spAutoFit/>
          </a:bodyPr>
          <a:lstStyle/>
          <a:p>
            <a:pPr marL="304165">
              <a:lnSpc>
                <a:spcPct val="100000"/>
              </a:lnSpc>
              <a:spcBef>
                <a:spcPts val="2730"/>
              </a:spcBef>
            </a:pPr>
            <a:r>
              <a:rPr sz="2900" b="1" spc="35" dirty="0">
                <a:solidFill>
                  <a:srgbClr val="F6931A"/>
                </a:solidFill>
                <a:latin typeface="Cambria"/>
                <a:cs typeface="Cambria"/>
              </a:rPr>
              <a:t>Clients</a:t>
            </a:r>
            <a:endParaRPr sz="2900">
              <a:latin typeface="Cambria"/>
              <a:cs typeface="Cambria"/>
            </a:endParaRPr>
          </a:p>
          <a:p>
            <a:pPr marL="304165" marR="1039494">
              <a:lnSpc>
                <a:spcPct val="111500"/>
              </a:lnSpc>
              <a:spcBef>
                <a:spcPts val="1745"/>
              </a:spcBef>
            </a:pPr>
            <a:r>
              <a:rPr sz="1850" spc="55" dirty="0">
                <a:solidFill>
                  <a:srgbClr val="1A1A2E"/>
                </a:solidFill>
                <a:latin typeface="Trebuchet MS"/>
                <a:cs typeface="Trebuchet MS"/>
              </a:rPr>
              <a:t>don't</a:t>
            </a:r>
            <a:r>
              <a:rPr sz="1850" spc="10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850" dirty="0">
                <a:solidFill>
                  <a:srgbClr val="1A1A2E"/>
                </a:solidFill>
                <a:latin typeface="Trebuchet MS"/>
                <a:cs typeface="Trebuchet MS"/>
              </a:rPr>
              <a:t>know</a:t>
            </a:r>
            <a:r>
              <a:rPr sz="1850" spc="15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850" dirty="0">
                <a:solidFill>
                  <a:srgbClr val="1A1A2E"/>
                </a:solidFill>
                <a:latin typeface="Trebuchet MS"/>
                <a:cs typeface="Trebuchet MS"/>
              </a:rPr>
              <a:t>where</a:t>
            </a:r>
            <a:r>
              <a:rPr sz="1850" spc="15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850" spc="50" dirty="0">
                <a:solidFill>
                  <a:srgbClr val="1A1A2E"/>
                </a:solidFill>
                <a:latin typeface="Trebuchet MS"/>
                <a:cs typeface="Trebuchet MS"/>
              </a:rPr>
              <a:t>to</a:t>
            </a:r>
            <a:r>
              <a:rPr sz="1850" spc="10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850" dirty="0">
                <a:solidFill>
                  <a:srgbClr val="1A1A2E"/>
                </a:solidFill>
                <a:latin typeface="Trebuchet MS"/>
                <a:cs typeface="Trebuchet MS"/>
              </a:rPr>
              <a:t>find</a:t>
            </a:r>
            <a:r>
              <a:rPr sz="1850" spc="15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850" spc="-10" dirty="0">
                <a:solidFill>
                  <a:srgbClr val="1A1A2E"/>
                </a:solidFill>
                <a:latin typeface="Trebuchet MS"/>
                <a:cs typeface="Trebuchet MS"/>
              </a:rPr>
              <a:t>verified </a:t>
            </a:r>
            <a:r>
              <a:rPr sz="1850" spc="65" dirty="0">
                <a:solidFill>
                  <a:srgbClr val="1A1A2E"/>
                </a:solidFill>
                <a:latin typeface="Trebuchet MS"/>
                <a:cs typeface="Trebuchet MS"/>
              </a:rPr>
              <a:t>youth</a:t>
            </a:r>
            <a:r>
              <a:rPr sz="1850" spc="-60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850" spc="-10" dirty="0">
                <a:solidFill>
                  <a:srgbClr val="1A1A2E"/>
                </a:solidFill>
                <a:latin typeface="Trebuchet MS"/>
                <a:cs typeface="Trebuchet MS"/>
              </a:rPr>
              <a:t>talent</a:t>
            </a:r>
            <a:endParaRPr sz="185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810999" y="3943350"/>
            <a:ext cx="4953000" cy="2381250"/>
          </a:xfrm>
          <a:prstGeom prst="rect">
            <a:avLst/>
          </a:prstGeom>
          <a:solidFill>
            <a:srgbClr val="FFFFFF"/>
          </a:solidFill>
          <a:ln w="19049">
            <a:solidFill>
              <a:srgbClr val="D9D9D4"/>
            </a:solidFill>
          </a:ln>
        </p:spPr>
        <p:txBody>
          <a:bodyPr vert="horz" wrap="square" lIns="0" tIns="346710" rIns="0" bIns="0" rtlCol="0">
            <a:spAutoFit/>
          </a:bodyPr>
          <a:lstStyle/>
          <a:p>
            <a:pPr marL="304165">
              <a:lnSpc>
                <a:spcPct val="100000"/>
              </a:lnSpc>
              <a:spcBef>
                <a:spcPts val="2730"/>
              </a:spcBef>
            </a:pPr>
            <a:r>
              <a:rPr sz="2900" b="1" dirty="0">
                <a:solidFill>
                  <a:srgbClr val="F6931A"/>
                </a:solidFill>
                <a:latin typeface="Cambria"/>
                <a:cs typeface="Cambria"/>
              </a:rPr>
              <a:t>Payment</a:t>
            </a:r>
            <a:r>
              <a:rPr sz="2900" b="1" spc="15" dirty="0">
                <a:solidFill>
                  <a:srgbClr val="F6931A"/>
                </a:solidFill>
                <a:latin typeface="Cambria"/>
                <a:cs typeface="Cambria"/>
              </a:rPr>
              <a:t> </a:t>
            </a:r>
            <a:r>
              <a:rPr sz="2900" b="1" spc="-10" dirty="0">
                <a:solidFill>
                  <a:srgbClr val="F6931A"/>
                </a:solidFill>
                <a:latin typeface="Cambria"/>
                <a:cs typeface="Cambria"/>
              </a:rPr>
              <a:t>rails</a:t>
            </a:r>
            <a:endParaRPr sz="2900">
              <a:latin typeface="Cambria"/>
              <a:cs typeface="Cambria"/>
            </a:endParaRPr>
          </a:p>
          <a:p>
            <a:pPr marL="304165">
              <a:lnSpc>
                <a:spcPct val="100000"/>
              </a:lnSpc>
              <a:spcBef>
                <a:spcPts val="2000"/>
              </a:spcBef>
            </a:pPr>
            <a:r>
              <a:rPr sz="1850" dirty="0">
                <a:solidFill>
                  <a:srgbClr val="1A1A2E"/>
                </a:solidFill>
                <a:latin typeface="Trebuchet MS"/>
                <a:cs typeface="Trebuchet MS"/>
              </a:rPr>
              <a:t>can't</a:t>
            </a:r>
            <a:r>
              <a:rPr sz="1850" spc="110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850" dirty="0">
                <a:solidFill>
                  <a:srgbClr val="1A1A2E"/>
                </a:solidFill>
                <a:latin typeface="Trebuchet MS"/>
                <a:cs typeface="Trebuchet MS"/>
              </a:rPr>
              <a:t>handle</a:t>
            </a:r>
            <a:r>
              <a:rPr sz="1850" spc="114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850" dirty="0">
                <a:solidFill>
                  <a:srgbClr val="1A1A2E"/>
                </a:solidFill>
                <a:latin typeface="Trebuchet MS"/>
                <a:cs typeface="Trebuchet MS"/>
              </a:rPr>
              <a:t>very</a:t>
            </a:r>
            <a:r>
              <a:rPr sz="1850" spc="110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850" dirty="0">
                <a:solidFill>
                  <a:srgbClr val="1A1A2E"/>
                </a:solidFill>
                <a:latin typeface="Trebuchet MS"/>
                <a:cs typeface="Trebuchet MS"/>
              </a:rPr>
              <a:t>small</a:t>
            </a:r>
            <a:r>
              <a:rPr sz="1850" spc="114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850" spc="70" dirty="0">
                <a:solidFill>
                  <a:srgbClr val="1A1A2E"/>
                </a:solidFill>
                <a:latin typeface="Trebuchet MS"/>
                <a:cs typeface="Trebuchet MS"/>
              </a:rPr>
              <a:t>amounts</a:t>
            </a:r>
            <a:endParaRPr sz="185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766468" y="7323454"/>
            <a:ext cx="8755380" cy="4597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50" i="1" dirty="0">
                <a:solidFill>
                  <a:srgbClr val="1A1A2E"/>
                </a:solidFill>
                <a:latin typeface="Times New Roman"/>
                <a:cs typeface="Times New Roman"/>
              </a:rPr>
              <a:t>“The</a:t>
            </a:r>
            <a:r>
              <a:rPr sz="2850" i="1" spc="45" dirty="0">
                <a:solidFill>
                  <a:srgbClr val="1A1A2E"/>
                </a:solidFill>
                <a:latin typeface="Times New Roman"/>
                <a:cs typeface="Times New Roman"/>
              </a:rPr>
              <a:t> </a:t>
            </a:r>
            <a:r>
              <a:rPr sz="2850" i="1" dirty="0">
                <a:solidFill>
                  <a:srgbClr val="1A1A2E"/>
                </a:solidFill>
                <a:latin typeface="Times New Roman"/>
                <a:cs typeface="Times New Roman"/>
              </a:rPr>
              <a:t>challenge</a:t>
            </a:r>
            <a:r>
              <a:rPr sz="2850" i="1" spc="45" dirty="0">
                <a:solidFill>
                  <a:srgbClr val="1A1A2E"/>
                </a:solidFill>
                <a:latin typeface="Times New Roman"/>
                <a:cs typeface="Times New Roman"/>
              </a:rPr>
              <a:t> </a:t>
            </a:r>
            <a:r>
              <a:rPr sz="2850" i="1" spc="70" dirty="0">
                <a:solidFill>
                  <a:srgbClr val="1A1A2E"/>
                </a:solidFill>
                <a:latin typeface="Times New Roman"/>
                <a:cs typeface="Times New Roman"/>
              </a:rPr>
              <a:t>isn't</a:t>
            </a:r>
            <a:r>
              <a:rPr sz="2850" i="1" spc="50" dirty="0">
                <a:solidFill>
                  <a:srgbClr val="1A1A2E"/>
                </a:solidFill>
                <a:latin typeface="Times New Roman"/>
                <a:cs typeface="Times New Roman"/>
              </a:rPr>
              <a:t> </a:t>
            </a:r>
            <a:r>
              <a:rPr sz="2850" i="1" spc="55" dirty="0">
                <a:solidFill>
                  <a:srgbClr val="1A1A2E"/>
                </a:solidFill>
                <a:latin typeface="Times New Roman"/>
                <a:cs typeface="Times New Roman"/>
              </a:rPr>
              <a:t>a</a:t>
            </a:r>
            <a:r>
              <a:rPr sz="2850" i="1" spc="45" dirty="0">
                <a:solidFill>
                  <a:srgbClr val="1A1A2E"/>
                </a:solidFill>
                <a:latin typeface="Times New Roman"/>
                <a:cs typeface="Times New Roman"/>
              </a:rPr>
              <a:t> </a:t>
            </a:r>
            <a:r>
              <a:rPr sz="2850" i="1" spc="55" dirty="0">
                <a:solidFill>
                  <a:srgbClr val="1A1A2E"/>
                </a:solidFill>
                <a:latin typeface="Times New Roman"/>
                <a:cs typeface="Times New Roman"/>
              </a:rPr>
              <a:t>lack</a:t>
            </a:r>
            <a:r>
              <a:rPr sz="2850" i="1" spc="50" dirty="0">
                <a:solidFill>
                  <a:srgbClr val="1A1A2E"/>
                </a:solidFill>
                <a:latin typeface="Times New Roman"/>
                <a:cs typeface="Times New Roman"/>
              </a:rPr>
              <a:t> </a:t>
            </a:r>
            <a:r>
              <a:rPr sz="2850" i="1" dirty="0">
                <a:solidFill>
                  <a:srgbClr val="1A1A2E"/>
                </a:solidFill>
                <a:latin typeface="Times New Roman"/>
                <a:cs typeface="Times New Roman"/>
              </a:rPr>
              <a:t>of</a:t>
            </a:r>
            <a:r>
              <a:rPr sz="2850" i="1" spc="50" dirty="0">
                <a:solidFill>
                  <a:srgbClr val="1A1A2E"/>
                </a:solidFill>
                <a:latin typeface="Times New Roman"/>
                <a:cs typeface="Times New Roman"/>
              </a:rPr>
              <a:t> </a:t>
            </a:r>
            <a:r>
              <a:rPr sz="2850" i="1" dirty="0">
                <a:solidFill>
                  <a:srgbClr val="1A1A2E"/>
                </a:solidFill>
                <a:latin typeface="Times New Roman"/>
                <a:cs typeface="Times New Roman"/>
              </a:rPr>
              <a:t>skill</a:t>
            </a:r>
            <a:r>
              <a:rPr sz="2850" i="1" spc="40" dirty="0">
                <a:solidFill>
                  <a:srgbClr val="1A1A2E"/>
                </a:solidFill>
                <a:latin typeface="Times New Roman"/>
                <a:cs typeface="Times New Roman"/>
              </a:rPr>
              <a:t> </a:t>
            </a:r>
            <a:r>
              <a:rPr sz="2850" i="1" spc="300" dirty="0">
                <a:solidFill>
                  <a:srgbClr val="1A1A2E"/>
                </a:solidFill>
                <a:latin typeface="Times New Roman"/>
                <a:cs typeface="Times New Roman"/>
              </a:rPr>
              <a:t>—</a:t>
            </a:r>
            <a:r>
              <a:rPr sz="2850" i="1" spc="50" dirty="0">
                <a:solidFill>
                  <a:srgbClr val="1A1A2E"/>
                </a:solidFill>
                <a:latin typeface="Times New Roman"/>
                <a:cs typeface="Times New Roman"/>
              </a:rPr>
              <a:t> </a:t>
            </a:r>
            <a:r>
              <a:rPr sz="2850" i="1" dirty="0">
                <a:solidFill>
                  <a:srgbClr val="1A1A2E"/>
                </a:solidFill>
                <a:latin typeface="Times New Roman"/>
                <a:cs typeface="Times New Roman"/>
              </a:rPr>
              <a:t>it's</a:t>
            </a:r>
            <a:r>
              <a:rPr sz="2850" i="1" spc="45" dirty="0">
                <a:solidFill>
                  <a:srgbClr val="1A1A2E"/>
                </a:solidFill>
                <a:latin typeface="Times New Roman"/>
                <a:cs typeface="Times New Roman"/>
              </a:rPr>
              <a:t> </a:t>
            </a:r>
            <a:r>
              <a:rPr sz="2850" i="1" spc="55" dirty="0">
                <a:solidFill>
                  <a:srgbClr val="1A1A2E"/>
                </a:solidFill>
                <a:latin typeface="Times New Roman"/>
                <a:cs typeface="Times New Roman"/>
              </a:rPr>
              <a:t>a</a:t>
            </a:r>
            <a:r>
              <a:rPr sz="2850" i="1" spc="50" dirty="0">
                <a:solidFill>
                  <a:srgbClr val="1A1A2E"/>
                </a:solidFill>
                <a:latin typeface="Times New Roman"/>
                <a:cs typeface="Times New Roman"/>
              </a:rPr>
              <a:t> </a:t>
            </a:r>
            <a:r>
              <a:rPr sz="2850" i="1" spc="55" dirty="0">
                <a:solidFill>
                  <a:srgbClr val="1A1A2E"/>
                </a:solidFill>
                <a:latin typeface="Times New Roman"/>
                <a:cs typeface="Times New Roman"/>
              </a:rPr>
              <a:t>lack</a:t>
            </a:r>
            <a:r>
              <a:rPr sz="2850" i="1" spc="45" dirty="0">
                <a:solidFill>
                  <a:srgbClr val="1A1A2E"/>
                </a:solidFill>
                <a:latin typeface="Times New Roman"/>
                <a:cs typeface="Times New Roman"/>
              </a:rPr>
              <a:t> </a:t>
            </a:r>
            <a:r>
              <a:rPr sz="2850" i="1" dirty="0">
                <a:solidFill>
                  <a:srgbClr val="1A1A2E"/>
                </a:solidFill>
                <a:latin typeface="Times New Roman"/>
                <a:cs typeface="Times New Roman"/>
              </a:rPr>
              <a:t>of</a:t>
            </a:r>
            <a:r>
              <a:rPr sz="2850" i="1" spc="50" dirty="0">
                <a:solidFill>
                  <a:srgbClr val="1A1A2E"/>
                </a:solidFill>
                <a:latin typeface="Times New Roman"/>
                <a:cs typeface="Times New Roman"/>
              </a:rPr>
              <a:t> </a:t>
            </a:r>
            <a:r>
              <a:rPr sz="2850" i="1" spc="-35" dirty="0">
                <a:solidFill>
                  <a:srgbClr val="1A1A2E"/>
                </a:solidFill>
                <a:latin typeface="Times New Roman"/>
                <a:cs typeface="Times New Roman"/>
              </a:rPr>
              <a:t>access.”</a:t>
            </a:r>
            <a:endParaRPr sz="28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54100" y="654050"/>
            <a:ext cx="251904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1A1A2E"/>
                </a:solidFill>
                <a:latin typeface="Trebuchet MS"/>
                <a:cs typeface="Trebuchet MS"/>
              </a:rPr>
              <a:t>P</a:t>
            </a:r>
            <a:r>
              <a:rPr sz="1500" b="1" spc="-210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500" b="1" dirty="0">
                <a:solidFill>
                  <a:srgbClr val="1A1A2E"/>
                </a:solidFill>
                <a:latin typeface="Trebuchet MS"/>
                <a:cs typeface="Trebuchet MS"/>
              </a:rPr>
              <a:t>R</a:t>
            </a:r>
            <a:r>
              <a:rPr sz="1500" b="1" spc="-204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500" b="1" spc="135" dirty="0">
                <a:solidFill>
                  <a:srgbClr val="1A1A2E"/>
                </a:solidFill>
                <a:latin typeface="Trebuchet MS"/>
                <a:cs typeface="Trebuchet MS"/>
              </a:rPr>
              <a:t>O</a:t>
            </a:r>
            <a:r>
              <a:rPr sz="1500" b="1" spc="-210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500" b="1" dirty="0">
                <a:solidFill>
                  <a:srgbClr val="1A1A2E"/>
                </a:solidFill>
                <a:latin typeface="Trebuchet MS"/>
                <a:cs typeface="Trebuchet MS"/>
              </a:rPr>
              <a:t>P</a:t>
            </a:r>
            <a:r>
              <a:rPr sz="1500" b="1" spc="-204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500" b="1" spc="135" dirty="0">
                <a:solidFill>
                  <a:srgbClr val="1A1A2E"/>
                </a:solidFill>
                <a:latin typeface="Trebuchet MS"/>
                <a:cs typeface="Trebuchet MS"/>
              </a:rPr>
              <a:t>O</a:t>
            </a:r>
            <a:r>
              <a:rPr sz="1500" b="1" spc="-210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500" b="1" spc="125" dirty="0">
                <a:solidFill>
                  <a:srgbClr val="1A1A2E"/>
                </a:solidFill>
                <a:latin typeface="Trebuchet MS"/>
                <a:cs typeface="Trebuchet MS"/>
              </a:rPr>
              <a:t>S</a:t>
            </a:r>
            <a:r>
              <a:rPr sz="1500" b="1" spc="-204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500" b="1" dirty="0">
                <a:solidFill>
                  <a:srgbClr val="1A1A2E"/>
                </a:solidFill>
                <a:latin typeface="Trebuchet MS"/>
                <a:cs typeface="Trebuchet MS"/>
              </a:rPr>
              <a:t>E</a:t>
            </a:r>
            <a:r>
              <a:rPr sz="1500" b="1" spc="-204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500" b="1" spc="95" dirty="0">
                <a:solidFill>
                  <a:srgbClr val="1A1A2E"/>
                </a:solidFill>
                <a:latin typeface="Trebuchet MS"/>
                <a:cs typeface="Trebuchet MS"/>
              </a:rPr>
              <a:t>D</a:t>
            </a:r>
            <a:r>
              <a:rPr sz="1500" b="1" spc="405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500" b="1" spc="125" dirty="0">
                <a:solidFill>
                  <a:srgbClr val="1A1A2E"/>
                </a:solidFill>
                <a:latin typeface="Trebuchet MS"/>
                <a:cs typeface="Trebuchet MS"/>
              </a:rPr>
              <a:t>S</a:t>
            </a:r>
            <a:r>
              <a:rPr sz="1500" b="1" spc="-204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500" b="1" spc="135" dirty="0">
                <a:solidFill>
                  <a:srgbClr val="1A1A2E"/>
                </a:solidFill>
                <a:latin typeface="Trebuchet MS"/>
                <a:cs typeface="Trebuchet MS"/>
              </a:rPr>
              <a:t>O</a:t>
            </a:r>
            <a:r>
              <a:rPr sz="1500" b="1" spc="-210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500" b="1" dirty="0">
                <a:solidFill>
                  <a:srgbClr val="1A1A2E"/>
                </a:solidFill>
                <a:latin typeface="Trebuchet MS"/>
                <a:cs typeface="Trebuchet MS"/>
              </a:rPr>
              <a:t>L</a:t>
            </a:r>
            <a:r>
              <a:rPr sz="1500" b="1" spc="-204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500" b="1" dirty="0">
                <a:solidFill>
                  <a:srgbClr val="1A1A2E"/>
                </a:solidFill>
                <a:latin typeface="Trebuchet MS"/>
                <a:cs typeface="Trebuchet MS"/>
              </a:rPr>
              <a:t>U</a:t>
            </a:r>
            <a:r>
              <a:rPr sz="1500" b="1" spc="-210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500" b="1" spc="-35" dirty="0">
                <a:solidFill>
                  <a:srgbClr val="1A1A2E"/>
                </a:solidFill>
                <a:latin typeface="Trebuchet MS"/>
                <a:cs typeface="Trebuchet MS"/>
              </a:rPr>
              <a:t>T</a:t>
            </a:r>
            <a:r>
              <a:rPr sz="1500" b="1" spc="-204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500" b="1" spc="-25" dirty="0">
                <a:solidFill>
                  <a:srgbClr val="1A1A2E"/>
                </a:solidFill>
                <a:latin typeface="Trebuchet MS"/>
                <a:cs typeface="Trebuchet MS"/>
              </a:rPr>
              <a:t>I</a:t>
            </a:r>
            <a:r>
              <a:rPr sz="1500" b="1" spc="-204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500" b="1" spc="135" dirty="0">
                <a:solidFill>
                  <a:srgbClr val="1A1A2E"/>
                </a:solidFill>
                <a:latin typeface="Trebuchet MS"/>
                <a:cs typeface="Trebuchet MS"/>
              </a:rPr>
              <a:t>O</a:t>
            </a:r>
            <a:r>
              <a:rPr sz="1500" b="1" spc="-210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500" b="1" spc="30" dirty="0">
                <a:solidFill>
                  <a:srgbClr val="1A1A2E"/>
                </a:solidFill>
                <a:latin typeface="Trebuchet MS"/>
                <a:cs typeface="Trebuchet MS"/>
              </a:rPr>
              <a:t>N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884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55" dirty="0"/>
              <a:t>From</a:t>
            </a:r>
            <a:r>
              <a:rPr spc="-50" dirty="0"/>
              <a:t> </a:t>
            </a:r>
            <a:r>
              <a:rPr dirty="0"/>
              <a:t>a</a:t>
            </a:r>
            <a:r>
              <a:rPr spc="-45" dirty="0"/>
              <a:t> </a:t>
            </a:r>
            <a:r>
              <a:rPr dirty="0"/>
              <a:t>small</a:t>
            </a:r>
            <a:r>
              <a:rPr spc="-45" dirty="0"/>
              <a:t> </a:t>
            </a:r>
            <a:r>
              <a:rPr dirty="0"/>
              <a:t>task</a:t>
            </a:r>
            <a:r>
              <a:rPr spc="-50" dirty="0"/>
              <a:t> </a:t>
            </a:r>
            <a:r>
              <a:rPr dirty="0"/>
              <a:t>to</a:t>
            </a:r>
            <a:r>
              <a:rPr spc="-45" dirty="0"/>
              <a:t> </a:t>
            </a:r>
            <a:r>
              <a:rPr dirty="0"/>
              <a:t>instant</a:t>
            </a:r>
            <a:r>
              <a:rPr spc="-45" dirty="0"/>
              <a:t> </a:t>
            </a:r>
            <a:r>
              <a:rPr spc="-10" dirty="0"/>
              <a:t>settlement.</a:t>
            </a:r>
          </a:p>
        </p:txBody>
      </p:sp>
      <p:sp>
        <p:nvSpPr>
          <p:cNvPr id="4" name="object 4"/>
          <p:cNvSpPr/>
          <p:nvPr/>
        </p:nvSpPr>
        <p:spPr>
          <a:xfrm>
            <a:off x="1066800" y="9582150"/>
            <a:ext cx="16154400" cy="0"/>
          </a:xfrm>
          <a:custGeom>
            <a:avLst/>
            <a:gdLst/>
            <a:ahLst/>
            <a:cxnLst/>
            <a:rect l="l" t="t" r="r" b="b"/>
            <a:pathLst>
              <a:path w="16154400">
                <a:moveTo>
                  <a:pt x="0" y="0"/>
                </a:moveTo>
                <a:lnTo>
                  <a:pt x="16154398" y="0"/>
                </a:lnTo>
              </a:path>
            </a:pathLst>
          </a:custGeom>
          <a:ln w="9524">
            <a:solidFill>
              <a:srgbClr val="D9D9D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142999" y="3905250"/>
            <a:ext cx="3143250" cy="1524000"/>
          </a:xfrm>
          <a:custGeom>
            <a:avLst/>
            <a:gdLst/>
            <a:ahLst/>
            <a:cxnLst/>
            <a:rect l="l" t="t" r="r" b="b"/>
            <a:pathLst>
              <a:path w="3143250" h="1524000">
                <a:moveTo>
                  <a:pt x="3009899" y="1523999"/>
                </a:moveTo>
                <a:lnTo>
                  <a:pt x="133349" y="1523999"/>
                </a:lnTo>
                <a:lnTo>
                  <a:pt x="91201" y="1517201"/>
                </a:lnTo>
                <a:lnTo>
                  <a:pt x="54595" y="1498271"/>
                </a:lnTo>
                <a:lnTo>
                  <a:pt x="25728" y="1469404"/>
                </a:lnTo>
                <a:lnTo>
                  <a:pt x="6798" y="1432798"/>
                </a:lnTo>
                <a:lnTo>
                  <a:pt x="0" y="1390649"/>
                </a:lnTo>
                <a:lnTo>
                  <a:pt x="0" y="133349"/>
                </a:lnTo>
                <a:lnTo>
                  <a:pt x="6798" y="91201"/>
                </a:lnTo>
                <a:lnTo>
                  <a:pt x="25728" y="54595"/>
                </a:lnTo>
                <a:lnTo>
                  <a:pt x="54595" y="25728"/>
                </a:lnTo>
                <a:lnTo>
                  <a:pt x="91201" y="6798"/>
                </a:lnTo>
                <a:lnTo>
                  <a:pt x="133349" y="0"/>
                </a:lnTo>
                <a:lnTo>
                  <a:pt x="3009899" y="0"/>
                </a:lnTo>
                <a:lnTo>
                  <a:pt x="3052048" y="6798"/>
                </a:lnTo>
                <a:lnTo>
                  <a:pt x="3088654" y="25728"/>
                </a:lnTo>
                <a:lnTo>
                  <a:pt x="3117521" y="54595"/>
                </a:lnTo>
                <a:lnTo>
                  <a:pt x="3136451" y="91201"/>
                </a:lnTo>
                <a:lnTo>
                  <a:pt x="3143249" y="133349"/>
                </a:lnTo>
                <a:lnTo>
                  <a:pt x="3143249" y="1390649"/>
                </a:lnTo>
                <a:lnTo>
                  <a:pt x="3136451" y="1432798"/>
                </a:lnTo>
                <a:lnTo>
                  <a:pt x="3117521" y="1469404"/>
                </a:lnTo>
                <a:lnTo>
                  <a:pt x="3088654" y="1498271"/>
                </a:lnTo>
                <a:lnTo>
                  <a:pt x="3052048" y="1517201"/>
                </a:lnTo>
                <a:lnTo>
                  <a:pt x="3009899" y="1523999"/>
                </a:lnTo>
                <a:close/>
              </a:path>
            </a:pathLst>
          </a:custGeom>
          <a:solidFill>
            <a:srgbClr val="1A1A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988740" y="4147820"/>
            <a:ext cx="1452245" cy="968375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15"/>
              </a:spcBef>
            </a:pPr>
            <a:r>
              <a:rPr sz="1800" b="1" spc="-25" dirty="0">
                <a:solidFill>
                  <a:srgbClr val="FFFFFF"/>
                </a:solidFill>
                <a:latin typeface="Trebuchet MS"/>
                <a:cs typeface="Trebuchet MS"/>
              </a:rPr>
              <a:t>01</a:t>
            </a:r>
            <a:endParaRPr sz="1800">
              <a:latin typeface="Trebuchet MS"/>
              <a:cs typeface="Trebuchet MS"/>
            </a:endParaRPr>
          </a:p>
          <a:p>
            <a:pPr marL="12065" marR="5080" indent="-635" algn="ctr">
              <a:lnSpc>
                <a:spcPct val="114599"/>
              </a:lnSpc>
            </a:pPr>
            <a:r>
              <a:rPr sz="1800" b="1" dirty="0">
                <a:solidFill>
                  <a:srgbClr val="FFFFFF"/>
                </a:solidFill>
                <a:latin typeface="Trebuchet MS"/>
                <a:cs typeface="Trebuchet MS"/>
              </a:rPr>
              <a:t>Client</a:t>
            </a:r>
            <a:r>
              <a:rPr sz="1800" b="1" spc="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b="1" spc="90" dirty="0">
                <a:solidFill>
                  <a:srgbClr val="FFFFFF"/>
                </a:solidFill>
                <a:latin typeface="Trebuchet MS"/>
                <a:cs typeface="Trebuchet MS"/>
              </a:rPr>
              <a:t>posts </a:t>
            </a:r>
            <a:r>
              <a:rPr sz="1800" b="1" spc="65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1800" b="1" spc="-9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b="1" spc="80" dirty="0">
                <a:solidFill>
                  <a:srgbClr val="FFFFFF"/>
                </a:solidFill>
                <a:latin typeface="Trebuchet MS"/>
                <a:cs typeface="Trebuchet MS"/>
              </a:rPr>
              <a:t>micro-</a:t>
            </a:r>
            <a:r>
              <a:rPr sz="1800" b="1" spc="55" dirty="0">
                <a:solidFill>
                  <a:srgbClr val="FFFFFF"/>
                </a:solidFill>
                <a:latin typeface="Trebuchet MS"/>
                <a:cs typeface="Trebuchet MS"/>
              </a:rPr>
              <a:t>task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414837" y="4667250"/>
            <a:ext cx="485775" cy="0"/>
          </a:xfrm>
          <a:custGeom>
            <a:avLst/>
            <a:gdLst/>
            <a:ahLst/>
            <a:cxnLst/>
            <a:rect l="l" t="t" r="r" b="b"/>
            <a:pathLst>
              <a:path w="485775">
                <a:moveTo>
                  <a:pt x="0" y="0"/>
                </a:moveTo>
                <a:lnTo>
                  <a:pt x="485774" y="0"/>
                </a:lnTo>
              </a:path>
            </a:pathLst>
          </a:custGeom>
          <a:ln w="28574">
            <a:solidFill>
              <a:srgbClr val="F6931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048250" y="3905250"/>
            <a:ext cx="3143250" cy="1524000"/>
          </a:xfrm>
          <a:custGeom>
            <a:avLst/>
            <a:gdLst/>
            <a:ahLst/>
            <a:cxnLst/>
            <a:rect l="l" t="t" r="r" b="b"/>
            <a:pathLst>
              <a:path w="3143250" h="1524000">
                <a:moveTo>
                  <a:pt x="3009899" y="1523999"/>
                </a:moveTo>
                <a:lnTo>
                  <a:pt x="133349" y="1523999"/>
                </a:lnTo>
                <a:lnTo>
                  <a:pt x="91201" y="1517201"/>
                </a:lnTo>
                <a:lnTo>
                  <a:pt x="54595" y="1498271"/>
                </a:lnTo>
                <a:lnTo>
                  <a:pt x="25728" y="1469404"/>
                </a:lnTo>
                <a:lnTo>
                  <a:pt x="6798" y="1432798"/>
                </a:lnTo>
                <a:lnTo>
                  <a:pt x="0" y="1390649"/>
                </a:lnTo>
                <a:lnTo>
                  <a:pt x="0" y="133349"/>
                </a:lnTo>
                <a:lnTo>
                  <a:pt x="6798" y="91201"/>
                </a:lnTo>
                <a:lnTo>
                  <a:pt x="25728" y="54595"/>
                </a:lnTo>
                <a:lnTo>
                  <a:pt x="54595" y="25728"/>
                </a:lnTo>
                <a:lnTo>
                  <a:pt x="91201" y="6798"/>
                </a:lnTo>
                <a:lnTo>
                  <a:pt x="133349" y="0"/>
                </a:lnTo>
                <a:lnTo>
                  <a:pt x="3009899" y="0"/>
                </a:lnTo>
                <a:lnTo>
                  <a:pt x="3052048" y="6798"/>
                </a:lnTo>
                <a:lnTo>
                  <a:pt x="3088654" y="25728"/>
                </a:lnTo>
                <a:lnTo>
                  <a:pt x="3117521" y="54595"/>
                </a:lnTo>
                <a:lnTo>
                  <a:pt x="3136451" y="91201"/>
                </a:lnTo>
                <a:lnTo>
                  <a:pt x="3143249" y="133349"/>
                </a:lnTo>
                <a:lnTo>
                  <a:pt x="3143249" y="1390649"/>
                </a:lnTo>
                <a:lnTo>
                  <a:pt x="3136451" y="1432798"/>
                </a:lnTo>
                <a:lnTo>
                  <a:pt x="3117521" y="1469404"/>
                </a:lnTo>
                <a:lnTo>
                  <a:pt x="3088654" y="1498271"/>
                </a:lnTo>
                <a:lnTo>
                  <a:pt x="3052048" y="1517201"/>
                </a:lnTo>
                <a:lnTo>
                  <a:pt x="3009899" y="1523999"/>
                </a:lnTo>
                <a:close/>
              </a:path>
            </a:pathLst>
          </a:custGeom>
          <a:solidFill>
            <a:srgbClr val="1A1A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775969" y="4147820"/>
            <a:ext cx="1687830" cy="968375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15"/>
              </a:spcBef>
            </a:pPr>
            <a:r>
              <a:rPr sz="1800" b="1" spc="65" dirty="0">
                <a:solidFill>
                  <a:srgbClr val="FFFFFF"/>
                </a:solidFill>
                <a:latin typeface="Trebuchet MS"/>
                <a:cs typeface="Trebuchet MS"/>
              </a:rPr>
              <a:t>02</a:t>
            </a:r>
            <a:endParaRPr sz="1800">
              <a:latin typeface="Trebuchet MS"/>
              <a:cs typeface="Trebuchet MS"/>
            </a:endParaRPr>
          </a:p>
          <a:p>
            <a:pPr marL="12700" marR="5080" algn="ctr">
              <a:lnSpc>
                <a:spcPct val="114599"/>
              </a:lnSpc>
            </a:pPr>
            <a:r>
              <a:rPr sz="1800" b="1" dirty="0">
                <a:solidFill>
                  <a:srgbClr val="FFFFFF"/>
                </a:solidFill>
                <a:latin typeface="Trebuchet MS"/>
                <a:cs typeface="Trebuchet MS"/>
              </a:rPr>
              <a:t>Youth</a:t>
            </a:r>
            <a:r>
              <a:rPr sz="1800" b="1" spc="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b="1" spc="90" dirty="0">
                <a:solidFill>
                  <a:srgbClr val="FFFFFF"/>
                </a:solidFill>
                <a:latin typeface="Trebuchet MS"/>
                <a:cs typeface="Trebuchet MS"/>
              </a:rPr>
              <a:t>accepts </a:t>
            </a:r>
            <a:r>
              <a:rPr sz="1800" b="1" spc="70" dirty="0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sz="1800" b="1" spc="-114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b="1" spc="60" dirty="0">
                <a:solidFill>
                  <a:srgbClr val="FFFFFF"/>
                </a:solidFill>
                <a:latin typeface="Trebuchet MS"/>
                <a:cs typeface="Trebuchet MS"/>
              </a:rPr>
              <a:t>completes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320087" y="4667250"/>
            <a:ext cx="485775" cy="0"/>
          </a:xfrm>
          <a:custGeom>
            <a:avLst/>
            <a:gdLst/>
            <a:ahLst/>
            <a:cxnLst/>
            <a:rect l="l" t="t" r="r" b="b"/>
            <a:pathLst>
              <a:path w="485775">
                <a:moveTo>
                  <a:pt x="0" y="0"/>
                </a:moveTo>
                <a:lnTo>
                  <a:pt x="485774" y="0"/>
                </a:lnTo>
              </a:path>
            </a:pathLst>
          </a:custGeom>
          <a:ln w="28574">
            <a:solidFill>
              <a:srgbClr val="F6931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953499" y="3905250"/>
            <a:ext cx="3143250" cy="1524000"/>
          </a:xfrm>
          <a:custGeom>
            <a:avLst/>
            <a:gdLst/>
            <a:ahLst/>
            <a:cxnLst/>
            <a:rect l="l" t="t" r="r" b="b"/>
            <a:pathLst>
              <a:path w="3143250" h="1524000">
                <a:moveTo>
                  <a:pt x="3009899" y="1523999"/>
                </a:moveTo>
                <a:lnTo>
                  <a:pt x="133349" y="1523999"/>
                </a:lnTo>
                <a:lnTo>
                  <a:pt x="91201" y="1517201"/>
                </a:lnTo>
                <a:lnTo>
                  <a:pt x="54595" y="1498271"/>
                </a:lnTo>
                <a:lnTo>
                  <a:pt x="25728" y="1469404"/>
                </a:lnTo>
                <a:lnTo>
                  <a:pt x="6798" y="1432798"/>
                </a:lnTo>
                <a:lnTo>
                  <a:pt x="0" y="1390649"/>
                </a:lnTo>
                <a:lnTo>
                  <a:pt x="0" y="133349"/>
                </a:lnTo>
                <a:lnTo>
                  <a:pt x="6798" y="91201"/>
                </a:lnTo>
                <a:lnTo>
                  <a:pt x="25728" y="54595"/>
                </a:lnTo>
                <a:lnTo>
                  <a:pt x="54595" y="25728"/>
                </a:lnTo>
                <a:lnTo>
                  <a:pt x="91201" y="6798"/>
                </a:lnTo>
                <a:lnTo>
                  <a:pt x="133349" y="0"/>
                </a:lnTo>
                <a:lnTo>
                  <a:pt x="3009899" y="0"/>
                </a:lnTo>
                <a:lnTo>
                  <a:pt x="3052048" y="6798"/>
                </a:lnTo>
                <a:lnTo>
                  <a:pt x="3088654" y="25728"/>
                </a:lnTo>
                <a:lnTo>
                  <a:pt x="3117521" y="54595"/>
                </a:lnTo>
                <a:lnTo>
                  <a:pt x="3136451" y="91201"/>
                </a:lnTo>
                <a:lnTo>
                  <a:pt x="3143249" y="133349"/>
                </a:lnTo>
                <a:lnTo>
                  <a:pt x="3143249" y="1390649"/>
                </a:lnTo>
                <a:lnTo>
                  <a:pt x="3136451" y="1432798"/>
                </a:lnTo>
                <a:lnTo>
                  <a:pt x="3117521" y="1469404"/>
                </a:lnTo>
                <a:lnTo>
                  <a:pt x="3088654" y="1498271"/>
                </a:lnTo>
                <a:lnTo>
                  <a:pt x="3052048" y="1517201"/>
                </a:lnTo>
                <a:lnTo>
                  <a:pt x="3009899" y="1523999"/>
                </a:lnTo>
                <a:close/>
              </a:path>
            </a:pathLst>
          </a:custGeom>
          <a:solidFill>
            <a:srgbClr val="1A1A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9727504" y="4147820"/>
            <a:ext cx="1595755" cy="968375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15"/>
              </a:spcBef>
            </a:pPr>
            <a:r>
              <a:rPr sz="1800" b="1" spc="95" dirty="0">
                <a:solidFill>
                  <a:srgbClr val="FFFFFF"/>
                </a:solidFill>
                <a:latin typeface="Trebuchet MS"/>
                <a:cs typeface="Trebuchet MS"/>
              </a:rPr>
              <a:t>03</a:t>
            </a:r>
            <a:endParaRPr sz="1800">
              <a:latin typeface="Trebuchet MS"/>
              <a:cs typeface="Trebuchet MS"/>
            </a:endParaRPr>
          </a:p>
          <a:p>
            <a:pPr marL="12700" marR="5080" algn="ctr">
              <a:lnSpc>
                <a:spcPct val="114599"/>
              </a:lnSpc>
            </a:pPr>
            <a:r>
              <a:rPr sz="1800" b="1" dirty="0">
                <a:solidFill>
                  <a:srgbClr val="FFFFFF"/>
                </a:solidFill>
                <a:latin typeface="Trebuchet MS"/>
                <a:cs typeface="Trebuchet MS"/>
              </a:rPr>
              <a:t>Client</a:t>
            </a:r>
            <a:r>
              <a:rPr sz="1800" b="1" spc="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Trebuchet MS"/>
                <a:cs typeface="Trebuchet MS"/>
              </a:rPr>
              <a:t>reviews </a:t>
            </a:r>
            <a:r>
              <a:rPr sz="1800" b="1" spc="70" dirty="0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sz="1800" b="1" spc="-114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b="1" spc="55" dirty="0">
                <a:solidFill>
                  <a:srgbClr val="FFFFFF"/>
                </a:solidFill>
                <a:latin typeface="Trebuchet MS"/>
                <a:cs typeface="Trebuchet MS"/>
              </a:rPr>
              <a:t>approves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2225336" y="4667250"/>
            <a:ext cx="485775" cy="0"/>
          </a:xfrm>
          <a:custGeom>
            <a:avLst/>
            <a:gdLst/>
            <a:ahLst/>
            <a:cxnLst/>
            <a:rect l="l" t="t" r="r" b="b"/>
            <a:pathLst>
              <a:path w="485775">
                <a:moveTo>
                  <a:pt x="0" y="0"/>
                </a:moveTo>
                <a:lnTo>
                  <a:pt x="485774" y="0"/>
                </a:lnTo>
              </a:path>
            </a:pathLst>
          </a:custGeom>
          <a:ln w="28574">
            <a:solidFill>
              <a:srgbClr val="F6931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2858750" y="3905250"/>
            <a:ext cx="3143250" cy="1524000"/>
          </a:xfrm>
          <a:custGeom>
            <a:avLst/>
            <a:gdLst/>
            <a:ahLst/>
            <a:cxnLst/>
            <a:rect l="l" t="t" r="r" b="b"/>
            <a:pathLst>
              <a:path w="3143250" h="1524000">
                <a:moveTo>
                  <a:pt x="3009899" y="1523999"/>
                </a:moveTo>
                <a:lnTo>
                  <a:pt x="133349" y="1523999"/>
                </a:lnTo>
                <a:lnTo>
                  <a:pt x="91200" y="1517201"/>
                </a:lnTo>
                <a:lnTo>
                  <a:pt x="54595" y="1498271"/>
                </a:lnTo>
                <a:lnTo>
                  <a:pt x="25728" y="1469404"/>
                </a:lnTo>
                <a:lnTo>
                  <a:pt x="6798" y="1432798"/>
                </a:lnTo>
                <a:lnTo>
                  <a:pt x="0" y="1390649"/>
                </a:lnTo>
                <a:lnTo>
                  <a:pt x="0" y="133349"/>
                </a:lnTo>
                <a:lnTo>
                  <a:pt x="6798" y="91201"/>
                </a:lnTo>
                <a:lnTo>
                  <a:pt x="25728" y="54595"/>
                </a:lnTo>
                <a:lnTo>
                  <a:pt x="54595" y="25728"/>
                </a:lnTo>
                <a:lnTo>
                  <a:pt x="91200" y="6798"/>
                </a:lnTo>
                <a:lnTo>
                  <a:pt x="133349" y="0"/>
                </a:lnTo>
                <a:lnTo>
                  <a:pt x="3009899" y="0"/>
                </a:lnTo>
                <a:lnTo>
                  <a:pt x="3052048" y="6798"/>
                </a:lnTo>
                <a:lnTo>
                  <a:pt x="3088654" y="25728"/>
                </a:lnTo>
                <a:lnTo>
                  <a:pt x="3117521" y="54595"/>
                </a:lnTo>
                <a:lnTo>
                  <a:pt x="3136451" y="91201"/>
                </a:lnTo>
                <a:lnTo>
                  <a:pt x="3143249" y="133349"/>
                </a:lnTo>
                <a:lnTo>
                  <a:pt x="3143249" y="1390649"/>
                </a:lnTo>
                <a:lnTo>
                  <a:pt x="3136451" y="1432798"/>
                </a:lnTo>
                <a:lnTo>
                  <a:pt x="3117521" y="1469404"/>
                </a:lnTo>
                <a:lnTo>
                  <a:pt x="3088654" y="1498271"/>
                </a:lnTo>
                <a:lnTo>
                  <a:pt x="3052048" y="1517201"/>
                </a:lnTo>
                <a:lnTo>
                  <a:pt x="3009899" y="1523999"/>
                </a:lnTo>
                <a:close/>
              </a:path>
            </a:pathLst>
          </a:custGeom>
          <a:solidFill>
            <a:srgbClr val="F6931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3497173" y="4147820"/>
            <a:ext cx="1866900" cy="968375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15"/>
              </a:spcBef>
            </a:pPr>
            <a:r>
              <a:rPr sz="1800" b="1" spc="130" dirty="0">
                <a:solidFill>
                  <a:srgbClr val="FFFFFF"/>
                </a:solidFill>
                <a:latin typeface="Trebuchet MS"/>
                <a:cs typeface="Trebuchet MS"/>
              </a:rPr>
              <a:t>04</a:t>
            </a:r>
            <a:endParaRPr sz="1800">
              <a:latin typeface="Trebuchet MS"/>
              <a:cs typeface="Trebuchet MS"/>
            </a:endParaRPr>
          </a:p>
          <a:p>
            <a:pPr marL="12700" marR="5080" algn="ctr">
              <a:lnSpc>
                <a:spcPct val="114599"/>
              </a:lnSpc>
            </a:pPr>
            <a:r>
              <a:rPr sz="1800" b="1" dirty="0">
                <a:solidFill>
                  <a:srgbClr val="FFFFFF"/>
                </a:solidFill>
                <a:latin typeface="Trebuchet MS"/>
                <a:cs typeface="Trebuchet MS"/>
              </a:rPr>
              <a:t>Lightning</a:t>
            </a:r>
            <a:r>
              <a:rPr sz="1800" b="1" spc="1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b="1" spc="45" dirty="0">
                <a:solidFill>
                  <a:srgbClr val="FFFFFF"/>
                </a:solidFill>
                <a:latin typeface="Trebuchet MS"/>
                <a:cs typeface="Trebuchet MS"/>
              </a:rPr>
              <a:t>settles </a:t>
            </a:r>
            <a:r>
              <a:rPr sz="1800" b="1" spc="-10" dirty="0">
                <a:solidFill>
                  <a:srgbClr val="FFFFFF"/>
                </a:solidFill>
                <a:latin typeface="Trebuchet MS"/>
                <a:cs typeface="Trebuchet MS"/>
              </a:rPr>
              <a:t>instantly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057275" y="6562725"/>
            <a:ext cx="16173450" cy="1447800"/>
            <a:chOff x="1057275" y="6562725"/>
            <a:chExt cx="16173450" cy="1447800"/>
          </a:xfrm>
        </p:grpSpPr>
        <p:sp>
          <p:nvSpPr>
            <p:cNvPr id="17" name="object 17"/>
            <p:cNvSpPr/>
            <p:nvPr/>
          </p:nvSpPr>
          <p:spPr>
            <a:xfrm>
              <a:off x="1066800" y="6572250"/>
              <a:ext cx="16154400" cy="1428750"/>
            </a:xfrm>
            <a:custGeom>
              <a:avLst/>
              <a:gdLst/>
              <a:ahLst/>
              <a:cxnLst/>
              <a:rect l="l" t="t" r="r" b="b"/>
              <a:pathLst>
                <a:path w="16154400" h="1428750">
                  <a:moveTo>
                    <a:pt x="16154400" y="1428750"/>
                  </a:moveTo>
                  <a:lnTo>
                    <a:pt x="0" y="1428750"/>
                  </a:lnTo>
                  <a:lnTo>
                    <a:pt x="0" y="0"/>
                  </a:lnTo>
                  <a:lnTo>
                    <a:pt x="16154400" y="0"/>
                  </a:lnTo>
                  <a:lnTo>
                    <a:pt x="16154400" y="1428750"/>
                  </a:lnTo>
                  <a:close/>
                </a:path>
              </a:pathLst>
            </a:custGeom>
            <a:solidFill>
              <a:srgbClr val="1A1A2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066799" y="6572249"/>
              <a:ext cx="16154400" cy="1428750"/>
            </a:xfrm>
            <a:custGeom>
              <a:avLst/>
              <a:gdLst/>
              <a:ahLst/>
              <a:cxnLst/>
              <a:rect l="l" t="t" r="r" b="b"/>
              <a:pathLst>
                <a:path w="16154400" h="1428750">
                  <a:moveTo>
                    <a:pt x="0" y="0"/>
                  </a:moveTo>
                  <a:lnTo>
                    <a:pt x="16154398" y="0"/>
                  </a:lnTo>
                  <a:lnTo>
                    <a:pt x="16154398" y="1428749"/>
                  </a:lnTo>
                  <a:lnTo>
                    <a:pt x="0" y="142874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D9D9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1523999" y="6921500"/>
            <a:ext cx="167830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F6931A"/>
                </a:solidFill>
                <a:latin typeface="Trebuchet MS"/>
                <a:cs typeface="Trebuchet MS"/>
              </a:rPr>
              <a:t>P</a:t>
            </a:r>
            <a:r>
              <a:rPr sz="1500" b="1" spc="-245" dirty="0">
                <a:solidFill>
                  <a:srgbClr val="F6931A"/>
                </a:solidFill>
                <a:latin typeface="Trebuchet MS"/>
                <a:cs typeface="Trebuchet MS"/>
              </a:rPr>
              <a:t> </a:t>
            </a:r>
            <a:r>
              <a:rPr sz="1500" b="1" spc="95" dirty="0">
                <a:solidFill>
                  <a:srgbClr val="F6931A"/>
                </a:solidFill>
                <a:latin typeface="Trebuchet MS"/>
                <a:cs typeface="Trebuchet MS"/>
              </a:rPr>
              <a:t>A</a:t>
            </a:r>
            <a:r>
              <a:rPr sz="1500" b="1" spc="-240" dirty="0">
                <a:solidFill>
                  <a:srgbClr val="F6931A"/>
                </a:solidFill>
                <a:latin typeface="Trebuchet MS"/>
                <a:cs typeface="Trebuchet MS"/>
              </a:rPr>
              <a:t> </a:t>
            </a:r>
            <a:r>
              <a:rPr sz="1500" b="1" dirty="0">
                <a:solidFill>
                  <a:srgbClr val="F6931A"/>
                </a:solidFill>
                <a:latin typeface="Trebuchet MS"/>
                <a:cs typeface="Trebuchet MS"/>
              </a:rPr>
              <a:t>Y</a:t>
            </a:r>
            <a:r>
              <a:rPr sz="1500" b="1" spc="-245" dirty="0">
                <a:solidFill>
                  <a:srgbClr val="F6931A"/>
                </a:solidFill>
                <a:latin typeface="Trebuchet MS"/>
                <a:cs typeface="Trebuchet MS"/>
              </a:rPr>
              <a:t> </a:t>
            </a:r>
            <a:r>
              <a:rPr sz="1500" b="1" spc="215" dirty="0">
                <a:solidFill>
                  <a:srgbClr val="F6931A"/>
                </a:solidFill>
                <a:latin typeface="Trebuchet MS"/>
                <a:cs typeface="Trebuchet MS"/>
              </a:rPr>
              <a:t>ME</a:t>
            </a:r>
            <a:r>
              <a:rPr sz="1500" b="1" spc="-240" dirty="0">
                <a:solidFill>
                  <a:srgbClr val="F6931A"/>
                </a:solidFill>
                <a:latin typeface="Trebuchet MS"/>
                <a:cs typeface="Trebuchet MS"/>
              </a:rPr>
              <a:t> </a:t>
            </a:r>
            <a:r>
              <a:rPr sz="1500" b="1" spc="80" dirty="0">
                <a:solidFill>
                  <a:srgbClr val="F6931A"/>
                </a:solidFill>
                <a:latin typeface="Trebuchet MS"/>
                <a:cs typeface="Trebuchet MS"/>
              </a:rPr>
              <a:t>N</a:t>
            </a:r>
            <a:r>
              <a:rPr sz="1500" b="1" spc="-245" dirty="0">
                <a:solidFill>
                  <a:srgbClr val="F6931A"/>
                </a:solidFill>
                <a:latin typeface="Trebuchet MS"/>
                <a:cs typeface="Trebuchet MS"/>
              </a:rPr>
              <a:t> </a:t>
            </a:r>
            <a:r>
              <a:rPr sz="1500" b="1" dirty="0">
                <a:solidFill>
                  <a:srgbClr val="F6931A"/>
                </a:solidFill>
                <a:latin typeface="Trebuchet MS"/>
                <a:cs typeface="Trebuchet MS"/>
              </a:rPr>
              <a:t>T</a:t>
            </a:r>
            <a:r>
              <a:rPr sz="1500" b="1" spc="335" dirty="0">
                <a:solidFill>
                  <a:srgbClr val="F6931A"/>
                </a:solidFill>
                <a:latin typeface="Trebuchet MS"/>
                <a:cs typeface="Trebuchet MS"/>
              </a:rPr>
              <a:t> </a:t>
            </a:r>
            <a:r>
              <a:rPr sz="1500" b="1" dirty="0">
                <a:solidFill>
                  <a:srgbClr val="F6931A"/>
                </a:solidFill>
                <a:latin typeface="Trebuchet MS"/>
                <a:cs typeface="Trebuchet MS"/>
              </a:rPr>
              <a:t>U</a:t>
            </a:r>
            <a:r>
              <a:rPr sz="1500" b="1" spc="-245" dirty="0">
                <a:solidFill>
                  <a:srgbClr val="F6931A"/>
                </a:solidFill>
                <a:latin typeface="Trebuchet MS"/>
                <a:cs typeface="Trebuchet MS"/>
              </a:rPr>
              <a:t> </a:t>
            </a:r>
            <a:r>
              <a:rPr sz="1500" b="1" spc="80" dirty="0">
                <a:solidFill>
                  <a:srgbClr val="F6931A"/>
                </a:solidFill>
                <a:latin typeface="Trebuchet MS"/>
                <a:cs typeface="Trebuchet MS"/>
              </a:rPr>
              <a:t>N</a:t>
            </a:r>
            <a:r>
              <a:rPr sz="1500" b="1" spc="-240" dirty="0">
                <a:solidFill>
                  <a:srgbClr val="F6931A"/>
                </a:solidFill>
                <a:latin typeface="Trebuchet MS"/>
                <a:cs typeface="Trebuchet MS"/>
              </a:rPr>
              <a:t> </a:t>
            </a:r>
            <a:r>
              <a:rPr sz="1500" b="1" spc="-25" dirty="0">
                <a:solidFill>
                  <a:srgbClr val="F6931A"/>
                </a:solidFill>
                <a:latin typeface="Trebuchet MS"/>
                <a:cs typeface="Trebuchet MS"/>
              </a:rPr>
              <a:t>I</a:t>
            </a:r>
            <a:r>
              <a:rPr sz="1500" b="1" spc="-245" dirty="0">
                <a:solidFill>
                  <a:srgbClr val="F6931A"/>
                </a:solidFill>
                <a:latin typeface="Trebuchet MS"/>
                <a:cs typeface="Trebuchet MS"/>
              </a:rPr>
              <a:t> </a:t>
            </a:r>
            <a:r>
              <a:rPr sz="1500" b="1" spc="-50" dirty="0">
                <a:solidFill>
                  <a:srgbClr val="F6931A"/>
                </a:solidFill>
                <a:latin typeface="Trebuchet MS"/>
                <a:cs typeface="Trebuchet MS"/>
              </a:rPr>
              <a:t>T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5"/>
              </a:lnSpc>
              <a:tabLst>
                <a:tab pos="756285" algn="l"/>
              </a:tabLst>
            </a:pPr>
            <a:r>
              <a:rPr spc="130" dirty="0"/>
              <a:t>KAZI</a:t>
            </a:r>
            <a:r>
              <a:rPr spc="-250" dirty="0"/>
              <a:t> </a:t>
            </a:r>
            <a:r>
              <a:rPr sz="1450" b="0" spc="705" dirty="0">
                <a:latin typeface="Segoe UI Symbol"/>
                <a:cs typeface="Segoe UI Symbol"/>
              </a:rPr>
              <a:t>⚡</a:t>
            </a:r>
            <a:r>
              <a:rPr sz="1450" b="0" dirty="0">
                <a:latin typeface="Segoe UI Symbol"/>
                <a:cs typeface="Segoe UI Symbol"/>
              </a:rPr>
              <a:t>	</a:t>
            </a:r>
            <a:r>
              <a:rPr dirty="0"/>
              <a:t>•</a:t>
            </a:r>
            <a:r>
              <a:rPr spc="440" dirty="0"/>
              <a:t> </a:t>
            </a:r>
            <a:r>
              <a:rPr spc="120" dirty="0"/>
              <a:t>2026</a:t>
            </a:r>
            <a:endParaRPr sz="1450">
              <a:latin typeface="Segoe UI Symbol"/>
              <a:cs typeface="Segoe UI Symbol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pc="165" dirty="0"/>
              <a:t>06</a:t>
            </a:r>
            <a:r>
              <a:rPr spc="204" dirty="0"/>
              <a:t> </a:t>
            </a:r>
            <a:r>
              <a:rPr dirty="0"/>
              <a:t>/</a:t>
            </a:r>
            <a:r>
              <a:rPr spc="210" dirty="0"/>
              <a:t> </a:t>
            </a:r>
            <a:r>
              <a:rPr spc="-65" dirty="0"/>
              <a:t>12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5333999" y="6790054"/>
            <a:ext cx="312166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3600" b="1" dirty="0">
                <a:solidFill>
                  <a:srgbClr val="FFFFFF"/>
                </a:solidFill>
                <a:latin typeface="Cambria"/>
                <a:cs typeface="Cambria"/>
              </a:rPr>
              <a:t>Satoshis</a:t>
            </a:r>
            <a:r>
              <a:rPr sz="3600" b="1" spc="14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00" b="1" spc="-70" dirty="0">
                <a:solidFill>
                  <a:srgbClr val="FFFFFF"/>
                </a:solidFill>
                <a:latin typeface="Cambria"/>
                <a:cs typeface="Cambria"/>
              </a:rPr>
              <a:t>(sats).</a:t>
            </a:r>
            <a:endParaRPr sz="36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54100" y="654050"/>
            <a:ext cx="214376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210" dirty="0">
                <a:solidFill>
                  <a:srgbClr val="1A1A2E"/>
                </a:solidFill>
                <a:latin typeface="Trebuchet MS"/>
                <a:cs typeface="Trebuchet MS"/>
              </a:rPr>
              <a:t>M</a:t>
            </a:r>
            <a:r>
              <a:rPr sz="1500" b="1" spc="-210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500" b="1" spc="95" dirty="0">
                <a:solidFill>
                  <a:srgbClr val="1A1A2E"/>
                </a:solidFill>
                <a:latin typeface="Trebuchet MS"/>
                <a:cs typeface="Trebuchet MS"/>
              </a:rPr>
              <a:t>A</a:t>
            </a:r>
            <a:r>
              <a:rPr sz="1500" b="1" spc="-210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500" b="1" dirty="0">
                <a:solidFill>
                  <a:srgbClr val="1A1A2E"/>
                </a:solidFill>
                <a:latin typeface="Trebuchet MS"/>
                <a:cs typeface="Trebuchet MS"/>
              </a:rPr>
              <a:t>R</a:t>
            </a:r>
            <a:r>
              <a:rPr sz="1500" b="1" spc="-204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500" b="1" dirty="0">
                <a:solidFill>
                  <a:srgbClr val="1A1A2E"/>
                </a:solidFill>
                <a:latin typeface="Trebuchet MS"/>
                <a:cs typeface="Trebuchet MS"/>
              </a:rPr>
              <a:t>K</a:t>
            </a:r>
            <a:r>
              <a:rPr sz="1500" b="1" spc="-210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500" b="1" dirty="0">
                <a:solidFill>
                  <a:srgbClr val="1A1A2E"/>
                </a:solidFill>
                <a:latin typeface="Trebuchet MS"/>
                <a:cs typeface="Trebuchet MS"/>
              </a:rPr>
              <a:t>E</a:t>
            </a:r>
            <a:r>
              <a:rPr sz="1500" b="1" spc="-210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500" b="1" dirty="0">
                <a:solidFill>
                  <a:srgbClr val="1A1A2E"/>
                </a:solidFill>
                <a:latin typeface="Trebuchet MS"/>
                <a:cs typeface="Trebuchet MS"/>
              </a:rPr>
              <a:t>T</a:t>
            </a:r>
            <a:r>
              <a:rPr sz="1500" b="1" spc="405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500" b="1" dirty="0">
                <a:solidFill>
                  <a:srgbClr val="1A1A2E"/>
                </a:solidFill>
                <a:latin typeface="Trebuchet MS"/>
                <a:cs typeface="Trebuchet MS"/>
              </a:rPr>
              <a:t>P</a:t>
            </a:r>
            <a:r>
              <a:rPr sz="1500" b="1" spc="-210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500" b="1" spc="135" dirty="0">
                <a:solidFill>
                  <a:srgbClr val="1A1A2E"/>
                </a:solidFill>
                <a:latin typeface="Trebuchet MS"/>
                <a:cs typeface="Trebuchet MS"/>
              </a:rPr>
              <a:t>O</a:t>
            </a:r>
            <a:r>
              <a:rPr sz="1500" b="1" spc="-204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500" b="1" spc="125" dirty="0">
                <a:solidFill>
                  <a:srgbClr val="1A1A2E"/>
                </a:solidFill>
                <a:latin typeface="Trebuchet MS"/>
                <a:cs typeface="Trebuchet MS"/>
              </a:rPr>
              <a:t>S</a:t>
            </a:r>
            <a:r>
              <a:rPr sz="1500" b="1" spc="-210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500" b="1" spc="-25" dirty="0">
                <a:solidFill>
                  <a:srgbClr val="1A1A2E"/>
                </a:solidFill>
                <a:latin typeface="Trebuchet MS"/>
                <a:cs typeface="Trebuchet MS"/>
              </a:rPr>
              <a:t>I</a:t>
            </a:r>
            <a:r>
              <a:rPr sz="1500" b="1" spc="-210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500" b="1" spc="-35" dirty="0">
                <a:solidFill>
                  <a:srgbClr val="1A1A2E"/>
                </a:solidFill>
                <a:latin typeface="Trebuchet MS"/>
                <a:cs typeface="Trebuchet MS"/>
              </a:rPr>
              <a:t>T</a:t>
            </a:r>
            <a:r>
              <a:rPr sz="1500" b="1" spc="-204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500" b="1" spc="-25" dirty="0">
                <a:solidFill>
                  <a:srgbClr val="1A1A2E"/>
                </a:solidFill>
                <a:latin typeface="Trebuchet MS"/>
                <a:cs typeface="Trebuchet MS"/>
              </a:rPr>
              <a:t>I</a:t>
            </a:r>
            <a:r>
              <a:rPr sz="1500" b="1" spc="-210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500" b="1" spc="135" dirty="0">
                <a:solidFill>
                  <a:srgbClr val="1A1A2E"/>
                </a:solidFill>
                <a:latin typeface="Trebuchet MS"/>
                <a:cs typeface="Trebuchet MS"/>
              </a:rPr>
              <a:t>O</a:t>
            </a:r>
            <a:r>
              <a:rPr sz="1500" b="1" spc="-210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500" b="1" spc="30" dirty="0">
                <a:solidFill>
                  <a:srgbClr val="1A1A2E"/>
                </a:solidFill>
                <a:latin typeface="Trebuchet MS"/>
                <a:cs typeface="Trebuchet MS"/>
              </a:rPr>
              <a:t>N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6364" rIns="0" bIns="0" rtlCol="0">
            <a:spAutoFit/>
          </a:bodyPr>
          <a:lstStyle/>
          <a:p>
            <a:pPr marL="12700" marR="5080">
              <a:lnSpc>
                <a:spcPct val="87300"/>
              </a:lnSpc>
              <a:spcBef>
                <a:spcPts val="994"/>
              </a:spcBef>
            </a:pPr>
            <a:r>
              <a:rPr spc="605" dirty="0"/>
              <a:t>Kazi</a:t>
            </a:r>
            <a:r>
              <a:rPr sz="5850" b="0" spc="605" dirty="0">
                <a:latin typeface="Segoe UI Symbol"/>
                <a:cs typeface="Segoe UI Symbol"/>
              </a:rPr>
              <a:t>⚡</a:t>
            </a:r>
            <a:r>
              <a:rPr sz="5850" b="0" spc="-5" dirty="0">
                <a:latin typeface="Segoe UI Symbol"/>
                <a:cs typeface="Segoe UI Symbol"/>
              </a:rPr>
              <a:t> </a:t>
            </a:r>
            <a:r>
              <a:rPr dirty="0"/>
              <a:t>complements</a:t>
            </a:r>
            <a:r>
              <a:rPr spc="-75" dirty="0"/>
              <a:t> </a:t>
            </a:r>
            <a:r>
              <a:rPr dirty="0"/>
              <a:t>the</a:t>
            </a:r>
            <a:r>
              <a:rPr spc="-75" dirty="0"/>
              <a:t> </a:t>
            </a:r>
            <a:r>
              <a:rPr dirty="0"/>
              <a:t>tools</a:t>
            </a:r>
            <a:r>
              <a:rPr spc="-80" dirty="0"/>
              <a:t> </a:t>
            </a:r>
            <a:r>
              <a:rPr spc="-10" dirty="0"/>
              <a:t>people</a:t>
            </a:r>
            <a:r>
              <a:rPr spc="-75" dirty="0"/>
              <a:t> </a:t>
            </a:r>
            <a:r>
              <a:rPr spc="-10" dirty="0"/>
              <a:t>already </a:t>
            </a:r>
            <a:r>
              <a:rPr spc="-20" dirty="0"/>
              <a:t>use.</a:t>
            </a:r>
            <a:endParaRPr sz="5850">
              <a:latin typeface="Segoe UI Symbol"/>
              <a:cs typeface="Segoe UI Symbo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66800" y="9582150"/>
            <a:ext cx="16154400" cy="0"/>
          </a:xfrm>
          <a:custGeom>
            <a:avLst/>
            <a:gdLst/>
            <a:ahLst/>
            <a:cxnLst/>
            <a:rect l="l" t="t" r="r" b="b"/>
            <a:pathLst>
              <a:path w="16154400">
                <a:moveTo>
                  <a:pt x="0" y="0"/>
                </a:moveTo>
                <a:lnTo>
                  <a:pt x="16154398" y="0"/>
                </a:lnTo>
              </a:path>
            </a:pathLst>
          </a:custGeom>
          <a:ln w="9524">
            <a:solidFill>
              <a:srgbClr val="D9D9D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057275" y="3324225"/>
          <a:ext cx="16040100" cy="49974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10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10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10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100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994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D9D9D4"/>
                      </a:solidFill>
                      <a:prstDash val="solid"/>
                    </a:lnL>
                    <a:lnR w="19050">
                      <a:solidFill>
                        <a:srgbClr val="D9D9D4"/>
                      </a:solidFill>
                      <a:prstDash val="solid"/>
                    </a:lnR>
                    <a:lnT w="19050">
                      <a:solidFill>
                        <a:srgbClr val="D9D9D4"/>
                      </a:solidFill>
                      <a:prstDash val="solid"/>
                    </a:lnT>
                    <a:lnB w="19050">
                      <a:solidFill>
                        <a:srgbClr val="D9D9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50"/>
                        </a:spcBef>
                      </a:pPr>
                      <a:r>
                        <a:rPr sz="1700" b="1" dirty="0">
                          <a:solidFill>
                            <a:srgbClr val="1A1A2E"/>
                          </a:solidFill>
                          <a:latin typeface="Trebuchet MS"/>
                          <a:cs typeface="Trebuchet MS"/>
                        </a:rPr>
                        <a:t>Traditional</a:t>
                      </a:r>
                      <a:r>
                        <a:rPr sz="1700" b="1" spc="135" dirty="0">
                          <a:solidFill>
                            <a:srgbClr val="1A1A2E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700" b="1" spc="-10" dirty="0">
                          <a:solidFill>
                            <a:srgbClr val="1A1A2E"/>
                          </a:solidFill>
                          <a:latin typeface="Trebuchet MS"/>
                          <a:cs typeface="Trebuchet MS"/>
                        </a:rPr>
                        <a:t>freelance</a:t>
                      </a:r>
                      <a:endParaRPr sz="1700">
                        <a:latin typeface="Trebuchet MS"/>
                        <a:cs typeface="Trebuchet MS"/>
                      </a:endParaRPr>
                    </a:p>
                  </a:txBody>
                  <a:tcPr marL="0" marR="0" marT="209550" marB="0">
                    <a:lnL w="19050">
                      <a:solidFill>
                        <a:srgbClr val="D9D9D4"/>
                      </a:solidFill>
                      <a:prstDash val="solid"/>
                    </a:lnL>
                    <a:lnR w="19050">
                      <a:solidFill>
                        <a:srgbClr val="D9D9D4"/>
                      </a:solidFill>
                      <a:prstDash val="solid"/>
                    </a:lnR>
                    <a:lnT w="19050">
                      <a:solidFill>
                        <a:srgbClr val="D9D9D4"/>
                      </a:solidFill>
                      <a:prstDash val="solid"/>
                    </a:lnT>
                    <a:lnB w="19050">
                      <a:solidFill>
                        <a:srgbClr val="D9D9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50"/>
                        </a:spcBef>
                      </a:pPr>
                      <a:r>
                        <a:rPr sz="1700" b="1" spc="65" dirty="0">
                          <a:solidFill>
                            <a:srgbClr val="1A1A2E"/>
                          </a:solidFill>
                          <a:latin typeface="Trebuchet MS"/>
                          <a:cs typeface="Trebuchet MS"/>
                        </a:rPr>
                        <a:t>Mobile</a:t>
                      </a:r>
                      <a:r>
                        <a:rPr sz="1700" b="1" spc="-100" dirty="0">
                          <a:solidFill>
                            <a:srgbClr val="1A1A2E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700" b="1" spc="60" dirty="0">
                          <a:solidFill>
                            <a:srgbClr val="1A1A2E"/>
                          </a:solidFill>
                          <a:latin typeface="Trebuchet MS"/>
                          <a:cs typeface="Trebuchet MS"/>
                        </a:rPr>
                        <a:t>money</a:t>
                      </a:r>
                      <a:endParaRPr sz="1700">
                        <a:latin typeface="Trebuchet MS"/>
                        <a:cs typeface="Trebuchet MS"/>
                      </a:endParaRPr>
                    </a:p>
                  </a:txBody>
                  <a:tcPr marL="0" marR="0" marT="209550" marB="0">
                    <a:lnL w="19050">
                      <a:solidFill>
                        <a:srgbClr val="D9D9D4"/>
                      </a:solidFill>
                      <a:prstDash val="solid"/>
                    </a:lnL>
                    <a:lnR w="19050">
                      <a:solidFill>
                        <a:srgbClr val="D9D9D4"/>
                      </a:solidFill>
                      <a:prstDash val="solid"/>
                    </a:lnR>
                    <a:lnT w="19050">
                      <a:solidFill>
                        <a:srgbClr val="D9D9D4"/>
                      </a:solidFill>
                      <a:prstDash val="solid"/>
                    </a:lnT>
                    <a:lnB w="19050">
                      <a:solidFill>
                        <a:srgbClr val="D9D9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19050" algn="ctr">
                        <a:lnSpc>
                          <a:spcPct val="100000"/>
                        </a:lnSpc>
                        <a:spcBef>
                          <a:spcPts val="1400"/>
                        </a:spcBef>
                      </a:pPr>
                      <a:r>
                        <a:rPr sz="1700" b="1" spc="19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Kazi</a:t>
                      </a:r>
                      <a:r>
                        <a:rPr sz="1950" spc="195" dirty="0">
                          <a:solidFill>
                            <a:srgbClr val="FFFFFF"/>
                          </a:solidFill>
                          <a:latin typeface="Segoe UI Symbol"/>
                          <a:cs typeface="Segoe UI Symbol"/>
                        </a:rPr>
                        <a:t>⚡</a:t>
                      </a:r>
                      <a:endParaRPr sz="1950">
                        <a:latin typeface="Segoe UI Symbol"/>
                        <a:cs typeface="Segoe UI Symbol"/>
                      </a:endParaRPr>
                    </a:p>
                  </a:txBody>
                  <a:tcPr marL="0" marR="0" marT="177800" marB="0">
                    <a:lnL w="19050">
                      <a:solidFill>
                        <a:srgbClr val="D9D9D4"/>
                      </a:solidFill>
                      <a:prstDash val="solid"/>
                    </a:lnL>
                    <a:lnR w="19050">
                      <a:solidFill>
                        <a:srgbClr val="D9D9D4"/>
                      </a:solidFill>
                      <a:prstDash val="solid"/>
                    </a:lnR>
                    <a:lnT w="19050">
                      <a:solidFill>
                        <a:srgbClr val="D9D9D4"/>
                      </a:solidFill>
                      <a:prstDash val="solid"/>
                    </a:lnT>
                    <a:lnB w="19050">
                      <a:solidFill>
                        <a:srgbClr val="D9D9D4"/>
                      </a:solidFill>
                      <a:prstDash val="solid"/>
                    </a:lnB>
                    <a:solidFill>
                      <a:srgbClr val="F693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994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L="189865">
                        <a:lnSpc>
                          <a:spcPct val="100000"/>
                        </a:lnSpc>
                      </a:pPr>
                      <a:r>
                        <a:rPr sz="1550" b="1" spc="75" dirty="0">
                          <a:solidFill>
                            <a:srgbClr val="1A1A2E"/>
                          </a:solidFill>
                          <a:latin typeface="Trebuchet MS"/>
                          <a:cs typeface="Trebuchet MS"/>
                        </a:rPr>
                        <a:t>Main</a:t>
                      </a:r>
                      <a:r>
                        <a:rPr sz="1550" b="1" spc="-80" dirty="0">
                          <a:solidFill>
                            <a:srgbClr val="1A1A2E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550" b="1" spc="80" dirty="0">
                          <a:solidFill>
                            <a:srgbClr val="1A1A2E"/>
                          </a:solidFill>
                          <a:latin typeface="Trebuchet MS"/>
                          <a:cs typeface="Trebuchet MS"/>
                        </a:rPr>
                        <a:t>payment</a:t>
                      </a:r>
                      <a:r>
                        <a:rPr sz="1550" b="1" spc="-80" dirty="0">
                          <a:solidFill>
                            <a:srgbClr val="1A1A2E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550" b="1" spc="65" dirty="0">
                          <a:solidFill>
                            <a:srgbClr val="1A1A2E"/>
                          </a:solidFill>
                          <a:latin typeface="Trebuchet MS"/>
                          <a:cs typeface="Trebuchet MS"/>
                        </a:rPr>
                        <a:t>method</a:t>
                      </a:r>
                      <a:endParaRPr sz="1550">
                        <a:latin typeface="Trebuchet MS"/>
                        <a:cs typeface="Trebuchet MS"/>
                      </a:endParaRPr>
                    </a:p>
                  </a:txBody>
                  <a:tcPr marL="0" marR="0" marT="42545" marB="0">
                    <a:lnL w="19050">
                      <a:solidFill>
                        <a:srgbClr val="D9D9D4"/>
                      </a:solidFill>
                      <a:prstDash val="solid"/>
                    </a:lnL>
                    <a:lnR w="19050">
                      <a:solidFill>
                        <a:srgbClr val="D9D9D4"/>
                      </a:solidFill>
                      <a:prstDash val="solid"/>
                    </a:lnR>
                    <a:lnT w="19050">
                      <a:solidFill>
                        <a:srgbClr val="D9D9D4"/>
                      </a:solidFill>
                      <a:prstDash val="solid"/>
                    </a:lnT>
                    <a:lnB w="19050">
                      <a:solidFill>
                        <a:srgbClr val="D9D9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550" dirty="0">
                          <a:solidFill>
                            <a:srgbClr val="696975"/>
                          </a:solidFill>
                          <a:latin typeface="Trebuchet MS"/>
                          <a:cs typeface="Trebuchet MS"/>
                        </a:rPr>
                        <a:t>Bank</a:t>
                      </a:r>
                      <a:r>
                        <a:rPr sz="1550" spc="25" dirty="0">
                          <a:solidFill>
                            <a:srgbClr val="696975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550" spc="-210" dirty="0">
                          <a:solidFill>
                            <a:srgbClr val="696975"/>
                          </a:solidFill>
                          <a:latin typeface="Trebuchet MS"/>
                          <a:cs typeface="Trebuchet MS"/>
                        </a:rPr>
                        <a:t>/</a:t>
                      </a:r>
                      <a:r>
                        <a:rPr sz="1550" spc="25" dirty="0">
                          <a:solidFill>
                            <a:srgbClr val="696975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550" spc="40" dirty="0">
                          <a:solidFill>
                            <a:srgbClr val="696975"/>
                          </a:solidFill>
                          <a:latin typeface="Trebuchet MS"/>
                          <a:cs typeface="Trebuchet MS"/>
                        </a:rPr>
                        <a:t>card</a:t>
                      </a:r>
                      <a:endParaRPr sz="1550">
                        <a:latin typeface="Trebuchet MS"/>
                        <a:cs typeface="Trebuchet MS"/>
                      </a:endParaRPr>
                    </a:p>
                  </a:txBody>
                  <a:tcPr marL="0" marR="0" marT="42545" marB="0">
                    <a:lnL w="19050">
                      <a:solidFill>
                        <a:srgbClr val="D9D9D4"/>
                      </a:solidFill>
                      <a:prstDash val="solid"/>
                    </a:lnL>
                    <a:lnR w="19050">
                      <a:solidFill>
                        <a:srgbClr val="D9D9D4"/>
                      </a:solidFill>
                      <a:prstDash val="solid"/>
                    </a:lnR>
                    <a:lnT w="19050">
                      <a:solidFill>
                        <a:srgbClr val="D9D9D4"/>
                      </a:solidFill>
                      <a:prstDash val="solid"/>
                    </a:lnT>
                    <a:lnB w="19050">
                      <a:solidFill>
                        <a:srgbClr val="D9D9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550" spc="50" dirty="0">
                          <a:solidFill>
                            <a:srgbClr val="696975"/>
                          </a:solidFill>
                          <a:latin typeface="Trebuchet MS"/>
                          <a:cs typeface="Trebuchet MS"/>
                        </a:rPr>
                        <a:t>Mobile</a:t>
                      </a:r>
                      <a:r>
                        <a:rPr sz="1550" spc="-45" dirty="0">
                          <a:solidFill>
                            <a:srgbClr val="696975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550" spc="-10" dirty="0">
                          <a:solidFill>
                            <a:srgbClr val="696975"/>
                          </a:solidFill>
                          <a:latin typeface="Trebuchet MS"/>
                          <a:cs typeface="Trebuchet MS"/>
                        </a:rPr>
                        <a:t>wallet</a:t>
                      </a:r>
                      <a:endParaRPr sz="1550">
                        <a:latin typeface="Trebuchet MS"/>
                        <a:cs typeface="Trebuchet MS"/>
                      </a:endParaRPr>
                    </a:p>
                  </a:txBody>
                  <a:tcPr marL="0" marR="0" marT="42545" marB="0">
                    <a:lnL w="19050">
                      <a:solidFill>
                        <a:srgbClr val="D9D9D4"/>
                      </a:solidFill>
                      <a:prstDash val="solid"/>
                    </a:lnL>
                    <a:lnR w="19050">
                      <a:solidFill>
                        <a:srgbClr val="D9D9D4"/>
                      </a:solidFill>
                      <a:prstDash val="solid"/>
                    </a:lnR>
                    <a:lnT w="19050">
                      <a:solidFill>
                        <a:srgbClr val="D9D9D4"/>
                      </a:solidFill>
                      <a:prstDash val="solid"/>
                    </a:lnT>
                    <a:lnB w="19050">
                      <a:solidFill>
                        <a:srgbClr val="D9D9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550" b="1" dirty="0">
                          <a:solidFill>
                            <a:srgbClr val="F6931A"/>
                          </a:solidFill>
                          <a:latin typeface="Trebuchet MS"/>
                          <a:cs typeface="Trebuchet MS"/>
                        </a:rPr>
                        <a:t>Bitcoin</a:t>
                      </a:r>
                      <a:r>
                        <a:rPr sz="1550" b="1" spc="195" dirty="0">
                          <a:solidFill>
                            <a:srgbClr val="F6931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550" b="1" spc="-10" dirty="0">
                          <a:solidFill>
                            <a:srgbClr val="F6931A"/>
                          </a:solidFill>
                          <a:latin typeface="Trebuchet MS"/>
                          <a:cs typeface="Trebuchet MS"/>
                        </a:rPr>
                        <a:t>Lightning</a:t>
                      </a:r>
                      <a:endParaRPr sz="1550">
                        <a:latin typeface="Trebuchet MS"/>
                        <a:cs typeface="Trebuchet MS"/>
                      </a:endParaRPr>
                    </a:p>
                  </a:txBody>
                  <a:tcPr marL="0" marR="0" marT="42545" marB="0">
                    <a:lnL w="19050">
                      <a:solidFill>
                        <a:srgbClr val="D9D9D4"/>
                      </a:solidFill>
                      <a:prstDash val="solid"/>
                    </a:lnL>
                    <a:lnR w="19050">
                      <a:solidFill>
                        <a:srgbClr val="D9D9D4"/>
                      </a:solidFill>
                      <a:prstDash val="solid"/>
                    </a:lnR>
                    <a:lnT w="19050">
                      <a:solidFill>
                        <a:srgbClr val="D9D9D4"/>
                      </a:solidFill>
                      <a:prstDash val="solid"/>
                    </a:lnT>
                    <a:lnB w="19050">
                      <a:solidFill>
                        <a:srgbClr val="D9D9D4"/>
                      </a:solidFill>
                      <a:prstDash val="solid"/>
                    </a:lnB>
                    <a:solidFill>
                      <a:srgbClr val="FFF1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994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L="189865">
                        <a:lnSpc>
                          <a:spcPct val="100000"/>
                        </a:lnSpc>
                      </a:pPr>
                      <a:r>
                        <a:rPr sz="1550" b="1" spc="100" dirty="0">
                          <a:solidFill>
                            <a:srgbClr val="1A1A2E"/>
                          </a:solidFill>
                          <a:latin typeface="Trebuchet MS"/>
                          <a:cs typeface="Trebuchet MS"/>
                        </a:rPr>
                        <a:t>Speed</a:t>
                      </a:r>
                      <a:r>
                        <a:rPr sz="1550" b="1" spc="-60" dirty="0">
                          <a:solidFill>
                            <a:srgbClr val="1A1A2E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550" b="1" dirty="0">
                          <a:solidFill>
                            <a:srgbClr val="1A1A2E"/>
                          </a:solidFill>
                          <a:latin typeface="Trebuchet MS"/>
                          <a:cs typeface="Trebuchet MS"/>
                        </a:rPr>
                        <a:t>of</a:t>
                      </a:r>
                      <a:r>
                        <a:rPr sz="1550" b="1" spc="-55" dirty="0">
                          <a:solidFill>
                            <a:srgbClr val="1A1A2E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550" b="1" spc="70" dirty="0">
                          <a:solidFill>
                            <a:srgbClr val="1A1A2E"/>
                          </a:solidFill>
                          <a:latin typeface="Trebuchet MS"/>
                          <a:cs typeface="Trebuchet MS"/>
                        </a:rPr>
                        <a:t>payment</a:t>
                      </a:r>
                      <a:endParaRPr sz="1550">
                        <a:latin typeface="Trebuchet MS"/>
                        <a:cs typeface="Trebuchet MS"/>
                      </a:endParaRPr>
                    </a:p>
                  </a:txBody>
                  <a:tcPr marL="0" marR="0" marT="42545" marB="0">
                    <a:lnL w="19050">
                      <a:solidFill>
                        <a:srgbClr val="D9D9D4"/>
                      </a:solidFill>
                      <a:prstDash val="solid"/>
                    </a:lnL>
                    <a:lnR w="19050">
                      <a:solidFill>
                        <a:srgbClr val="D9D9D4"/>
                      </a:solidFill>
                      <a:prstDash val="solid"/>
                    </a:lnR>
                    <a:lnT w="19050">
                      <a:solidFill>
                        <a:srgbClr val="D9D9D4"/>
                      </a:solidFill>
                      <a:prstDash val="solid"/>
                    </a:lnT>
                    <a:lnB w="19050">
                      <a:solidFill>
                        <a:srgbClr val="D9D9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550" spc="90" dirty="0">
                          <a:solidFill>
                            <a:srgbClr val="696975"/>
                          </a:solidFill>
                          <a:latin typeface="Trebuchet MS"/>
                          <a:cs typeface="Trebuchet MS"/>
                        </a:rPr>
                        <a:t>Days</a:t>
                      </a:r>
                      <a:endParaRPr sz="1550">
                        <a:latin typeface="Trebuchet MS"/>
                        <a:cs typeface="Trebuchet MS"/>
                      </a:endParaRPr>
                    </a:p>
                  </a:txBody>
                  <a:tcPr marL="0" marR="0" marT="42545" marB="0">
                    <a:lnL w="19050">
                      <a:solidFill>
                        <a:srgbClr val="D9D9D4"/>
                      </a:solidFill>
                      <a:prstDash val="solid"/>
                    </a:lnL>
                    <a:lnR w="19050">
                      <a:solidFill>
                        <a:srgbClr val="D9D9D4"/>
                      </a:solidFill>
                      <a:prstDash val="solid"/>
                    </a:lnR>
                    <a:lnT w="19050">
                      <a:solidFill>
                        <a:srgbClr val="D9D9D4"/>
                      </a:solidFill>
                      <a:prstDash val="solid"/>
                    </a:lnT>
                    <a:lnB w="19050">
                      <a:solidFill>
                        <a:srgbClr val="D9D9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550" spc="50" dirty="0">
                          <a:solidFill>
                            <a:srgbClr val="696975"/>
                          </a:solidFill>
                          <a:latin typeface="Trebuchet MS"/>
                          <a:cs typeface="Trebuchet MS"/>
                        </a:rPr>
                        <a:t>Minutes</a:t>
                      </a:r>
                      <a:endParaRPr sz="1550">
                        <a:latin typeface="Trebuchet MS"/>
                        <a:cs typeface="Trebuchet MS"/>
                      </a:endParaRPr>
                    </a:p>
                  </a:txBody>
                  <a:tcPr marL="0" marR="0" marT="42545" marB="0">
                    <a:lnL w="19050">
                      <a:solidFill>
                        <a:srgbClr val="D9D9D4"/>
                      </a:solidFill>
                      <a:prstDash val="solid"/>
                    </a:lnL>
                    <a:lnR w="19050">
                      <a:solidFill>
                        <a:srgbClr val="D9D9D4"/>
                      </a:solidFill>
                      <a:prstDash val="solid"/>
                    </a:lnR>
                    <a:lnT w="19050">
                      <a:solidFill>
                        <a:srgbClr val="D9D9D4"/>
                      </a:solidFill>
                      <a:prstDash val="solid"/>
                    </a:lnT>
                    <a:lnB w="19050">
                      <a:solidFill>
                        <a:srgbClr val="D9D9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550" b="1" spc="45" dirty="0">
                          <a:solidFill>
                            <a:srgbClr val="F6931A"/>
                          </a:solidFill>
                          <a:latin typeface="Trebuchet MS"/>
                          <a:cs typeface="Trebuchet MS"/>
                        </a:rPr>
                        <a:t>Instant</a:t>
                      </a:r>
                      <a:endParaRPr sz="1550">
                        <a:latin typeface="Trebuchet MS"/>
                        <a:cs typeface="Trebuchet MS"/>
                      </a:endParaRPr>
                    </a:p>
                  </a:txBody>
                  <a:tcPr marL="0" marR="0" marT="42545" marB="0">
                    <a:lnL w="19050">
                      <a:solidFill>
                        <a:srgbClr val="D9D9D4"/>
                      </a:solidFill>
                      <a:prstDash val="solid"/>
                    </a:lnL>
                    <a:lnR w="19050">
                      <a:solidFill>
                        <a:srgbClr val="D9D9D4"/>
                      </a:solidFill>
                      <a:prstDash val="solid"/>
                    </a:lnR>
                    <a:lnT w="19050">
                      <a:solidFill>
                        <a:srgbClr val="D9D9D4"/>
                      </a:solidFill>
                      <a:prstDash val="solid"/>
                    </a:lnT>
                    <a:lnB w="19050">
                      <a:solidFill>
                        <a:srgbClr val="D9D9D4"/>
                      </a:solidFill>
                      <a:prstDash val="solid"/>
                    </a:lnB>
                    <a:solidFill>
                      <a:srgbClr val="FFF1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994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L="189865">
                        <a:lnSpc>
                          <a:spcPct val="100000"/>
                        </a:lnSpc>
                      </a:pPr>
                      <a:r>
                        <a:rPr sz="1550" b="1" spc="65" dirty="0">
                          <a:solidFill>
                            <a:srgbClr val="1A1A2E"/>
                          </a:solidFill>
                          <a:latin typeface="Trebuchet MS"/>
                          <a:cs typeface="Trebuchet MS"/>
                        </a:rPr>
                        <a:t>Minimum</a:t>
                      </a:r>
                      <a:r>
                        <a:rPr sz="1550" b="1" spc="20" dirty="0">
                          <a:solidFill>
                            <a:srgbClr val="1A1A2E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550" b="1" dirty="0">
                          <a:solidFill>
                            <a:srgbClr val="1A1A2E"/>
                          </a:solidFill>
                          <a:latin typeface="Trebuchet MS"/>
                          <a:cs typeface="Trebuchet MS"/>
                        </a:rPr>
                        <a:t>viable</a:t>
                      </a:r>
                      <a:r>
                        <a:rPr sz="1550" b="1" spc="25" dirty="0">
                          <a:solidFill>
                            <a:srgbClr val="1A1A2E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550" b="1" spc="-20" dirty="0">
                          <a:solidFill>
                            <a:srgbClr val="1A1A2E"/>
                          </a:solidFill>
                          <a:latin typeface="Trebuchet MS"/>
                          <a:cs typeface="Trebuchet MS"/>
                        </a:rPr>
                        <a:t>size</a:t>
                      </a:r>
                      <a:endParaRPr sz="1550">
                        <a:latin typeface="Trebuchet MS"/>
                        <a:cs typeface="Trebuchet MS"/>
                      </a:endParaRPr>
                    </a:p>
                  </a:txBody>
                  <a:tcPr marL="0" marR="0" marT="42545" marB="0">
                    <a:lnL w="19050">
                      <a:solidFill>
                        <a:srgbClr val="D9D9D4"/>
                      </a:solidFill>
                      <a:prstDash val="solid"/>
                    </a:lnL>
                    <a:lnR w="19050">
                      <a:solidFill>
                        <a:srgbClr val="D9D9D4"/>
                      </a:solidFill>
                      <a:prstDash val="solid"/>
                    </a:lnR>
                    <a:lnT w="19050">
                      <a:solidFill>
                        <a:srgbClr val="D9D9D4"/>
                      </a:solidFill>
                      <a:prstDash val="solid"/>
                    </a:lnT>
                    <a:lnB w="19050">
                      <a:solidFill>
                        <a:srgbClr val="D9D9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550" spc="80" dirty="0">
                          <a:solidFill>
                            <a:srgbClr val="696975"/>
                          </a:solidFill>
                          <a:latin typeface="Trebuchet MS"/>
                          <a:cs typeface="Trebuchet MS"/>
                        </a:rPr>
                        <a:t>Medium</a:t>
                      </a:r>
                      <a:r>
                        <a:rPr sz="1550" spc="-45" dirty="0">
                          <a:solidFill>
                            <a:srgbClr val="696975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550" spc="-210" dirty="0">
                          <a:solidFill>
                            <a:srgbClr val="696975"/>
                          </a:solidFill>
                          <a:latin typeface="Trebuchet MS"/>
                          <a:cs typeface="Trebuchet MS"/>
                        </a:rPr>
                        <a:t>/</a:t>
                      </a:r>
                      <a:r>
                        <a:rPr sz="1550" spc="-40" dirty="0">
                          <a:solidFill>
                            <a:srgbClr val="696975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550" spc="-20" dirty="0">
                          <a:solidFill>
                            <a:srgbClr val="696975"/>
                          </a:solidFill>
                          <a:latin typeface="Trebuchet MS"/>
                          <a:cs typeface="Trebuchet MS"/>
                        </a:rPr>
                        <a:t>large</a:t>
                      </a:r>
                      <a:endParaRPr sz="1550">
                        <a:latin typeface="Trebuchet MS"/>
                        <a:cs typeface="Trebuchet MS"/>
                      </a:endParaRPr>
                    </a:p>
                  </a:txBody>
                  <a:tcPr marL="0" marR="0" marT="42545" marB="0">
                    <a:lnL w="19050">
                      <a:solidFill>
                        <a:srgbClr val="D9D9D4"/>
                      </a:solidFill>
                      <a:prstDash val="solid"/>
                    </a:lnL>
                    <a:lnR w="19050">
                      <a:solidFill>
                        <a:srgbClr val="D9D9D4"/>
                      </a:solidFill>
                      <a:prstDash val="solid"/>
                    </a:lnR>
                    <a:lnT w="19050">
                      <a:solidFill>
                        <a:srgbClr val="D9D9D4"/>
                      </a:solidFill>
                      <a:prstDash val="solid"/>
                    </a:lnT>
                    <a:lnB w="19050">
                      <a:solidFill>
                        <a:srgbClr val="D9D9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550" spc="-10" dirty="0">
                          <a:solidFill>
                            <a:srgbClr val="696975"/>
                          </a:solidFill>
                          <a:latin typeface="Trebuchet MS"/>
                          <a:cs typeface="Trebuchet MS"/>
                        </a:rPr>
                        <a:t>Small</a:t>
                      </a:r>
                      <a:endParaRPr sz="1550">
                        <a:latin typeface="Trebuchet MS"/>
                        <a:cs typeface="Trebuchet MS"/>
                      </a:endParaRPr>
                    </a:p>
                  </a:txBody>
                  <a:tcPr marL="0" marR="0" marT="42545" marB="0">
                    <a:lnL w="19050">
                      <a:solidFill>
                        <a:srgbClr val="D9D9D4"/>
                      </a:solidFill>
                      <a:prstDash val="solid"/>
                    </a:lnL>
                    <a:lnR w="19050">
                      <a:solidFill>
                        <a:srgbClr val="D9D9D4"/>
                      </a:solidFill>
                      <a:prstDash val="solid"/>
                    </a:lnR>
                    <a:lnT w="19050">
                      <a:solidFill>
                        <a:srgbClr val="D9D9D4"/>
                      </a:solidFill>
                      <a:prstDash val="solid"/>
                    </a:lnT>
                    <a:lnB w="19050">
                      <a:solidFill>
                        <a:srgbClr val="D9D9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550" b="1" spc="65" dirty="0">
                          <a:solidFill>
                            <a:srgbClr val="F6931A"/>
                          </a:solidFill>
                          <a:latin typeface="Trebuchet MS"/>
                          <a:cs typeface="Trebuchet MS"/>
                        </a:rPr>
                        <a:t>Micro</a:t>
                      </a:r>
                      <a:endParaRPr sz="1550">
                        <a:latin typeface="Trebuchet MS"/>
                        <a:cs typeface="Trebuchet MS"/>
                      </a:endParaRPr>
                    </a:p>
                  </a:txBody>
                  <a:tcPr marL="0" marR="0" marT="42545" marB="0">
                    <a:lnL w="19050">
                      <a:solidFill>
                        <a:srgbClr val="D9D9D4"/>
                      </a:solidFill>
                      <a:prstDash val="solid"/>
                    </a:lnL>
                    <a:lnR w="19050">
                      <a:solidFill>
                        <a:srgbClr val="D9D9D4"/>
                      </a:solidFill>
                      <a:prstDash val="solid"/>
                    </a:lnR>
                    <a:lnT w="19050">
                      <a:solidFill>
                        <a:srgbClr val="D9D9D4"/>
                      </a:solidFill>
                      <a:prstDash val="solid"/>
                    </a:lnT>
                    <a:lnB w="19050">
                      <a:solidFill>
                        <a:srgbClr val="D9D9D4"/>
                      </a:solidFill>
                      <a:prstDash val="solid"/>
                    </a:lnB>
                    <a:solidFill>
                      <a:srgbClr val="FFF1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994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L="189865">
                        <a:lnSpc>
                          <a:spcPct val="100000"/>
                        </a:lnSpc>
                      </a:pPr>
                      <a:r>
                        <a:rPr sz="1550" b="1" dirty="0">
                          <a:solidFill>
                            <a:srgbClr val="1A1A2E"/>
                          </a:solidFill>
                          <a:latin typeface="Trebuchet MS"/>
                          <a:cs typeface="Trebuchet MS"/>
                        </a:rPr>
                        <a:t>Primary</a:t>
                      </a:r>
                      <a:r>
                        <a:rPr sz="1550" b="1" spc="135" dirty="0">
                          <a:solidFill>
                            <a:srgbClr val="1A1A2E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550" b="1" spc="50" dirty="0">
                          <a:solidFill>
                            <a:srgbClr val="1A1A2E"/>
                          </a:solidFill>
                          <a:latin typeface="Trebuchet MS"/>
                          <a:cs typeface="Trebuchet MS"/>
                        </a:rPr>
                        <a:t>audience</a:t>
                      </a:r>
                      <a:endParaRPr sz="1550">
                        <a:latin typeface="Trebuchet MS"/>
                        <a:cs typeface="Trebuchet MS"/>
                      </a:endParaRPr>
                    </a:p>
                  </a:txBody>
                  <a:tcPr marL="0" marR="0" marT="42545" marB="0">
                    <a:lnL w="19050">
                      <a:solidFill>
                        <a:srgbClr val="D9D9D4"/>
                      </a:solidFill>
                      <a:prstDash val="solid"/>
                    </a:lnL>
                    <a:lnR w="19050">
                      <a:solidFill>
                        <a:srgbClr val="D9D9D4"/>
                      </a:solidFill>
                      <a:prstDash val="solid"/>
                    </a:lnR>
                    <a:lnT w="19050">
                      <a:solidFill>
                        <a:srgbClr val="D9D9D4"/>
                      </a:solidFill>
                      <a:prstDash val="solid"/>
                    </a:lnT>
                    <a:lnB w="19050">
                      <a:solidFill>
                        <a:srgbClr val="D9D9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550" dirty="0">
                          <a:solidFill>
                            <a:srgbClr val="696975"/>
                          </a:solidFill>
                          <a:latin typeface="Trebuchet MS"/>
                          <a:cs typeface="Trebuchet MS"/>
                        </a:rPr>
                        <a:t>Global</a:t>
                      </a:r>
                      <a:r>
                        <a:rPr sz="1550" spc="100" dirty="0">
                          <a:solidFill>
                            <a:srgbClr val="696975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550" spc="-10" dirty="0">
                          <a:solidFill>
                            <a:srgbClr val="696975"/>
                          </a:solidFill>
                          <a:latin typeface="Trebuchet MS"/>
                          <a:cs typeface="Trebuchet MS"/>
                        </a:rPr>
                        <a:t>freelancers</a:t>
                      </a:r>
                      <a:endParaRPr sz="1550">
                        <a:latin typeface="Trebuchet MS"/>
                        <a:cs typeface="Trebuchet MS"/>
                      </a:endParaRPr>
                    </a:p>
                  </a:txBody>
                  <a:tcPr marL="0" marR="0" marT="42545" marB="0">
                    <a:lnL w="19050">
                      <a:solidFill>
                        <a:srgbClr val="D9D9D4"/>
                      </a:solidFill>
                      <a:prstDash val="solid"/>
                    </a:lnL>
                    <a:lnR w="19050">
                      <a:solidFill>
                        <a:srgbClr val="D9D9D4"/>
                      </a:solidFill>
                      <a:prstDash val="solid"/>
                    </a:lnR>
                    <a:lnT w="19050">
                      <a:solidFill>
                        <a:srgbClr val="D9D9D4"/>
                      </a:solidFill>
                      <a:prstDash val="solid"/>
                    </a:lnT>
                    <a:lnB w="19050">
                      <a:solidFill>
                        <a:srgbClr val="D9D9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550" dirty="0">
                          <a:solidFill>
                            <a:srgbClr val="696975"/>
                          </a:solidFill>
                          <a:latin typeface="Trebuchet MS"/>
                          <a:cs typeface="Trebuchet MS"/>
                        </a:rPr>
                        <a:t>Wallet</a:t>
                      </a:r>
                      <a:r>
                        <a:rPr sz="1550" spc="-30" dirty="0">
                          <a:solidFill>
                            <a:srgbClr val="696975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550" spc="55" dirty="0">
                          <a:solidFill>
                            <a:srgbClr val="696975"/>
                          </a:solidFill>
                          <a:latin typeface="Trebuchet MS"/>
                          <a:cs typeface="Trebuchet MS"/>
                        </a:rPr>
                        <a:t>users</a:t>
                      </a:r>
                      <a:endParaRPr sz="1550">
                        <a:latin typeface="Trebuchet MS"/>
                        <a:cs typeface="Trebuchet MS"/>
                      </a:endParaRPr>
                    </a:p>
                  </a:txBody>
                  <a:tcPr marL="0" marR="0" marT="42545" marB="0">
                    <a:lnL w="19050">
                      <a:solidFill>
                        <a:srgbClr val="D9D9D4"/>
                      </a:solidFill>
                      <a:prstDash val="solid"/>
                    </a:lnL>
                    <a:lnR w="19050">
                      <a:solidFill>
                        <a:srgbClr val="D9D9D4"/>
                      </a:solidFill>
                      <a:prstDash val="solid"/>
                    </a:lnR>
                    <a:lnT w="19050">
                      <a:solidFill>
                        <a:srgbClr val="D9D9D4"/>
                      </a:solidFill>
                      <a:prstDash val="solid"/>
                    </a:lnT>
                    <a:lnB w="19050">
                      <a:solidFill>
                        <a:srgbClr val="D9D9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550" b="1" spc="60" dirty="0">
                          <a:solidFill>
                            <a:srgbClr val="F6931A"/>
                          </a:solidFill>
                          <a:latin typeface="Trebuchet MS"/>
                          <a:cs typeface="Trebuchet MS"/>
                        </a:rPr>
                        <a:t>Rwandan</a:t>
                      </a:r>
                      <a:r>
                        <a:rPr sz="1550" b="1" spc="-75" dirty="0">
                          <a:solidFill>
                            <a:srgbClr val="F6931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550" b="1" spc="35" dirty="0">
                          <a:solidFill>
                            <a:srgbClr val="F6931A"/>
                          </a:solidFill>
                          <a:latin typeface="Trebuchet MS"/>
                          <a:cs typeface="Trebuchet MS"/>
                        </a:rPr>
                        <a:t>youth</a:t>
                      </a:r>
                      <a:endParaRPr sz="1550">
                        <a:latin typeface="Trebuchet MS"/>
                        <a:cs typeface="Trebuchet MS"/>
                      </a:endParaRPr>
                    </a:p>
                  </a:txBody>
                  <a:tcPr marL="0" marR="0" marT="42545" marB="0">
                    <a:lnL w="19050">
                      <a:solidFill>
                        <a:srgbClr val="D9D9D4"/>
                      </a:solidFill>
                      <a:prstDash val="solid"/>
                    </a:lnL>
                    <a:lnR w="19050">
                      <a:solidFill>
                        <a:srgbClr val="D9D9D4"/>
                      </a:solidFill>
                      <a:prstDash val="solid"/>
                    </a:lnR>
                    <a:lnT w="19050">
                      <a:solidFill>
                        <a:srgbClr val="D9D9D4"/>
                      </a:solidFill>
                      <a:prstDash val="solid"/>
                    </a:lnT>
                    <a:lnB w="19050">
                      <a:solidFill>
                        <a:srgbClr val="D9D9D4"/>
                      </a:solidFill>
                      <a:prstDash val="solid"/>
                    </a:lnB>
                    <a:solidFill>
                      <a:srgbClr val="FFF1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5"/>
              </a:lnSpc>
              <a:tabLst>
                <a:tab pos="756285" algn="l"/>
              </a:tabLst>
            </a:pPr>
            <a:r>
              <a:rPr spc="130" dirty="0"/>
              <a:t>KAZI</a:t>
            </a:r>
            <a:r>
              <a:rPr spc="-250" dirty="0"/>
              <a:t> </a:t>
            </a:r>
            <a:r>
              <a:rPr sz="1450" b="0" spc="705" dirty="0">
                <a:latin typeface="Segoe UI Symbol"/>
                <a:cs typeface="Segoe UI Symbol"/>
              </a:rPr>
              <a:t>⚡</a:t>
            </a:r>
            <a:r>
              <a:rPr sz="1450" b="0" dirty="0">
                <a:latin typeface="Segoe UI Symbol"/>
                <a:cs typeface="Segoe UI Symbol"/>
              </a:rPr>
              <a:t>	</a:t>
            </a:r>
            <a:r>
              <a:rPr dirty="0"/>
              <a:t>•</a:t>
            </a:r>
            <a:r>
              <a:rPr spc="440" dirty="0"/>
              <a:t> </a:t>
            </a:r>
            <a:r>
              <a:rPr spc="120" dirty="0"/>
              <a:t>2026</a:t>
            </a:r>
            <a:endParaRPr sz="1450">
              <a:latin typeface="Segoe UI Symbol"/>
              <a:cs typeface="Segoe UI Symbo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pc="165" dirty="0"/>
              <a:t>07</a:t>
            </a:r>
            <a:r>
              <a:rPr spc="204" dirty="0"/>
              <a:t> </a:t>
            </a:r>
            <a:r>
              <a:rPr dirty="0"/>
              <a:t>/</a:t>
            </a:r>
            <a:r>
              <a:rPr spc="210" dirty="0"/>
              <a:t> </a:t>
            </a:r>
            <a:r>
              <a:rPr spc="-65" dirty="0"/>
              <a:t>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54100" y="654050"/>
            <a:ext cx="276860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125" dirty="0">
                <a:solidFill>
                  <a:srgbClr val="1A1A2E"/>
                </a:solidFill>
                <a:latin typeface="Trebuchet MS"/>
                <a:cs typeface="Trebuchet MS"/>
              </a:rPr>
              <a:t>S</a:t>
            </a:r>
            <a:r>
              <a:rPr sz="1500" b="1" spc="-210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500" b="1" dirty="0">
                <a:solidFill>
                  <a:srgbClr val="1A1A2E"/>
                </a:solidFill>
                <a:latin typeface="Trebuchet MS"/>
                <a:cs typeface="Trebuchet MS"/>
              </a:rPr>
              <a:t>Y</a:t>
            </a:r>
            <a:r>
              <a:rPr sz="1500" b="1" spc="-204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500" b="1" spc="125" dirty="0">
                <a:solidFill>
                  <a:srgbClr val="1A1A2E"/>
                </a:solidFill>
                <a:latin typeface="Trebuchet MS"/>
                <a:cs typeface="Trebuchet MS"/>
              </a:rPr>
              <a:t>S</a:t>
            </a:r>
            <a:r>
              <a:rPr sz="1500" b="1" spc="-210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500" b="1" spc="-35" dirty="0">
                <a:solidFill>
                  <a:srgbClr val="1A1A2E"/>
                </a:solidFill>
                <a:latin typeface="Trebuchet MS"/>
                <a:cs typeface="Trebuchet MS"/>
              </a:rPr>
              <a:t>T</a:t>
            </a:r>
            <a:r>
              <a:rPr sz="1500" b="1" spc="-204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500" b="1" dirty="0">
                <a:solidFill>
                  <a:srgbClr val="1A1A2E"/>
                </a:solidFill>
                <a:latin typeface="Trebuchet MS"/>
                <a:cs typeface="Trebuchet MS"/>
              </a:rPr>
              <a:t>E</a:t>
            </a:r>
            <a:r>
              <a:rPr sz="1500" b="1" spc="-210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500" b="1" spc="210" dirty="0">
                <a:solidFill>
                  <a:srgbClr val="1A1A2E"/>
                </a:solidFill>
                <a:latin typeface="Trebuchet MS"/>
                <a:cs typeface="Trebuchet MS"/>
              </a:rPr>
              <a:t>M</a:t>
            </a:r>
            <a:r>
              <a:rPr sz="1500" b="1" spc="409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500" b="1" spc="95" dirty="0">
                <a:solidFill>
                  <a:srgbClr val="1A1A2E"/>
                </a:solidFill>
                <a:latin typeface="Trebuchet MS"/>
                <a:cs typeface="Trebuchet MS"/>
              </a:rPr>
              <a:t>A</a:t>
            </a:r>
            <a:r>
              <a:rPr sz="1500" b="1" spc="-204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500" b="1" dirty="0">
                <a:solidFill>
                  <a:srgbClr val="1A1A2E"/>
                </a:solidFill>
                <a:latin typeface="Trebuchet MS"/>
                <a:cs typeface="Trebuchet MS"/>
              </a:rPr>
              <a:t>R</a:t>
            </a:r>
            <a:r>
              <a:rPr sz="1500" b="1" spc="-210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500" b="1" spc="190" dirty="0">
                <a:solidFill>
                  <a:srgbClr val="1A1A2E"/>
                </a:solidFill>
                <a:latin typeface="Trebuchet MS"/>
                <a:cs typeface="Trebuchet MS"/>
              </a:rPr>
              <a:t>C</a:t>
            </a:r>
            <a:r>
              <a:rPr sz="1500" b="1" spc="-204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500" b="1" dirty="0">
                <a:solidFill>
                  <a:srgbClr val="1A1A2E"/>
                </a:solidFill>
                <a:latin typeface="Trebuchet MS"/>
                <a:cs typeface="Trebuchet MS"/>
              </a:rPr>
              <a:t>H</a:t>
            </a:r>
            <a:r>
              <a:rPr sz="1500" b="1" spc="-210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500" b="1" spc="-25" dirty="0">
                <a:solidFill>
                  <a:srgbClr val="1A1A2E"/>
                </a:solidFill>
                <a:latin typeface="Trebuchet MS"/>
                <a:cs typeface="Trebuchet MS"/>
              </a:rPr>
              <a:t>I</a:t>
            </a:r>
            <a:r>
              <a:rPr sz="1500" b="1" spc="-204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500" b="1" spc="-35" dirty="0">
                <a:solidFill>
                  <a:srgbClr val="1A1A2E"/>
                </a:solidFill>
                <a:latin typeface="Trebuchet MS"/>
                <a:cs typeface="Trebuchet MS"/>
              </a:rPr>
              <a:t>T</a:t>
            </a:r>
            <a:r>
              <a:rPr sz="1500" b="1" spc="-204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500" b="1" dirty="0">
                <a:solidFill>
                  <a:srgbClr val="1A1A2E"/>
                </a:solidFill>
                <a:latin typeface="Trebuchet MS"/>
                <a:cs typeface="Trebuchet MS"/>
              </a:rPr>
              <a:t>E</a:t>
            </a:r>
            <a:r>
              <a:rPr sz="1500" b="1" spc="-210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500" b="1" spc="190" dirty="0">
                <a:solidFill>
                  <a:srgbClr val="1A1A2E"/>
                </a:solidFill>
                <a:latin typeface="Trebuchet MS"/>
                <a:cs typeface="Trebuchet MS"/>
              </a:rPr>
              <a:t>C</a:t>
            </a:r>
            <a:r>
              <a:rPr sz="1500" b="1" spc="-204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500" b="1" spc="-35" dirty="0">
                <a:solidFill>
                  <a:srgbClr val="1A1A2E"/>
                </a:solidFill>
                <a:latin typeface="Trebuchet MS"/>
                <a:cs typeface="Trebuchet MS"/>
              </a:rPr>
              <a:t>T</a:t>
            </a:r>
            <a:r>
              <a:rPr sz="1500" b="1" spc="-210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500" b="1" dirty="0">
                <a:solidFill>
                  <a:srgbClr val="1A1A2E"/>
                </a:solidFill>
                <a:latin typeface="Trebuchet MS"/>
                <a:cs typeface="Trebuchet MS"/>
              </a:rPr>
              <a:t>U</a:t>
            </a:r>
            <a:r>
              <a:rPr sz="1500" b="1" spc="-204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500" b="1" dirty="0">
                <a:solidFill>
                  <a:srgbClr val="1A1A2E"/>
                </a:solidFill>
                <a:latin typeface="Trebuchet MS"/>
                <a:cs typeface="Trebuchet MS"/>
              </a:rPr>
              <a:t>R</a:t>
            </a:r>
            <a:r>
              <a:rPr sz="1500" b="1" spc="-204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500" b="1" spc="-50" dirty="0">
                <a:solidFill>
                  <a:srgbClr val="1A1A2E"/>
                </a:solidFill>
                <a:latin typeface="Trebuchet MS"/>
                <a:cs typeface="Trebuchet MS"/>
              </a:rPr>
              <a:t>E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884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65" dirty="0"/>
              <a:t>A</a:t>
            </a:r>
            <a:r>
              <a:rPr spc="-80" dirty="0"/>
              <a:t> </a:t>
            </a:r>
            <a:r>
              <a:rPr dirty="0"/>
              <a:t>direct</a:t>
            </a:r>
            <a:r>
              <a:rPr spc="-80" dirty="0"/>
              <a:t> </a:t>
            </a:r>
            <a:r>
              <a:rPr spc="-10" dirty="0"/>
              <a:t>pathway</a:t>
            </a:r>
            <a:r>
              <a:rPr spc="-80" dirty="0"/>
              <a:t> </a:t>
            </a:r>
            <a:r>
              <a:rPr dirty="0"/>
              <a:t>to</a:t>
            </a:r>
            <a:r>
              <a:rPr spc="-75" dirty="0"/>
              <a:t> </a:t>
            </a:r>
            <a:r>
              <a:rPr dirty="0"/>
              <a:t>instant</a:t>
            </a:r>
            <a:r>
              <a:rPr spc="-80" dirty="0"/>
              <a:t> </a:t>
            </a:r>
            <a:r>
              <a:rPr spc="-10" dirty="0"/>
              <a:t>settlement.</a:t>
            </a:r>
          </a:p>
        </p:txBody>
      </p:sp>
      <p:sp>
        <p:nvSpPr>
          <p:cNvPr id="4" name="object 4"/>
          <p:cNvSpPr/>
          <p:nvPr/>
        </p:nvSpPr>
        <p:spPr>
          <a:xfrm>
            <a:off x="1066800" y="9582150"/>
            <a:ext cx="16154400" cy="0"/>
          </a:xfrm>
          <a:custGeom>
            <a:avLst/>
            <a:gdLst/>
            <a:ahLst/>
            <a:cxnLst/>
            <a:rect l="l" t="t" r="r" b="b"/>
            <a:pathLst>
              <a:path w="16154400">
                <a:moveTo>
                  <a:pt x="0" y="0"/>
                </a:moveTo>
                <a:lnTo>
                  <a:pt x="16154398" y="0"/>
                </a:lnTo>
              </a:path>
            </a:pathLst>
          </a:custGeom>
          <a:ln w="9524">
            <a:solidFill>
              <a:srgbClr val="D9D9D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57250" y="4095749"/>
            <a:ext cx="2762250" cy="1619250"/>
          </a:xfrm>
          <a:custGeom>
            <a:avLst/>
            <a:gdLst/>
            <a:ahLst/>
            <a:cxnLst/>
            <a:rect l="l" t="t" r="r" b="b"/>
            <a:pathLst>
              <a:path w="2762250" h="1619250">
                <a:moveTo>
                  <a:pt x="2628899" y="1619249"/>
                </a:moveTo>
                <a:lnTo>
                  <a:pt x="133349" y="1619249"/>
                </a:lnTo>
                <a:lnTo>
                  <a:pt x="91201" y="1612451"/>
                </a:lnTo>
                <a:lnTo>
                  <a:pt x="54595" y="1593521"/>
                </a:lnTo>
                <a:lnTo>
                  <a:pt x="25728" y="1564654"/>
                </a:lnTo>
                <a:lnTo>
                  <a:pt x="6798" y="1528048"/>
                </a:lnTo>
                <a:lnTo>
                  <a:pt x="0" y="1485899"/>
                </a:lnTo>
                <a:lnTo>
                  <a:pt x="0" y="133349"/>
                </a:lnTo>
                <a:lnTo>
                  <a:pt x="6798" y="91201"/>
                </a:lnTo>
                <a:lnTo>
                  <a:pt x="25728" y="54595"/>
                </a:lnTo>
                <a:lnTo>
                  <a:pt x="54595" y="25728"/>
                </a:lnTo>
                <a:lnTo>
                  <a:pt x="91201" y="6798"/>
                </a:lnTo>
                <a:lnTo>
                  <a:pt x="133349" y="0"/>
                </a:lnTo>
                <a:lnTo>
                  <a:pt x="2628899" y="0"/>
                </a:lnTo>
                <a:lnTo>
                  <a:pt x="2671048" y="6798"/>
                </a:lnTo>
                <a:lnTo>
                  <a:pt x="2707654" y="25728"/>
                </a:lnTo>
                <a:lnTo>
                  <a:pt x="2736521" y="54595"/>
                </a:lnTo>
                <a:lnTo>
                  <a:pt x="2755451" y="91201"/>
                </a:lnTo>
                <a:lnTo>
                  <a:pt x="2762249" y="133349"/>
                </a:lnTo>
                <a:lnTo>
                  <a:pt x="2762249" y="1485899"/>
                </a:lnTo>
                <a:lnTo>
                  <a:pt x="2755451" y="1528048"/>
                </a:lnTo>
                <a:lnTo>
                  <a:pt x="2736521" y="1564654"/>
                </a:lnTo>
                <a:lnTo>
                  <a:pt x="2707654" y="1593521"/>
                </a:lnTo>
                <a:lnTo>
                  <a:pt x="2671048" y="1612451"/>
                </a:lnTo>
                <a:lnTo>
                  <a:pt x="2628899" y="1619249"/>
                </a:lnTo>
                <a:close/>
              </a:path>
            </a:pathLst>
          </a:custGeom>
          <a:solidFill>
            <a:srgbClr val="1A1A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250999" y="4740275"/>
            <a:ext cx="1974850" cy="2882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00" b="1" dirty="0">
                <a:solidFill>
                  <a:srgbClr val="FFFFFF"/>
                </a:solidFill>
                <a:latin typeface="Trebuchet MS"/>
                <a:cs typeface="Trebuchet MS"/>
              </a:rPr>
              <a:t>Youth</a:t>
            </a:r>
            <a:r>
              <a:rPr sz="1700" b="1" spc="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700" b="1" spc="55" dirty="0">
                <a:solidFill>
                  <a:srgbClr val="FFFFFF"/>
                </a:solidFill>
                <a:latin typeface="Trebuchet MS"/>
                <a:cs typeface="Trebuchet MS"/>
              </a:rPr>
              <a:t>/</a:t>
            </a:r>
            <a:r>
              <a:rPr sz="1700" b="1" spc="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700" b="1" dirty="0">
                <a:solidFill>
                  <a:srgbClr val="FFFFFF"/>
                </a:solidFill>
                <a:latin typeface="Trebuchet MS"/>
                <a:cs typeface="Trebuchet MS"/>
              </a:rPr>
              <a:t>Client</a:t>
            </a:r>
            <a:r>
              <a:rPr sz="1700" b="1" spc="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700" b="1" spc="100" dirty="0">
                <a:solidFill>
                  <a:srgbClr val="FFFFFF"/>
                </a:solidFill>
                <a:latin typeface="Trebuchet MS"/>
                <a:cs typeface="Trebuchet MS"/>
              </a:rPr>
              <a:t>App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748087" y="4905375"/>
            <a:ext cx="342900" cy="0"/>
          </a:xfrm>
          <a:custGeom>
            <a:avLst/>
            <a:gdLst/>
            <a:ahLst/>
            <a:cxnLst/>
            <a:rect l="l" t="t" r="r" b="b"/>
            <a:pathLst>
              <a:path w="342900">
                <a:moveTo>
                  <a:pt x="0" y="0"/>
                </a:moveTo>
                <a:lnTo>
                  <a:pt x="342899" y="0"/>
                </a:lnTo>
              </a:path>
            </a:pathLst>
          </a:custGeom>
          <a:ln w="28574">
            <a:solidFill>
              <a:srgbClr val="F6931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238625" y="4095749"/>
            <a:ext cx="2762250" cy="1619250"/>
          </a:xfrm>
          <a:custGeom>
            <a:avLst/>
            <a:gdLst/>
            <a:ahLst/>
            <a:cxnLst/>
            <a:rect l="l" t="t" r="r" b="b"/>
            <a:pathLst>
              <a:path w="2762250" h="1619250">
                <a:moveTo>
                  <a:pt x="2628899" y="1619249"/>
                </a:moveTo>
                <a:lnTo>
                  <a:pt x="133349" y="1619249"/>
                </a:lnTo>
                <a:lnTo>
                  <a:pt x="91201" y="1612451"/>
                </a:lnTo>
                <a:lnTo>
                  <a:pt x="54595" y="1593521"/>
                </a:lnTo>
                <a:lnTo>
                  <a:pt x="25728" y="1564654"/>
                </a:lnTo>
                <a:lnTo>
                  <a:pt x="6798" y="1528048"/>
                </a:lnTo>
                <a:lnTo>
                  <a:pt x="0" y="1485899"/>
                </a:lnTo>
                <a:lnTo>
                  <a:pt x="0" y="133349"/>
                </a:lnTo>
                <a:lnTo>
                  <a:pt x="6798" y="91201"/>
                </a:lnTo>
                <a:lnTo>
                  <a:pt x="25728" y="54595"/>
                </a:lnTo>
                <a:lnTo>
                  <a:pt x="54595" y="25728"/>
                </a:lnTo>
                <a:lnTo>
                  <a:pt x="91201" y="6798"/>
                </a:lnTo>
                <a:lnTo>
                  <a:pt x="133349" y="0"/>
                </a:lnTo>
                <a:lnTo>
                  <a:pt x="2628899" y="0"/>
                </a:lnTo>
                <a:lnTo>
                  <a:pt x="2671049" y="6798"/>
                </a:lnTo>
                <a:lnTo>
                  <a:pt x="2707654" y="25728"/>
                </a:lnTo>
                <a:lnTo>
                  <a:pt x="2736521" y="54595"/>
                </a:lnTo>
                <a:lnTo>
                  <a:pt x="2755451" y="91201"/>
                </a:lnTo>
                <a:lnTo>
                  <a:pt x="2762249" y="133349"/>
                </a:lnTo>
                <a:lnTo>
                  <a:pt x="2762249" y="1485899"/>
                </a:lnTo>
                <a:lnTo>
                  <a:pt x="2755451" y="1528048"/>
                </a:lnTo>
                <a:lnTo>
                  <a:pt x="2736521" y="1564654"/>
                </a:lnTo>
                <a:lnTo>
                  <a:pt x="2707654" y="1593521"/>
                </a:lnTo>
                <a:lnTo>
                  <a:pt x="2671049" y="1612451"/>
                </a:lnTo>
                <a:lnTo>
                  <a:pt x="2628899" y="1619249"/>
                </a:lnTo>
                <a:close/>
              </a:path>
            </a:pathLst>
          </a:custGeom>
          <a:solidFill>
            <a:srgbClr val="1A1A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7116762" y="4587875"/>
            <a:ext cx="421005" cy="2882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407670" algn="l"/>
              </a:tabLst>
            </a:pPr>
            <a:r>
              <a:rPr sz="1700" u="heavy" dirty="0">
                <a:solidFill>
                  <a:srgbClr val="FFFFFF"/>
                </a:solidFill>
                <a:uFill>
                  <a:solidFill>
                    <a:srgbClr val="F6931A"/>
                  </a:solidFill>
                </a:uFill>
                <a:latin typeface="Times New Roman"/>
                <a:cs typeface="Times New Roman"/>
              </a:rPr>
              <a:t>	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137050" y="4545965"/>
            <a:ext cx="96583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5715">
              <a:lnSpc>
                <a:spcPct val="117600"/>
              </a:lnSpc>
              <a:spcBef>
                <a:spcPts val="95"/>
              </a:spcBef>
            </a:pPr>
            <a:r>
              <a:rPr sz="1700" b="1" spc="70" dirty="0">
                <a:solidFill>
                  <a:srgbClr val="FFFFFF"/>
                </a:solidFill>
                <a:latin typeface="Trebuchet MS"/>
                <a:cs typeface="Trebuchet MS"/>
              </a:rPr>
              <a:t>Backend </a:t>
            </a:r>
            <a:r>
              <a:rPr sz="1700" b="1" dirty="0">
                <a:solidFill>
                  <a:srgbClr val="FFFFFF"/>
                </a:solidFill>
                <a:latin typeface="Trebuchet MS"/>
                <a:cs typeface="Trebuchet MS"/>
              </a:rPr>
              <a:t>Flask</a:t>
            </a:r>
            <a:r>
              <a:rPr sz="1700" b="1" spc="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700" b="1" spc="-25" dirty="0">
                <a:solidFill>
                  <a:srgbClr val="FFFFFF"/>
                </a:solidFill>
                <a:latin typeface="Trebuchet MS"/>
                <a:cs typeface="Trebuchet MS"/>
              </a:rPr>
              <a:t>API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620000" y="4095749"/>
            <a:ext cx="2762250" cy="1619250"/>
          </a:xfrm>
          <a:custGeom>
            <a:avLst/>
            <a:gdLst/>
            <a:ahLst/>
            <a:cxnLst/>
            <a:rect l="l" t="t" r="r" b="b"/>
            <a:pathLst>
              <a:path w="2762250" h="1619250">
                <a:moveTo>
                  <a:pt x="2628899" y="1619249"/>
                </a:moveTo>
                <a:lnTo>
                  <a:pt x="133349" y="1619249"/>
                </a:lnTo>
                <a:lnTo>
                  <a:pt x="91201" y="1612451"/>
                </a:lnTo>
                <a:lnTo>
                  <a:pt x="54595" y="1593521"/>
                </a:lnTo>
                <a:lnTo>
                  <a:pt x="25728" y="1564654"/>
                </a:lnTo>
                <a:lnTo>
                  <a:pt x="6798" y="1528048"/>
                </a:lnTo>
                <a:lnTo>
                  <a:pt x="0" y="1485899"/>
                </a:lnTo>
                <a:lnTo>
                  <a:pt x="0" y="133349"/>
                </a:lnTo>
                <a:lnTo>
                  <a:pt x="6798" y="91201"/>
                </a:lnTo>
                <a:lnTo>
                  <a:pt x="25728" y="54595"/>
                </a:lnTo>
                <a:lnTo>
                  <a:pt x="54595" y="25728"/>
                </a:lnTo>
                <a:lnTo>
                  <a:pt x="91201" y="6798"/>
                </a:lnTo>
                <a:lnTo>
                  <a:pt x="133349" y="0"/>
                </a:lnTo>
                <a:lnTo>
                  <a:pt x="2628899" y="0"/>
                </a:lnTo>
                <a:lnTo>
                  <a:pt x="2671049" y="6798"/>
                </a:lnTo>
                <a:lnTo>
                  <a:pt x="2707654" y="25728"/>
                </a:lnTo>
                <a:lnTo>
                  <a:pt x="2736521" y="54595"/>
                </a:lnTo>
                <a:lnTo>
                  <a:pt x="2755451" y="91201"/>
                </a:lnTo>
                <a:lnTo>
                  <a:pt x="2762249" y="133349"/>
                </a:lnTo>
                <a:lnTo>
                  <a:pt x="2762249" y="1485899"/>
                </a:lnTo>
                <a:lnTo>
                  <a:pt x="2755451" y="1528048"/>
                </a:lnTo>
                <a:lnTo>
                  <a:pt x="2736521" y="1564654"/>
                </a:lnTo>
                <a:lnTo>
                  <a:pt x="2707654" y="1593521"/>
                </a:lnTo>
                <a:lnTo>
                  <a:pt x="2671049" y="1612451"/>
                </a:lnTo>
                <a:lnTo>
                  <a:pt x="2628899" y="1619249"/>
                </a:lnTo>
                <a:close/>
              </a:path>
            </a:pathLst>
          </a:custGeom>
          <a:solidFill>
            <a:srgbClr val="F6931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7947372" y="4740275"/>
            <a:ext cx="2107565" cy="2882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00" b="1" spc="80" dirty="0">
                <a:solidFill>
                  <a:srgbClr val="FFFFFF"/>
                </a:solidFill>
                <a:latin typeface="Trebuchet MS"/>
                <a:cs typeface="Trebuchet MS"/>
              </a:rPr>
              <a:t>LND</a:t>
            </a:r>
            <a:r>
              <a:rPr sz="1700" b="1" spc="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700" b="1" dirty="0">
                <a:solidFill>
                  <a:srgbClr val="FFFFFF"/>
                </a:solidFill>
                <a:latin typeface="Trebuchet MS"/>
                <a:cs typeface="Trebuchet MS"/>
              </a:rPr>
              <a:t>Lightning</a:t>
            </a:r>
            <a:r>
              <a:rPr sz="1700" b="1" spc="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700" b="1" spc="65" dirty="0">
                <a:solidFill>
                  <a:srgbClr val="FFFFFF"/>
                </a:solidFill>
                <a:latin typeface="Trebuchet MS"/>
                <a:cs typeface="Trebuchet MS"/>
              </a:rPr>
              <a:t>Node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0510836" y="4905375"/>
            <a:ext cx="342900" cy="0"/>
          </a:xfrm>
          <a:custGeom>
            <a:avLst/>
            <a:gdLst/>
            <a:ahLst/>
            <a:cxnLst/>
            <a:rect l="l" t="t" r="r" b="b"/>
            <a:pathLst>
              <a:path w="342900">
                <a:moveTo>
                  <a:pt x="0" y="0"/>
                </a:moveTo>
                <a:lnTo>
                  <a:pt x="342899" y="0"/>
                </a:lnTo>
              </a:path>
            </a:pathLst>
          </a:custGeom>
          <a:ln w="28574">
            <a:solidFill>
              <a:srgbClr val="F6931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1001375" y="4095749"/>
            <a:ext cx="2762250" cy="1619250"/>
          </a:xfrm>
          <a:custGeom>
            <a:avLst/>
            <a:gdLst/>
            <a:ahLst/>
            <a:cxnLst/>
            <a:rect l="l" t="t" r="r" b="b"/>
            <a:pathLst>
              <a:path w="2762250" h="1619250">
                <a:moveTo>
                  <a:pt x="2628899" y="1619249"/>
                </a:moveTo>
                <a:lnTo>
                  <a:pt x="133349" y="1619249"/>
                </a:lnTo>
                <a:lnTo>
                  <a:pt x="91201" y="1612451"/>
                </a:lnTo>
                <a:lnTo>
                  <a:pt x="54595" y="1593521"/>
                </a:lnTo>
                <a:lnTo>
                  <a:pt x="25728" y="1564654"/>
                </a:lnTo>
                <a:lnTo>
                  <a:pt x="6798" y="1528048"/>
                </a:lnTo>
                <a:lnTo>
                  <a:pt x="0" y="1485899"/>
                </a:lnTo>
                <a:lnTo>
                  <a:pt x="0" y="133349"/>
                </a:lnTo>
                <a:lnTo>
                  <a:pt x="6798" y="91201"/>
                </a:lnTo>
                <a:lnTo>
                  <a:pt x="25728" y="54595"/>
                </a:lnTo>
                <a:lnTo>
                  <a:pt x="54595" y="25728"/>
                </a:lnTo>
                <a:lnTo>
                  <a:pt x="91201" y="6798"/>
                </a:lnTo>
                <a:lnTo>
                  <a:pt x="133349" y="0"/>
                </a:lnTo>
                <a:lnTo>
                  <a:pt x="2628899" y="0"/>
                </a:lnTo>
                <a:lnTo>
                  <a:pt x="2671049" y="6798"/>
                </a:lnTo>
                <a:lnTo>
                  <a:pt x="2707654" y="25728"/>
                </a:lnTo>
                <a:lnTo>
                  <a:pt x="2736521" y="54595"/>
                </a:lnTo>
                <a:lnTo>
                  <a:pt x="2755451" y="91201"/>
                </a:lnTo>
                <a:lnTo>
                  <a:pt x="2762249" y="133349"/>
                </a:lnTo>
                <a:lnTo>
                  <a:pt x="2762249" y="1485899"/>
                </a:lnTo>
                <a:lnTo>
                  <a:pt x="2755451" y="1528048"/>
                </a:lnTo>
                <a:lnTo>
                  <a:pt x="2736521" y="1564654"/>
                </a:lnTo>
                <a:lnTo>
                  <a:pt x="2707654" y="1593521"/>
                </a:lnTo>
                <a:lnTo>
                  <a:pt x="2671049" y="1612451"/>
                </a:lnTo>
                <a:lnTo>
                  <a:pt x="2628899" y="1619249"/>
                </a:lnTo>
                <a:close/>
              </a:path>
            </a:pathLst>
          </a:custGeom>
          <a:solidFill>
            <a:srgbClr val="1A1A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3879512" y="4587875"/>
            <a:ext cx="421005" cy="2882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407670" algn="l"/>
              </a:tabLst>
            </a:pPr>
            <a:r>
              <a:rPr sz="1700" u="heavy" dirty="0">
                <a:solidFill>
                  <a:srgbClr val="FFFFFF"/>
                </a:solidFill>
                <a:uFill>
                  <a:solidFill>
                    <a:srgbClr val="F6931A"/>
                  </a:solidFill>
                </a:uFill>
                <a:latin typeface="Times New Roman"/>
                <a:cs typeface="Times New Roman"/>
              </a:rPr>
              <a:t>	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1481741" y="4545965"/>
            <a:ext cx="180149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50215" marR="5080" indent="-438150">
              <a:lnSpc>
                <a:spcPct val="117600"/>
              </a:lnSpc>
              <a:spcBef>
                <a:spcPts val="95"/>
              </a:spcBef>
            </a:pPr>
            <a:r>
              <a:rPr sz="1700" b="1" dirty="0">
                <a:solidFill>
                  <a:srgbClr val="FFFFFF"/>
                </a:solidFill>
                <a:latin typeface="Trebuchet MS"/>
                <a:cs typeface="Trebuchet MS"/>
              </a:rPr>
              <a:t>Bitcoin</a:t>
            </a:r>
            <a:r>
              <a:rPr sz="1700" b="1" spc="1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700" b="1" spc="-10" dirty="0">
                <a:solidFill>
                  <a:srgbClr val="FFFFFF"/>
                </a:solidFill>
                <a:latin typeface="Trebuchet MS"/>
                <a:cs typeface="Trebuchet MS"/>
              </a:rPr>
              <a:t>Lightning Network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4382750" y="4095749"/>
            <a:ext cx="2762250" cy="1619250"/>
          </a:xfrm>
          <a:custGeom>
            <a:avLst/>
            <a:gdLst/>
            <a:ahLst/>
            <a:cxnLst/>
            <a:rect l="l" t="t" r="r" b="b"/>
            <a:pathLst>
              <a:path w="2762250" h="1619250">
                <a:moveTo>
                  <a:pt x="2628899" y="1619249"/>
                </a:moveTo>
                <a:lnTo>
                  <a:pt x="133349" y="1619249"/>
                </a:lnTo>
                <a:lnTo>
                  <a:pt x="91200" y="1612451"/>
                </a:lnTo>
                <a:lnTo>
                  <a:pt x="54595" y="1593521"/>
                </a:lnTo>
                <a:lnTo>
                  <a:pt x="25728" y="1564654"/>
                </a:lnTo>
                <a:lnTo>
                  <a:pt x="6798" y="1528048"/>
                </a:lnTo>
                <a:lnTo>
                  <a:pt x="0" y="1485899"/>
                </a:lnTo>
                <a:lnTo>
                  <a:pt x="0" y="133349"/>
                </a:lnTo>
                <a:lnTo>
                  <a:pt x="6798" y="91201"/>
                </a:lnTo>
                <a:lnTo>
                  <a:pt x="25728" y="54595"/>
                </a:lnTo>
                <a:lnTo>
                  <a:pt x="54595" y="25728"/>
                </a:lnTo>
                <a:lnTo>
                  <a:pt x="91200" y="6798"/>
                </a:lnTo>
                <a:lnTo>
                  <a:pt x="133349" y="0"/>
                </a:lnTo>
                <a:lnTo>
                  <a:pt x="2628899" y="0"/>
                </a:lnTo>
                <a:lnTo>
                  <a:pt x="2671049" y="6798"/>
                </a:lnTo>
                <a:lnTo>
                  <a:pt x="2707654" y="25728"/>
                </a:lnTo>
                <a:lnTo>
                  <a:pt x="2736521" y="54595"/>
                </a:lnTo>
                <a:lnTo>
                  <a:pt x="2755451" y="91201"/>
                </a:lnTo>
                <a:lnTo>
                  <a:pt x="2762249" y="133349"/>
                </a:lnTo>
                <a:lnTo>
                  <a:pt x="2762249" y="1485899"/>
                </a:lnTo>
                <a:lnTo>
                  <a:pt x="2755451" y="1528048"/>
                </a:lnTo>
                <a:lnTo>
                  <a:pt x="2736521" y="1564654"/>
                </a:lnTo>
                <a:lnTo>
                  <a:pt x="2707654" y="1593521"/>
                </a:lnTo>
                <a:lnTo>
                  <a:pt x="2671049" y="1612451"/>
                </a:lnTo>
                <a:lnTo>
                  <a:pt x="2628899" y="1619249"/>
                </a:lnTo>
                <a:close/>
              </a:path>
            </a:pathLst>
          </a:custGeom>
          <a:solidFill>
            <a:srgbClr val="1A1A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5001378" y="4545965"/>
            <a:ext cx="152527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481330">
              <a:lnSpc>
                <a:spcPct val="117600"/>
              </a:lnSpc>
              <a:spcBef>
                <a:spcPts val="95"/>
              </a:spcBef>
            </a:pPr>
            <a:r>
              <a:rPr sz="1700" b="1" spc="-10" dirty="0">
                <a:solidFill>
                  <a:srgbClr val="FFFFFF"/>
                </a:solidFill>
                <a:latin typeface="Trebuchet MS"/>
                <a:cs typeface="Trebuchet MS"/>
              </a:rPr>
              <a:t>Polar </a:t>
            </a:r>
            <a:r>
              <a:rPr sz="1700" b="1" spc="70" dirty="0">
                <a:solidFill>
                  <a:srgbClr val="FFFFFF"/>
                </a:solidFill>
                <a:latin typeface="Trebuchet MS"/>
                <a:cs typeface="Trebuchet MS"/>
              </a:rPr>
              <a:t>Regtest</a:t>
            </a:r>
            <a:r>
              <a:rPr sz="1700" b="1" spc="-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700" b="1" spc="80" dirty="0">
                <a:solidFill>
                  <a:srgbClr val="FFFFFF"/>
                </a:solidFill>
                <a:latin typeface="Trebuchet MS"/>
                <a:cs typeface="Trebuchet MS"/>
              </a:rPr>
              <a:t>Demo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5"/>
              </a:lnSpc>
              <a:tabLst>
                <a:tab pos="756285" algn="l"/>
              </a:tabLst>
            </a:pPr>
            <a:r>
              <a:rPr spc="130" dirty="0"/>
              <a:t>KAZI</a:t>
            </a:r>
            <a:r>
              <a:rPr spc="-250" dirty="0"/>
              <a:t> </a:t>
            </a:r>
            <a:r>
              <a:rPr sz="1450" b="0" spc="705" dirty="0">
                <a:latin typeface="Segoe UI Symbol"/>
                <a:cs typeface="Segoe UI Symbol"/>
              </a:rPr>
              <a:t>⚡</a:t>
            </a:r>
            <a:r>
              <a:rPr sz="1450" b="0" dirty="0">
                <a:latin typeface="Segoe UI Symbol"/>
                <a:cs typeface="Segoe UI Symbol"/>
              </a:rPr>
              <a:t>	</a:t>
            </a:r>
            <a:r>
              <a:rPr dirty="0"/>
              <a:t>•</a:t>
            </a:r>
            <a:r>
              <a:rPr spc="440" dirty="0"/>
              <a:t> </a:t>
            </a:r>
            <a:r>
              <a:rPr spc="120" dirty="0"/>
              <a:t>2026</a:t>
            </a:r>
            <a:endParaRPr sz="1450">
              <a:latin typeface="Segoe UI Symbol"/>
              <a:cs typeface="Segoe UI Symbol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pc="165" dirty="0"/>
              <a:t>08</a:t>
            </a:r>
            <a:r>
              <a:rPr spc="204" dirty="0"/>
              <a:t> </a:t>
            </a:r>
            <a:r>
              <a:rPr dirty="0"/>
              <a:t>/</a:t>
            </a:r>
            <a:r>
              <a:rPr spc="210" dirty="0"/>
              <a:t> </a:t>
            </a:r>
            <a:r>
              <a:rPr spc="-65" dirty="0"/>
              <a:t>12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4410025" y="6831012"/>
            <a:ext cx="9468485" cy="3111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850" dirty="0">
                <a:solidFill>
                  <a:srgbClr val="696975"/>
                </a:solidFill>
                <a:latin typeface="Trebuchet MS"/>
                <a:cs typeface="Trebuchet MS"/>
              </a:rPr>
              <a:t>API</a:t>
            </a:r>
            <a:r>
              <a:rPr sz="1850" spc="35" dirty="0">
                <a:solidFill>
                  <a:srgbClr val="696975"/>
                </a:solidFill>
                <a:latin typeface="Trebuchet MS"/>
                <a:cs typeface="Trebuchet MS"/>
              </a:rPr>
              <a:t> </a:t>
            </a:r>
            <a:r>
              <a:rPr sz="1850" dirty="0">
                <a:solidFill>
                  <a:srgbClr val="696975"/>
                </a:solidFill>
                <a:latin typeface="Trebuchet MS"/>
                <a:cs typeface="Trebuchet MS"/>
              </a:rPr>
              <a:t>orchestration</a:t>
            </a:r>
            <a:r>
              <a:rPr sz="1850" spc="45" dirty="0">
                <a:solidFill>
                  <a:srgbClr val="696975"/>
                </a:solidFill>
                <a:latin typeface="Trebuchet MS"/>
                <a:cs typeface="Trebuchet MS"/>
              </a:rPr>
              <a:t>  </a:t>
            </a:r>
            <a:r>
              <a:rPr sz="1850" spc="-315" dirty="0">
                <a:solidFill>
                  <a:srgbClr val="696975"/>
                </a:solidFill>
                <a:latin typeface="Trebuchet MS"/>
                <a:cs typeface="Trebuchet MS"/>
              </a:rPr>
              <a:t>•</a:t>
            </a:r>
            <a:r>
              <a:rPr sz="1850" spc="40" dirty="0">
                <a:solidFill>
                  <a:srgbClr val="696975"/>
                </a:solidFill>
                <a:latin typeface="Trebuchet MS"/>
                <a:cs typeface="Trebuchet MS"/>
              </a:rPr>
              <a:t>  </a:t>
            </a:r>
            <a:r>
              <a:rPr sz="1850" dirty="0">
                <a:solidFill>
                  <a:srgbClr val="696975"/>
                </a:solidFill>
                <a:latin typeface="Trebuchet MS"/>
                <a:cs typeface="Trebuchet MS"/>
              </a:rPr>
              <a:t>invoice</a:t>
            </a:r>
            <a:r>
              <a:rPr sz="1850" spc="45" dirty="0">
                <a:solidFill>
                  <a:srgbClr val="696975"/>
                </a:solidFill>
                <a:latin typeface="Trebuchet MS"/>
                <a:cs typeface="Trebuchet MS"/>
              </a:rPr>
              <a:t> </a:t>
            </a:r>
            <a:r>
              <a:rPr sz="1850" dirty="0">
                <a:solidFill>
                  <a:srgbClr val="696975"/>
                </a:solidFill>
                <a:latin typeface="Trebuchet MS"/>
                <a:cs typeface="Trebuchet MS"/>
              </a:rPr>
              <a:t>creation</a:t>
            </a:r>
            <a:r>
              <a:rPr sz="1850" spc="45" dirty="0">
                <a:solidFill>
                  <a:srgbClr val="696975"/>
                </a:solidFill>
                <a:latin typeface="Trebuchet MS"/>
                <a:cs typeface="Trebuchet MS"/>
              </a:rPr>
              <a:t>  </a:t>
            </a:r>
            <a:r>
              <a:rPr sz="1850" spc="-315" dirty="0">
                <a:solidFill>
                  <a:srgbClr val="696975"/>
                </a:solidFill>
                <a:latin typeface="Trebuchet MS"/>
                <a:cs typeface="Trebuchet MS"/>
              </a:rPr>
              <a:t>•</a:t>
            </a:r>
            <a:r>
              <a:rPr sz="1850" spc="40" dirty="0">
                <a:solidFill>
                  <a:srgbClr val="696975"/>
                </a:solidFill>
                <a:latin typeface="Trebuchet MS"/>
                <a:cs typeface="Trebuchet MS"/>
              </a:rPr>
              <a:t>  </a:t>
            </a:r>
            <a:r>
              <a:rPr sz="1850" spc="75" dirty="0">
                <a:solidFill>
                  <a:srgbClr val="696975"/>
                </a:solidFill>
                <a:latin typeface="Trebuchet MS"/>
                <a:cs typeface="Trebuchet MS"/>
              </a:rPr>
              <a:t>payment</a:t>
            </a:r>
            <a:r>
              <a:rPr sz="1850" spc="45" dirty="0">
                <a:solidFill>
                  <a:srgbClr val="696975"/>
                </a:solidFill>
                <a:latin typeface="Trebuchet MS"/>
                <a:cs typeface="Trebuchet MS"/>
              </a:rPr>
              <a:t> </a:t>
            </a:r>
            <a:r>
              <a:rPr sz="1850" dirty="0">
                <a:solidFill>
                  <a:srgbClr val="696975"/>
                </a:solidFill>
                <a:latin typeface="Trebuchet MS"/>
                <a:cs typeface="Trebuchet MS"/>
              </a:rPr>
              <a:t>verification</a:t>
            </a:r>
            <a:r>
              <a:rPr sz="1850" spc="40" dirty="0">
                <a:solidFill>
                  <a:srgbClr val="696975"/>
                </a:solidFill>
                <a:latin typeface="Trebuchet MS"/>
                <a:cs typeface="Trebuchet MS"/>
              </a:rPr>
              <a:t>  </a:t>
            </a:r>
            <a:r>
              <a:rPr sz="1850" spc="-315" dirty="0">
                <a:solidFill>
                  <a:srgbClr val="696975"/>
                </a:solidFill>
                <a:latin typeface="Trebuchet MS"/>
                <a:cs typeface="Trebuchet MS"/>
              </a:rPr>
              <a:t>•</a:t>
            </a:r>
            <a:r>
              <a:rPr sz="1850" spc="45" dirty="0">
                <a:solidFill>
                  <a:srgbClr val="696975"/>
                </a:solidFill>
                <a:latin typeface="Trebuchet MS"/>
                <a:cs typeface="Trebuchet MS"/>
              </a:rPr>
              <a:t>  </a:t>
            </a:r>
            <a:r>
              <a:rPr sz="1850" dirty="0">
                <a:solidFill>
                  <a:srgbClr val="696975"/>
                </a:solidFill>
                <a:latin typeface="Trebuchet MS"/>
                <a:cs typeface="Trebuchet MS"/>
              </a:rPr>
              <a:t>regtest</a:t>
            </a:r>
            <a:r>
              <a:rPr sz="1850" spc="45" dirty="0">
                <a:solidFill>
                  <a:srgbClr val="696975"/>
                </a:solidFill>
                <a:latin typeface="Trebuchet MS"/>
                <a:cs typeface="Trebuchet MS"/>
              </a:rPr>
              <a:t> demonstration</a:t>
            </a:r>
            <a:endParaRPr sz="18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54100" y="654050"/>
            <a:ext cx="157099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95" dirty="0">
                <a:solidFill>
                  <a:srgbClr val="1A1A2E"/>
                </a:solidFill>
                <a:latin typeface="Trebuchet MS"/>
                <a:cs typeface="Trebuchet MS"/>
              </a:rPr>
              <a:t>A</a:t>
            </a:r>
            <a:r>
              <a:rPr sz="1500" b="1" spc="-204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500" b="1" dirty="0">
                <a:solidFill>
                  <a:srgbClr val="1A1A2E"/>
                </a:solidFill>
                <a:latin typeface="Trebuchet MS"/>
                <a:cs typeface="Trebuchet MS"/>
              </a:rPr>
              <a:t>P</a:t>
            </a:r>
            <a:r>
              <a:rPr sz="1500" b="1" spc="-200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500" b="1" dirty="0">
                <a:solidFill>
                  <a:srgbClr val="1A1A2E"/>
                </a:solidFill>
                <a:latin typeface="Trebuchet MS"/>
                <a:cs typeface="Trebuchet MS"/>
              </a:rPr>
              <a:t>P</a:t>
            </a:r>
            <a:r>
              <a:rPr sz="1500" b="1" spc="434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500" b="1" dirty="0">
                <a:solidFill>
                  <a:srgbClr val="1A1A2E"/>
                </a:solidFill>
                <a:latin typeface="Trebuchet MS"/>
                <a:cs typeface="Trebuchet MS"/>
              </a:rPr>
              <a:t>P</a:t>
            </a:r>
            <a:r>
              <a:rPr sz="1500" b="1" spc="-200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500" b="1" dirty="0">
                <a:solidFill>
                  <a:srgbClr val="1A1A2E"/>
                </a:solidFill>
                <a:latin typeface="Trebuchet MS"/>
                <a:cs typeface="Trebuchet MS"/>
              </a:rPr>
              <a:t>R</a:t>
            </a:r>
            <a:r>
              <a:rPr sz="1500" b="1" spc="-200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500" b="1" dirty="0">
                <a:solidFill>
                  <a:srgbClr val="1A1A2E"/>
                </a:solidFill>
                <a:latin typeface="Trebuchet MS"/>
                <a:cs typeface="Trebuchet MS"/>
              </a:rPr>
              <a:t>E</a:t>
            </a:r>
            <a:r>
              <a:rPr sz="1500" b="1" spc="-204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500" b="1" spc="100" dirty="0">
                <a:solidFill>
                  <a:srgbClr val="1A1A2E"/>
                </a:solidFill>
                <a:latin typeface="Trebuchet MS"/>
                <a:cs typeface="Trebuchet MS"/>
              </a:rPr>
              <a:t>V</a:t>
            </a:r>
            <a:r>
              <a:rPr sz="1500" b="1" spc="-200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500" b="1" spc="-25" dirty="0">
                <a:solidFill>
                  <a:srgbClr val="1A1A2E"/>
                </a:solidFill>
                <a:latin typeface="Trebuchet MS"/>
                <a:cs typeface="Trebuchet MS"/>
              </a:rPr>
              <a:t>I</a:t>
            </a:r>
            <a:r>
              <a:rPr sz="1500" b="1" spc="-200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500" b="1" dirty="0">
                <a:solidFill>
                  <a:srgbClr val="1A1A2E"/>
                </a:solidFill>
                <a:latin typeface="Trebuchet MS"/>
                <a:cs typeface="Trebuchet MS"/>
              </a:rPr>
              <a:t>E</a:t>
            </a:r>
            <a:r>
              <a:rPr sz="1500" b="1" spc="-200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500" b="1" spc="135" dirty="0">
                <a:solidFill>
                  <a:srgbClr val="1A1A2E"/>
                </a:solidFill>
                <a:latin typeface="Trebuchet MS"/>
                <a:cs typeface="Trebuchet MS"/>
              </a:rPr>
              <a:t>W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884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5" dirty="0"/>
              <a:t>One</a:t>
            </a:r>
            <a:r>
              <a:rPr spc="30" dirty="0"/>
              <a:t> </a:t>
            </a:r>
            <a:r>
              <a:rPr dirty="0"/>
              <a:t>app,</a:t>
            </a:r>
            <a:r>
              <a:rPr spc="30" dirty="0"/>
              <a:t> </a:t>
            </a:r>
            <a:r>
              <a:rPr dirty="0"/>
              <a:t>instant</a:t>
            </a:r>
            <a:r>
              <a:rPr spc="30" dirty="0"/>
              <a:t> </a:t>
            </a:r>
            <a:r>
              <a:rPr spc="-10" dirty="0"/>
              <a:t>earnings.</a:t>
            </a:r>
          </a:p>
        </p:txBody>
      </p:sp>
      <p:sp>
        <p:nvSpPr>
          <p:cNvPr id="4" name="object 4"/>
          <p:cNvSpPr/>
          <p:nvPr/>
        </p:nvSpPr>
        <p:spPr>
          <a:xfrm>
            <a:off x="1066800" y="9582150"/>
            <a:ext cx="16154400" cy="0"/>
          </a:xfrm>
          <a:custGeom>
            <a:avLst/>
            <a:gdLst/>
            <a:ahLst/>
            <a:cxnLst/>
            <a:rect l="l" t="t" r="r" b="b"/>
            <a:pathLst>
              <a:path w="16154400">
                <a:moveTo>
                  <a:pt x="0" y="0"/>
                </a:moveTo>
                <a:lnTo>
                  <a:pt x="16154398" y="0"/>
                </a:lnTo>
              </a:path>
            </a:pathLst>
          </a:custGeom>
          <a:ln w="9524">
            <a:solidFill>
              <a:srgbClr val="D9D9D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2619374" y="3190875"/>
            <a:ext cx="3143250" cy="4476750"/>
            <a:chOff x="2619374" y="3190875"/>
            <a:chExt cx="3143250" cy="4476750"/>
          </a:xfrm>
        </p:grpSpPr>
        <p:sp>
          <p:nvSpPr>
            <p:cNvPr id="6" name="object 6"/>
            <p:cNvSpPr/>
            <p:nvPr/>
          </p:nvSpPr>
          <p:spPr>
            <a:xfrm>
              <a:off x="2666999" y="3371850"/>
              <a:ext cx="3048000" cy="4248150"/>
            </a:xfrm>
            <a:custGeom>
              <a:avLst/>
              <a:gdLst/>
              <a:ahLst/>
              <a:cxnLst/>
              <a:rect l="l" t="t" r="r" b="b"/>
              <a:pathLst>
                <a:path w="3048000" h="4248150">
                  <a:moveTo>
                    <a:pt x="0" y="4248149"/>
                  </a:moveTo>
                  <a:lnTo>
                    <a:pt x="3047999" y="4248149"/>
                  </a:lnTo>
                  <a:lnTo>
                    <a:pt x="3047999" y="0"/>
                  </a:lnTo>
                  <a:lnTo>
                    <a:pt x="0" y="0"/>
                  </a:lnTo>
                  <a:lnTo>
                    <a:pt x="0" y="42481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666999" y="3238499"/>
              <a:ext cx="3048000" cy="4381500"/>
            </a:xfrm>
            <a:custGeom>
              <a:avLst/>
              <a:gdLst/>
              <a:ahLst/>
              <a:cxnLst/>
              <a:rect l="l" t="t" r="r" b="b"/>
              <a:pathLst>
                <a:path w="3048000" h="4381500">
                  <a:moveTo>
                    <a:pt x="0" y="0"/>
                  </a:moveTo>
                  <a:lnTo>
                    <a:pt x="3047999" y="0"/>
                  </a:lnTo>
                  <a:lnTo>
                    <a:pt x="3047999" y="4381499"/>
                  </a:lnTo>
                  <a:lnTo>
                    <a:pt x="0" y="4381499"/>
                  </a:lnTo>
                  <a:lnTo>
                    <a:pt x="0" y="0"/>
                  </a:lnTo>
                  <a:close/>
                </a:path>
              </a:pathLst>
            </a:custGeom>
            <a:ln w="95249">
              <a:solidFill>
                <a:srgbClr val="1A1A2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666999" y="3238499"/>
              <a:ext cx="3048000" cy="133350"/>
            </a:xfrm>
            <a:custGeom>
              <a:avLst/>
              <a:gdLst/>
              <a:ahLst/>
              <a:cxnLst/>
              <a:rect l="l" t="t" r="r" b="b"/>
              <a:pathLst>
                <a:path w="3048000" h="133350">
                  <a:moveTo>
                    <a:pt x="3047776" y="133350"/>
                  </a:moveTo>
                  <a:lnTo>
                    <a:pt x="0" y="133350"/>
                  </a:lnTo>
                  <a:lnTo>
                    <a:pt x="0" y="0"/>
                  </a:lnTo>
                  <a:lnTo>
                    <a:pt x="3047776" y="0"/>
                  </a:lnTo>
                  <a:lnTo>
                    <a:pt x="3047776" y="133350"/>
                  </a:lnTo>
                  <a:close/>
                </a:path>
              </a:pathLst>
            </a:custGeom>
            <a:solidFill>
              <a:srgbClr val="F693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3118544" y="3993038"/>
            <a:ext cx="2157730" cy="673100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R="5080" algn="ctr">
              <a:lnSpc>
                <a:spcPct val="100000"/>
              </a:lnSpc>
              <a:spcBef>
                <a:spcPts val="670"/>
              </a:spcBef>
            </a:pPr>
            <a:r>
              <a:rPr sz="1650" b="1" spc="50" dirty="0">
                <a:solidFill>
                  <a:srgbClr val="1A1A2E"/>
                </a:solidFill>
                <a:latin typeface="Trebuchet MS"/>
                <a:cs typeface="Trebuchet MS"/>
              </a:rPr>
              <a:t>AVAILABLE</a:t>
            </a:r>
            <a:r>
              <a:rPr sz="1650" b="1" spc="-105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650" b="1" spc="65" dirty="0">
                <a:solidFill>
                  <a:srgbClr val="1A1A2E"/>
                </a:solidFill>
                <a:latin typeface="Trebuchet MS"/>
                <a:cs typeface="Trebuchet MS"/>
              </a:rPr>
              <a:t>BALANCE</a:t>
            </a:r>
            <a:endParaRPr sz="1650">
              <a:latin typeface="Trebuchet MS"/>
              <a:cs typeface="Trebuchet MS"/>
            </a:endParaRPr>
          </a:p>
          <a:p>
            <a:pPr marR="5080" algn="ctr">
              <a:lnSpc>
                <a:spcPct val="100000"/>
              </a:lnSpc>
              <a:spcBef>
                <a:spcPts val="570"/>
              </a:spcBef>
            </a:pPr>
            <a:r>
              <a:rPr sz="1650" b="1" dirty="0">
                <a:solidFill>
                  <a:srgbClr val="1A1A2E"/>
                </a:solidFill>
                <a:latin typeface="Trebuchet MS"/>
                <a:cs typeface="Trebuchet MS"/>
              </a:rPr>
              <a:t>24,500</a:t>
            </a:r>
            <a:r>
              <a:rPr sz="1650" b="1" spc="190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650" b="1" spc="80" dirty="0">
                <a:solidFill>
                  <a:srgbClr val="1A1A2E"/>
                </a:solidFill>
                <a:latin typeface="Trebuchet MS"/>
                <a:cs typeface="Trebuchet MS"/>
              </a:rPr>
              <a:t>sats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459509" y="5036978"/>
            <a:ext cx="1487805" cy="276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650" b="1" spc="70" dirty="0">
                <a:solidFill>
                  <a:srgbClr val="1A1A2E"/>
                </a:solidFill>
                <a:latin typeface="Trebuchet MS"/>
                <a:cs typeface="Trebuchet MS"/>
              </a:rPr>
              <a:t>Open</a:t>
            </a:r>
            <a:r>
              <a:rPr sz="1650" b="1" spc="-95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650" b="1" spc="85" dirty="0">
                <a:solidFill>
                  <a:srgbClr val="1A1A2E"/>
                </a:solidFill>
                <a:latin typeface="Trebuchet MS"/>
                <a:cs typeface="Trebuchet MS"/>
              </a:rPr>
              <a:t>tasks</a:t>
            </a:r>
            <a:r>
              <a:rPr sz="1650" b="1" spc="310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750" b="1" spc="940" dirty="0">
                <a:solidFill>
                  <a:srgbClr val="1A1A2E"/>
                </a:solidFill>
                <a:latin typeface="Arial"/>
                <a:cs typeface="Arial"/>
              </a:rPr>
              <a:t>→</a:t>
            </a:r>
            <a:endParaRPr sz="7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257053" y="7918767"/>
            <a:ext cx="1868170" cy="2882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00" b="1" dirty="0">
                <a:solidFill>
                  <a:srgbClr val="1A1A2E"/>
                </a:solidFill>
                <a:latin typeface="Trebuchet MS"/>
                <a:cs typeface="Trebuchet MS"/>
              </a:rPr>
              <a:t>Youth</a:t>
            </a:r>
            <a:r>
              <a:rPr sz="1700" b="1" spc="130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700" b="1" spc="75" dirty="0">
                <a:solidFill>
                  <a:srgbClr val="1A1A2E"/>
                </a:solidFill>
                <a:latin typeface="Trebuchet MS"/>
                <a:cs typeface="Trebuchet MS"/>
              </a:rPr>
              <a:t>Dashboard</a:t>
            </a:r>
            <a:endParaRPr sz="1700">
              <a:latin typeface="Trebuchet MS"/>
              <a:cs typeface="Trebuchet MS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7572375" y="3190875"/>
            <a:ext cx="3143250" cy="4476750"/>
            <a:chOff x="7572375" y="3190875"/>
            <a:chExt cx="3143250" cy="4476750"/>
          </a:xfrm>
        </p:grpSpPr>
        <p:sp>
          <p:nvSpPr>
            <p:cNvPr id="13" name="object 13"/>
            <p:cNvSpPr/>
            <p:nvPr/>
          </p:nvSpPr>
          <p:spPr>
            <a:xfrm>
              <a:off x="7619999" y="3371850"/>
              <a:ext cx="3048000" cy="4248150"/>
            </a:xfrm>
            <a:custGeom>
              <a:avLst/>
              <a:gdLst/>
              <a:ahLst/>
              <a:cxnLst/>
              <a:rect l="l" t="t" r="r" b="b"/>
              <a:pathLst>
                <a:path w="3048000" h="4248150">
                  <a:moveTo>
                    <a:pt x="0" y="4248149"/>
                  </a:moveTo>
                  <a:lnTo>
                    <a:pt x="3047999" y="4248149"/>
                  </a:lnTo>
                  <a:lnTo>
                    <a:pt x="3047999" y="0"/>
                  </a:lnTo>
                  <a:lnTo>
                    <a:pt x="0" y="0"/>
                  </a:lnTo>
                  <a:lnTo>
                    <a:pt x="0" y="42481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619999" y="3238499"/>
              <a:ext cx="3048000" cy="4381500"/>
            </a:xfrm>
            <a:custGeom>
              <a:avLst/>
              <a:gdLst/>
              <a:ahLst/>
              <a:cxnLst/>
              <a:rect l="l" t="t" r="r" b="b"/>
              <a:pathLst>
                <a:path w="3048000" h="4381500">
                  <a:moveTo>
                    <a:pt x="0" y="0"/>
                  </a:moveTo>
                  <a:lnTo>
                    <a:pt x="3047999" y="0"/>
                  </a:lnTo>
                  <a:lnTo>
                    <a:pt x="3047999" y="4381499"/>
                  </a:lnTo>
                  <a:lnTo>
                    <a:pt x="0" y="4381499"/>
                  </a:lnTo>
                  <a:lnTo>
                    <a:pt x="0" y="0"/>
                  </a:lnTo>
                  <a:close/>
                </a:path>
              </a:pathLst>
            </a:custGeom>
            <a:ln w="95249">
              <a:solidFill>
                <a:srgbClr val="1A1A2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619999" y="3238499"/>
              <a:ext cx="3048000" cy="133350"/>
            </a:xfrm>
            <a:custGeom>
              <a:avLst/>
              <a:gdLst/>
              <a:ahLst/>
              <a:cxnLst/>
              <a:rect l="l" t="t" r="r" b="b"/>
              <a:pathLst>
                <a:path w="3048000" h="133350">
                  <a:moveTo>
                    <a:pt x="3047776" y="133350"/>
                  </a:moveTo>
                  <a:lnTo>
                    <a:pt x="0" y="133350"/>
                  </a:lnTo>
                  <a:lnTo>
                    <a:pt x="0" y="0"/>
                  </a:lnTo>
                  <a:lnTo>
                    <a:pt x="3047776" y="0"/>
                  </a:lnTo>
                  <a:lnTo>
                    <a:pt x="3047776" y="133350"/>
                  </a:lnTo>
                  <a:close/>
                </a:path>
              </a:pathLst>
            </a:custGeom>
            <a:solidFill>
              <a:srgbClr val="F693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8136135" y="3993038"/>
            <a:ext cx="2028825" cy="673100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R="5080" algn="ctr">
              <a:lnSpc>
                <a:spcPct val="100000"/>
              </a:lnSpc>
              <a:spcBef>
                <a:spcPts val="670"/>
              </a:spcBef>
            </a:pPr>
            <a:r>
              <a:rPr sz="1650" b="1" spc="50" dirty="0">
                <a:solidFill>
                  <a:srgbClr val="1A1A2E"/>
                </a:solidFill>
                <a:latin typeface="Trebuchet MS"/>
                <a:cs typeface="Trebuchet MS"/>
              </a:rPr>
              <a:t>TRANSLATION</a:t>
            </a:r>
            <a:r>
              <a:rPr sz="1650" b="1" spc="-95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650" b="1" spc="40" dirty="0">
                <a:solidFill>
                  <a:srgbClr val="1A1A2E"/>
                </a:solidFill>
                <a:latin typeface="Trebuchet MS"/>
                <a:cs typeface="Trebuchet MS"/>
              </a:rPr>
              <a:t>TASK</a:t>
            </a:r>
            <a:endParaRPr sz="1650">
              <a:latin typeface="Trebuchet MS"/>
              <a:cs typeface="Trebuchet MS"/>
            </a:endParaRPr>
          </a:p>
          <a:p>
            <a:pPr marR="5080" algn="ctr">
              <a:lnSpc>
                <a:spcPct val="100000"/>
              </a:lnSpc>
              <a:spcBef>
                <a:spcPts val="570"/>
              </a:spcBef>
            </a:pPr>
            <a:r>
              <a:rPr sz="1650" b="1" spc="50" dirty="0">
                <a:solidFill>
                  <a:srgbClr val="1A1A2E"/>
                </a:solidFill>
                <a:latin typeface="Trebuchet MS"/>
                <a:cs typeface="Trebuchet MS"/>
              </a:rPr>
              <a:t>Due</a:t>
            </a:r>
            <a:r>
              <a:rPr sz="1650" b="1" spc="-105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650" b="1" spc="65" dirty="0">
                <a:solidFill>
                  <a:srgbClr val="1A1A2E"/>
                </a:solidFill>
                <a:latin typeface="Trebuchet MS"/>
                <a:cs typeface="Trebuchet MS"/>
              </a:rPr>
              <a:t>today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525619" y="5036978"/>
            <a:ext cx="1249680" cy="276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650" b="1" spc="90" dirty="0">
                <a:solidFill>
                  <a:srgbClr val="1A1A2E"/>
                </a:solidFill>
                <a:latin typeface="Trebuchet MS"/>
                <a:cs typeface="Trebuchet MS"/>
              </a:rPr>
              <a:t>Accept</a:t>
            </a:r>
            <a:r>
              <a:rPr sz="1650" b="1" spc="-95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650" b="1" spc="50" dirty="0">
                <a:solidFill>
                  <a:srgbClr val="1A1A2E"/>
                </a:solidFill>
                <a:latin typeface="Trebuchet MS"/>
                <a:cs typeface="Trebuchet MS"/>
              </a:rPr>
              <a:t>task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489701" y="7918767"/>
            <a:ext cx="1308735" cy="2882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00" b="1" spc="65" dirty="0">
                <a:solidFill>
                  <a:srgbClr val="1A1A2E"/>
                </a:solidFill>
                <a:latin typeface="Trebuchet MS"/>
                <a:cs typeface="Trebuchet MS"/>
              </a:rPr>
              <a:t>Task</a:t>
            </a:r>
            <a:r>
              <a:rPr sz="1700" b="1" spc="-100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700" b="1" spc="40" dirty="0">
                <a:solidFill>
                  <a:srgbClr val="1A1A2E"/>
                </a:solidFill>
                <a:latin typeface="Trebuchet MS"/>
                <a:cs typeface="Trebuchet MS"/>
              </a:rPr>
              <a:t>Details</a:t>
            </a:r>
            <a:endParaRPr sz="1700">
              <a:latin typeface="Trebuchet MS"/>
              <a:cs typeface="Trebuchet MS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12525374" y="3190875"/>
            <a:ext cx="3143250" cy="4476750"/>
            <a:chOff x="12525374" y="3190875"/>
            <a:chExt cx="3143250" cy="4476750"/>
          </a:xfrm>
        </p:grpSpPr>
        <p:sp>
          <p:nvSpPr>
            <p:cNvPr id="20" name="object 20"/>
            <p:cNvSpPr/>
            <p:nvPr/>
          </p:nvSpPr>
          <p:spPr>
            <a:xfrm>
              <a:off x="12572999" y="3371850"/>
              <a:ext cx="3048000" cy="4248150"/>
            </a:xfrm>
            <a:custGeom>
              <a:avLst/>
              <a:gdLst/>
              <a:ahLst/>
              <a:cxnLst/>
              <a:rect l="l" t="t" r="r" b="b"/>
              <a:pathLst>
                <a:path w="3048000" h="4248150">
                  <a:moveTo>
                    <a:pt x="0" y="4248149"/>
                  </a:moveTo>
                  <a:lnTo>
                    <a:pt x="3047999" y="4248149"/>
                  </a:lnTo>
                  <a:lnTo>
                    <a:pt x="3047999" y="0"/>
                  </a:lnTo>
                  <a:lnTo>
                    <a:pt x="0" y="0"/>
                  </a:lnTo>
                  <a:lnTo>
                    <a:pt x="0" y="42481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2572999" y="3238499"/>
              <a:ext cx="3048000" cy="4381500"/>
            </a:xfrm>
            <a:custGeom>
              <a:avLst/>
              <a:gdLst/>
              <a:ahLst/>
              <a:cxnLst/>
              <a:rect l="l" t="t" r="r" b="b"/>
              <a:pathLst>
                <a:path w="3048000" h="4381500">
                  <a:moveTo>
                    <a:pt x="0" y="0"/>
                  </a:moveTo>
                  <a:lnTo>
                    <a:pt x="3047999" y="0"/>
                  </a:lnTo>
                  <a:lnTo>
                    <a:pt x="3047999" y="4381499"/>
                  </a:lnTo>
                  <a:lnTo>
                    <a:pt x="0" y="4381499"/>
                  </a:lnTo>
                  <a:lnTo>
                    <a:pt x="0" y="0"/>
                  </a:lnTo>
                  <a:close/>
                </a:path>
              </a:pathLst>
            </a:custGeom>
            <a:ln w="95249">
              <a:solidFill>
                <a:srgbClr val="1A1A2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2572999" y="3238499"/>
              <a:ext cx="3048000" cy="133350"/>
            </a:xfrm>
            <a:custGeom>
              <a:avLst/>
              <a:gdLst/>
              <a:ahLst/>
              <a:cxnLst/>
              <a:rect l="l" t="t" r="r" b="b"/>
              <a:pathLst>
                <a:path w="3048000" h="133350">
                  <a:moveTo>
                    <a:pt x="3047776" y="133350"/>
                  </a:moveTo>
                  <a:lnTo>
                    <a:pt x="0" y="133350"/>
                  </a:lnTo>
                  <a:lnTo>
                    <a:pt x="0" y="0"/>
                  </a:lnTo>
                  <a:lnTo>
                    <a:pt x="3047776" y="0"/>
                  </a:lnTo>
                  <a:lnTo>
                    <a:pt x="3047776" y="133350"/>
                  </a:lnTo>
                  <a:close/>
                </a:path>
              </a:pathLst>
            </a:custGeom>
            <a:solidFill>
              <a:srgbClr val="F693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13079313" y="3993038"/>
            <a:ext cx="2047875" cy="673100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R="5080" algn="ctr">
              <a:lnSpc>
                <a:spcPct val="100000"/>
              </a:lnSpc>
              <a:spcBef>
                <a:spcPts val="670"/>
              </a:spcBef>
            </a:pPr>
            <a:r>
              <a:rPr sz="1650" b="1" spc="60" dirty="0">
                <a:solidFill>
                  <a:srgbClr val="F6931A"/>
                </a:solidFill>
                <a:latin typeface="Trebuchet MS"/>
                <a:cs typeface="Trebuchet MS"/>
              </a:rPr>
              <a:t>PAYMENT</a:t>
            </a:r>
            <a:r>
              <a:rPr sz="1650" b="1" spc="-95" dirty="0">
                <a:solidFill>
                  <a:srgbClr val="F6931A"/>
                </a:solidFill>
                <a:latin typeface="Trebuchet MS"/>
                <a:cs typeface="Trebuchet MS"/>
              </a:rPr>
              <a:t> </a:t>
            </a:r>
            <a:r>
              <a:rPr sz="1650" b="1" spc="45" dirty="0">
                <a:solidFill>
                  <a:srgbClr val="F6931A"/>
                </a:solidFill>
                <a:latin typeface="Trebuchet MS"/>
                <a:cs typeface="Trebuchet MS"/>
              </a:rPr>
              <a:t>RECEIVED</a:t>
            </a:r>
            <a:endParaRPr sz="1650">
              <a:latin typeface="Trebuchet MS"/>
              <a:cs typeface="Trebuchet MS"/>
            </a:endParaRPr>
          </a:p>
          <a:p>
            <a:pPr marR="4445" algn="ctr">
              <a:lnSpc>
                <a:spcPct val="100000"/>
              </a:lnSpc>
              <a:spcBef>
                <a:spcPts val="570"/>
              </a:spcBef>
            </a:pPr>
            <a:r>
              <a:rPr sz="1650" b="1" dirty="0">
                <a:solidFill>
                  <a:srgbClr val="F6931A"/>
                </a:solidFill>
                <a:latin typeface="Trebuchet MS"/>
                <a:cs typeface="Trebuchet MS"/>
              </a:rPr>
              <a:t>+</a:t>
            </a:r>
            <a:r>
              <a:rPr sz="1650" b="1" spc="-95" dirty="0">
                <a:solidFill>
                  <a:srgbClr val="F6931A"/>
                </a:solidFill>
                <a:latin typeface="Trebuchet MS"/>
                <a:cs typeface="Trebuchet MS"/>
              </a:rPr>
              <a:t> </a:t>
            </a:r>
            <a:r>
              <a:rPr sz="1650" b="1" spc="-50" dirty="0">
                <a:solidFill>
                  <a:srgbClr val="F6931A"/>
                </a:solidFill>
                <a:latin typeface="Trebuchet MS"/>
                <a:cs typeface="Trebuchet MS"/>
              </a:rPr>
              <a:t>1,200</a:t>
            </a:r>
            <a:r>
              <a:rPr sz="1650" b="1" spc="-90" dirty="0">
                <a:solidFill>
                  <a:srgbClr val="F6931A"/>
                </a:solidFill>
                <a:latin typeface="Trebuchet MS"/>
                <a:cs typeface="Trebuchet MS"/>
              </a:rPr>
              <a:t> </a:t>
            </a:r>
            <a:r>
              <a:rPr sz="1650" b="1" spc="80" dirty="0">
                <a:solidFill>
                  <a:srgbClr val="F6931A"/>
                </a:solidFill>
                <a:latin typeface="Trebuchet MS"/>
                <a:cs typeface="Trebuchet MS"/>
              </a:rPr>
              <a:t>sats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5"/>
              </a:lnSpc>
              <a:tabLst>
                <a:tab pos="756285" algn="l"/>
              </a:tabLst>
            </a:pPr>
            <a:r>
              <a:rPr spc="130" dirty="0"/>
              <a:t>KAZI</a:t>
            </a:r>
            <a:r>
              <a:rPr spc="-250" dirty="0"/>
              <a:t> </a:t>
            </a:r>
            <a:r>
              <a:rPr sz="1450" b="0" spc="705" dirty="0">
                <a:latin typeface="Segoe UI Symbol"/>
                <a:cs typeface="Segoe UI Symbol"/>
              </a:rPr>
              <a:t>⚡</a:t>
            </a:r>
            <a:r>
              <a:rPr sz="1450" b="0" dirty="0">
                <a:latin typeface="Segoe UI Symbol"/>
                <a:cs typeface="Segoe UI Symbol"/>
              </a:rPr>
              <a:t>	</a:t>
            </a:r>
            <a:r>
              <a:rPr dirty="0"/>
              <a:t>•</a:t>
            </a:r>
            <a:r>
              <a:rPr spc="440" dirty="0"/>
              <a:t> </a:t>
            </a:r>
            <a:r>
              <a:rPr spc="120" dirty="0"/>
              <a:t>2026</a:t>
            </a:r>
            <a:endParaRPr sz="1450">
              <a:latin typeface="Segoe UI Symbol"/>
              <a:cs typeface="Segoe UI Symbol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pc="165" dirty="0"/>
              <a:t>09</a:t>
            </a:r>
            <a:r>
              <a:rPr spc="204" dirty="0"/>
              <a:t> </a:t>
            </a:r>
            <a:r>
              <a:rPr dirty="0"/>
              <a:t>/</a:t>
            </a:r>
            <a:r>
              <a:rPr spc="210" dirty="0"/>
              <a:t> </a:t>
            </a:r>
            <a:r>
              <a:rPr spc="-65" dirty="0"/>
              <a:t>12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13251656" y="5036978"/>
            <a:ext cx="1703705" cy="276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650" b="1" spc="45" dirty="0">
                <a:solidFill>
                  <a:srgbClr val="F6931A"/>
                </a:solidFill>
                <a:latin typeface="Trebuchet MS"/>
                <a:cs typeface="Trebuchet MS"/>
              </a:rPr>
              <a:t>Settled</a:t>
            </a:r>
            <a:r>
              <a:rPr sz="1650" b="1" spc="-105" dirty="0">
                <a:solidFill>
                  <a:srgbClr val="F6931A"/>
                </a:solidFill>
                <a:latin typeface="Trebuchet MS"/>
                <a:cs typeface="Trebuchet MS"/>
              </a:rPr>
              <a:t> </a:t>
            </a:r>
            <a:r>
              <a:rPr sz="1650" b="1" spc="-10" dirty="0">
                <a:solidFill>
                  <a:srgbClr val="F6931A"/>
                </a:solidFill>
                <a:latin typeface="Trebuchet MS"/>
                <a:cs typeface="Trebuchet MS"/>
              </a:rPr>
              <a:t>instantly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2882363" y="7918767"/>
            <a:ext cx="2429510" cy="2882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00" b="1" spc="70" dirty="0">
                <a:solidFill>
                  <a:srgbClr val="1A1A2E"/>
                </a:solidFill>
                <a:latin typeface="Trebuchet MS"/>
                <a:cs typeface="Trebuchet MS"/>
              </a:rPr>
              <a:t>Payment</a:t>
            </a:r>
            <a:r>
              <a:rPr sz="1700" b="1" spc="-75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700" b="1" spc="35" dirty="0">
                <a:solidFill>
                  <a:srgbClr val="1A1A2E"/>
                </a:solidFill>
                <a:latin typeface="Trebuchet MS"/>
                <a:cs typeface="Trebuchet MS"/>
              </a:rPr>
              <a:t>Confirmation</a:t>
            </a:r>
            <a:endParaRPr sz="17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54100" y="654050"/>
            <a:ext cx="202565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50" dirty="0">
                <a:solidFill>
                  <a:srgbClr val="1A1A2E"/>
                </a:solidFill>
                <a:latin typeface="Trebuchet MS"/>
                <a:cs typeface="Trebuchet MS"/>
              </a:rPr>
              <a:t>B</a:t>
            </a:r>
            <a:r>
              <a:rPr sz="1500" b="1" spc="-215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500" b="1" dirty="0">
                <a:solidFill>
                  <a:srgbClr val="1A1A2E"/>
                </a:solidFill>
                <a:latin typeface="Trebuchet MS"/>
                <a:cs typeface="Trebuchet MS"/>
              </a:rPr>
              <a:t>U</a:t>
            </a:r>
            <a:r>
              <a:rPr sz="1500" b="1" spc="-210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500" b="1" spc="125" dirty="0">
                <a:solidFill>
                  <a:srgbClr val="1A1A2E"/>
                </a:solidFill>
                <a:latin typeface="Trebuchet MS"/>
                <a:cs typeface="Trebuchet MS"/>
              </a:rPr>
              <a:t>S</a:t>
            </a:r>
            <a:r>
              <a:rPr sz="1500" b="1" spc="-210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500" b="1" spc="-25" dirty="0">
                <a:solidFill>
                  <a:srgbClr val="1A1A2E"/>
                </a:solidFill>
                <a:latin typeface="Trebuchet MS"/>
                <a:cs typeface="Trebuchet MS"/>
              </a:rPr>
              <a:t>I</a:t>
            </a:r>
            <a:r>
              <a:rPr sz="1500" b="1" spc="-210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500" b="1" spc="80" dirty="0">
                <a:solidFill>
                  <a:srgbClr val="1A1A2E"/>
                </a:solidFill>
                <a:latin typeface="Trebuchet MS"/>
                <a:cs typeface="Trebuchet MS"/>
              </a:rPr>
              <a:t>N</a:t>
            </a:r>
            <a:r>
              <a:rPr sz="1500" b="1" spc="-210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500" b="1" dirty="0">
                <a:solidFill>
                  <a:srgbClr val="1A1A2E"/>
                </a:solidFill>
                <a:latin typeface="Trebuchet MS"/>
                <a:cs typeface="Trebuchet MS"/>
              </a:rPr>
              <a:t>E</a:t>
            </a:r>
            <a:r>
              <a:rPr sz="1500" b="1" spc="-210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500" b="1" spc="125" dirty="0">
                <a:solidFill>
                  <a:srgbClr val="1A1A2E"/>
                </a:solidFill>
                <a:latin typeface="Trebuchet MS"/>
                <a:cs typeface="Trebuchet MS"/>
              </a:rPr>
              <a:t>S</a:t>
            </a:r>
            <a:r>
              <a:rPr sz="1500" b="1" spc="-210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500" b="1" spc="125" dirty="0">
                <a:solidFill>
                  <a:srgbClr val="1A1A2E"/>
                </a:solidFill>
                <a:latin typeface="Trebuchet MS"/>
                <a:cs typeface="Trebuchet MS"/>
              </a:rPr>
              <a:t>S</a:t>
            </a:r>
            <a:r>
              <a:rPr sz="1500" b="1" spc="395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500" b="1" spc="210" dirty="0">
                <a:solidFill>
                  <a:srgbClr val="1A1A2E"/>
                </a:solidFill>
                <a:latin typeface="Trebuchet MS"/>
                <a:cs typeface="Trebuchet MS"/>
              </a:rPr>
              <a:t>M</a:t>
            </a:r>
            <a:r>
              <a:rPr sz="1500" b="1" spc="-210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500" b="1" spc="135" dirty="0">
                <a:solidFill>
                  <a:srgbClr val="1A1A2E"/>
                </a:solidFill>
                <a:latin typeface="Trebuchet MS"/>
                <a:cs typeface="Trebuchet MS"/>
              </a:rPr>
              <a:t>O</a:t>
            </a:r>
            <a:r>
              <a:rPr sz="1500" b="1" spc="-210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500" b="1" spc="95" dirty="0">
                <a:solidFill>
                  <a:srgbClr val="1A1A2E"/>
                </a:solidFill>
                <a:latin typeface="Trebuchet MS"/>
                <a:cs typeface="Trebuchet MS"/>
              </a:rPr>
              <a:t>D</a:t>
            </a:r>
            <a:r>
              <a:rPr sz="1500" b="1" spc="-215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500" b="1" dirty="0">
                <a:solidFill>
                  <a:srgbClr val="1A1A2E"/>
                </a:solidFill>
                <a:latin typeface="Trebuchet MS"/>
                <a:cs typeface="Trebuchet MS"/>
              </a:rPr>
              <a:t>E</a:t>
            </a:r>
            <a:r>
              <a:rPr sz="1500" b="1" spc="-210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500" b="1" spc="-50" dirty="0">
                <a:solidFill>
                  <a:srgbClr val="1A1A2E"/>
                </a:solidFill>
                <a:latin typeface="Trebuchet MS"/>
                <a:cs typeface="Trebuchet MS"/>
              </a:rPr>
              <a:t>L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95" dirty="0"/>
              <a:t>How</a:t>
            </a:r>
            <a:r>
              <a:rPr spc="-5" dirty="0"/>
              <a:t> </a:t>
            </a:r>
            <a:r>
              <a:rPr spc="605" dirty="0"/>
              <a:t>Kazi</a:t>
            </a:r>
            <a:r>
              <a:rPr sz="5850" b="0" spc="605" dirty="0">
                <a:latin typeface="Segoe UI Symbol"/>
                <a:cs typeface="Segoe UI Symbol"/>
              </a:rPr>
              <a:t>⚡</a:t>
            </a:r>
            <a:r>
              <a:rPr sz="5850" b="0" spc="110" dirty="0">
                <a:latin typeface="Segoe UI Symbol"/>
                <a:cs typeface="Segoe UI Symbol"/>
              </a:rPr>
              <a:t> </a:t>
            </a:r>
            <a:r>
              <a:rPr dirty="0"/>
              <a:t>makes </a:t>
            </a:r>
            <a:r>
              <a:rPr spc="-10" dirty="0"/>
              <a:t>money.</a:t>
            </a:r>
            <a:endParaRPr sz="5850">
              <a:latin typeface="Segoe UI Symbol"/>
              <a:cs typeface="Segoe UI Symbo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66800" y="9582150"/>
            <a:ext cx="16154400" cy="0"/>
          </a:xfrm>
          <a:custGeom>
            <a:avLst/>
            <a:gdLst/>
            <a:ahLst/>
            <a:cxnLst/>
            <a:rect l="l" t="t" r="r" b="b"/>
            <a:pathLst>
              <a:path w="16154400">
                <a:moveTo>
                  <a:pt x="0" y="0"/>
                </a:moveTo>
                <a:lnTo>
                  <a:pt x="16154398" y="0"/>
                </a:lnTo>
              </a:path>
            </a:pathLst>
          </a:custGeom>
          <a:ln w="9524">
            <a:solidFill>
              <a:srgbClr val="D9D9D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66800" y="3048000"/>
            <a:ext cx="4953000" cy="2857500"/>
          </a:xfrm>
          <a:prstGeom prst="rect">
            <a:avLst/>
          </a:prstGeom>
          <a:solidFill>
            <a:srgbClr val="FFFFFF"/>
          </a:solidFill>
          <a:ln w="19049">
            <a:solidFill>
              <a:srgbClr val="D9D9D4"/>
            </a:solidFill>
          </a:ln>
        </p:spPr>
        <p:txBody>
          <a:bodyPr vert="horz" wrap="square" lIns="0" tIns="287655" rIns="0" bIns="0" rtlCol="0">
            <a:spAutoFit/>
          </a:bodyPr>
          <a:lstStyle/>
          <a:p>
            <a:pPr marL="285115">
              <a:lnSpc>
                <a:spcPct val="100000"/>
              </a:lnSpc>
              <a:spcBef>
                <a:spcPts val="2265"/>
              </a:spcBef>
            </a:pPr>
            <a:r>
              <a:rPr sz="2300" b="1" dirty="0">
                <a:solidFill>
                  <a:srgbClr val="1A1A2E"/>
                </a:solidFill>
                <a:latin typeface="Cambria"/>
                <a:cs typeface="Cambria"/>
              </a:rPr>
              <a:t>Businesses</a:t>
            </a:r>
            <a:r>
              <a:rPr sz="2300" b="1" spc="75" dirty="0">
                <a:solidFill>
                  <a:srgbClr val="1A1A2E"/>
                </a:solidFill>
                <a:latin typeface="Cambria"/>
                <a:cs typeface="Cambria"/>
              </a:rPr>
              <a:t> </a:t>
            </a:r>
            <a:r>
              <a:rPr sz="2300" b="1" spc="370" dirty="0">
                <a:solidFill>
                  <a:srgbClr val="1A1A2E"/>
                </a:solidFill>
                <a:latin typeface="Cambria"/>
                <a:cs typeface="Cambria"/>
              </a:rPr>
              <a:t>&amp;</a:t>
            </a:r>
            <a:r>
              <a:rPr sz="2300" b="1" spc="80" dirty="0">
                <a:solidFill>
                  <a:srgbClr val="1A1A2E"/>
                </a:solidFill>
                <a:latin typeface="Cambria"/>
                <a:cs typeface="Cambria"/>
              </a:rPr>
              <a:t> </a:t>
            </a:r>
            <a:r>
              <a:rPr sz="2300" b="1" spc="-10" dirty="0">
                <a:solidFill>
                  <a:srgbClr val="1A1A2E"/>
                </a:solidFill>
                <a:latin typeface="Cambria"/>
                <a:cs typeface="Cambria"/>
              </a:rPr>
              <a:t>Clients</a:t>
            </a:r>
            <a:endParaRPr sz="2300">
              <a:latin typeface="Cambria"/>
              <a:cs typeface="Cambria"/>
            </a:endParaRPr>
          </a:p>
          <a:p>
            <a:pPr marL="285115" marR="2646045">
              <a:lnSpc>
                <a:spcPct val="129000"/>
              </a:lnSpc>
              <a:spcBef>
                <a:spcPts val="1835"/>
              </a:spcBef>
            </a:pPr>
            <a:r>
              <a:rPr sz="1550" spc="10" dirty="0">
                <a:solidFill>
                  <a:srgbClr val="696975"/>
                </a:solidFill>
                <a:latin typeface="Trebuchet MS"/>
                <a:cs typeface="Trebuchet MS"/>
              </a:rPr>
              <a:t>Transaction</a:t>
            </a:r>
            <a:r>
              <a:rPr sz="1550" spc="254" dirty="0">
                <a:solidFill>
                  <a:srgbClr val="696975"/>
                </a:solidFill>
                <a:latin typeface="Trebuchet MS"/>
                <a:cs typeface="Trebuchet MS"/>
              </a:rPr>
              <a:t> </a:t>
            </a:r>
            <a:r>
              <a:rPr sz="1550" spc="-20" dirty="0">
                <a:solidFill>
                  <a:srgbClr val="696975"/>
                </a:solidFill>
                <a:latin typeface="Trebuchet MS"/>
                <a:cs typeface="Trebuchet MS"/>
              </a:rPr>
              <a:t>fees </a:t>
            </a:r>
            <a:r>
              <a:rPr sz="1550" dirty="0">
                <a:solidFill>
                  <a:srgbClr val="696975"/>
                </a:solidFill>
                <a:latin typeface="Trebuchet MS"/>
                <a:cs typeface="Trebuchet MS"/>
              </a:rPr>
              <a:t>Featured</a:t>
            </a:r>
            <a:r>
              <a:rPr sz="1550" spc="215" dirty="0">
                <a:solidFill>
                  <a:srgbClr val="696975"/>
                </a:solidFill>
                <a:latin typeface="Trebuchet MS"/>
                <a:cs typeface="Trebuchet MS"/>
              </a:rPr>
              <a:t> </a:t>
            </a:r>
            <a:r>
              <a:rPr sz="1550" spc="-10" dirty="0">
                <a:solidFill>
                  <a:srgbClr val="696975"/>
                </a:solidFill>
                <a:latin typeface="Trebuchet MS"/>
                <a:cs typeface="Trebuchet MS"/>
              </a:rPr>
              <a:t>listings </a:t>
            </a:r>
            <a:r>
              <a:rPr sz="1550" dirty="0">
                <a:solidFill>
                  <a:srgbClr val="696975"/>
                </a:solidFill>
                <a:latin typeface="Trebuchet MS"/>
                <a:cs typeface="Trebuchet MS"/>
              </a:rPr>
              <a:t>Verified</a:t>
            </a:r>
            <a:r>
              <a:rPr sz="1550" spc="10" dirty="0">
                <a:solidFill>
                  <a:srgbClr val="696975"/>
                </a:solidFill>
                <a:latin typeface="Trebuchet MS"/>
                <a:cs typeface="Trebuchet MS"/>
              </a:rPr>
              <a:t> </a:t>
            </a:r>
            <a:r>
              <a:rPr sz="1550" dirty="0">
                <a:solidFill>
                  <a:srgbClr val="696975"/>
                </a:solidFill>
                <a:latin typeface="Trebuchet MS"/>
                <a:cs typeface="Trebuchet MS"/>
              </a:rPr>
              <a:t>talent</a:t>
            </a:r>
            <a:r>
              <a:rPr sz="1550" spc="15" dirty="0">
                <a:solidFill>
                  <a:srgbClr val="696975"/>
                </a:solidFill>
                <a:latin typeface="Trebuchet MS"/>
                <a:cs typeface="Trebuchet MS"/>
              </a:rPr>
              <a:t> </a:t>
            </a:r>
            <a:r>
              <a:rPr sz="1550" spc="95" dirty="0">
                <a:solidFill>
                  <a:srgbClr val="696975"/>
                </a:solidFill>
                <a:latin typeface="Trebuchet MS"/>
                <a:cs typeface="Trebuchet MS"/>
              </a:rPr>
              <a:t>access </a:t>
            </a:r>
            <a:r>
              <a:rPr sz="1550" dirty="0">
                <a:solidFill>
                  <a:srgbClr val="696975"/>
                </a:solidFill>
                <a:latin typeface="Trebuchet MS"/>
                <a:cs typeface="Trebuchet MS"/>
              </a:rPr>
              <a:t>Bulk</a:t>
            </a:r>
            <a:r>
              <a:rPr sz="1550" spc="-55" dirty="0">
                <a:solidFill>
                  <a:srgbClr val="696975"/>
                </a:solidFill>
                <a:latin typeface="Trebuchet MS"/>
                <a:cs typeface="Trebuchet MS"/>
              </a:rPr>
              <a:t> </a:t>
            </a:r>
            <a:r>
              <a:rPr sz="1550" spc="55" dirty="0">
                <a:solidFill>
                  <a:srgbClr val="696975"/>
                </a:solidFill>
                <a:latin typeface="Trebuchet MS"/>
                <a:cs typeface="Trebuchet MS"/>
              </a:rPr>
              <a:t>subscriptions</a:t>
            </a:r>
            <a:endParaRPr sz="155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438899" y="3048000"/>
            <a:ext cx="4953000" cy="2857500"/>
          </a:xfrm>
          <a:prstGeom prst="rect">
            <a:avLst/>
          </a:prstGeom>
          <a:solidFill>
            <a:srgbClr val="FFFFFF"/>
          </a:solidFill>
          <a:ln w="19049">
            <a:solidFill>
              <a:srgbClr val="D9D9D4"/>
            </a:solidFill>
          </a:ln>
        </p:spPr>
        <p:txBody>
          <a:bodyPr vert="horz" wrap="square" lIns="0" tIns="287655" rIns="0" bIns="0" rtlCol="0">
            <a:spAutoFit/>
          </a:bodyPr>
          <a:lstStyle/>
          <a:p>
            <a:pPr marL="285115">
              <a:lnSpc>
                <a:spcPct val="100000"/>
              </a:lnSpc>
              <a:spcBef>
                <a:spcPts val="2265"/>
              </a:spcBef>
            </a:pPr>
            <a:r>
              <a:rPr sz="2300" b="1" spc="-10" dirty="0">
                <a:solidFill>
                  <a:srgbClr val="F6931A"/>
                </a:solidFill>
                <a:latin typeface="Cambria"/>
                <a:cs typeface="Cambria"/>
              </a:rPr>
              <a:t>Advertising</a:t>
            </a:r>
            <a:endParaRPr sz="2300">
              <a:latin typeface="Cambria"/>
              <a:cs typeface="Cambria"/>
            </a:endParaRPr>
          </a:p>
          <a:p>
            <a:pPr marL="285115">
              <a:lnSpc>
                <a:spcPct val="100000"/>
              </a:lnSpc>
              <a:spcBef>
                <a:spcPts val="2375"/>
              </a:spcBef>
            </a:pPr>
            <a:r>
              <a:rPr sz="1550" dirty="0">
                <a:solidFill>
                  <a:srgbClr val="696975"/>
                </a:solidFill>
                <a:latin typeface="Trebuchet MS"/>
                <a:cs typeface="Trebuchet MS"/>
              </a:rPr>
              <a:t>Banner</a:t>
            </a:r>
            <a:r>
              <a:rPr sz="1550" spc="140" dirty="0">
                <a:solidFill>
                  <a:srgbClr val="696975"/>
                </a:solidFill>
                <a:latin typeface="Trebuchet MS"/>
                <a:cs typeface="Trebuchet MS"/>
              </a:rPr>
              <a:t> </a:t>
            </a:r>
            <a:r>
              <a:rPr sz="1550" spc="80" dirty="0">
                <a:solidFill>
                  <a:srgbClr val="696975"/>
                </a:solidFill>
                <a:latin typeface="Trebuchet MS"/>
                <a:cs typeface="Trebuchet MS"/>
              </a:rPr>
              <a:t>ads</a:t>
            </a:r>
            <a:endParaRPr sz="1550">
              <a:latin typeface="Trebuchet MS"/>
              <a:cs typeface="Trebuchet MS"/>
            </a:endParaRPr>
          </a:p>
          <a:p>
            <a:pPr marL="285115" marR="2185670">
              <a:lnSpc>
                <a:spcPct val="129000"/>
              </a:lnSpc>
            </a:pPr>
            <a:r>
              <a:rPr sz="1550" spc="85" dirty="0">
                <a:solidFill>
                  <a:srgbClr val="696975"/>
                </a:solidFill>
                <a:latin typeface="Trebuchet MS"/>
                <a:cs typeface="Trebuchet MS"/>
              </a:rPr>
              <a:t>Sponsored</a:t>
            </a:r>
            <a:r>
              <a:rPr sz="1550" spc="60" dirty="0">
                <a:solidFill>
                  <a:srgbClr val="696975"/>
                </a:solidFill>
                <a:latin typeface="Trebuchet MS"/>
                <a:cs typeface="Trebuchet MS"/>
              </a:rPr>
              <a:t> </a:t>
            </a:r>
            <a:r>
              <a:rPr sz="1550" dirty="0">
                <a:solidFill>
                  <a:srgbClr val="696975"/>
                </a:solidFill>
                <a:latin typeface="Trebuchet MS"/>
                <a:cs typeface="Trebuchet MS"/>
              </a:rPr>
              <a:t>task</a:t>
            </a:r>
            <a:r>
              <a:rPr sz="1550" spc="60" dirty="0">
                <a:solidFill>
                  <a:srgbClr val="696975"/>
                </a:solidFill>
                <a:latin typeface="Trebuchet MS"/>
                <a:cs typeface="Trebuchet MS"/>
              </a:rPr>
              <a:t> </a:t>
            </a:r>
            <a:r>
              <a:rPr sz="1550" spc="35" dirty="0">
                <a:solidFill>
                  <a:srgbClr val="696975"/>
                </a:solidFill>
                <a:latin typeface="Trebuchet MS"/>
                <a:cs typeface="Trebuchet MS"/>
              </a:rPr>
              <a:t>categories </a:t>
            </a:r>
            <a:r>
              <a:rPr sz="1550" spc="130" dirty="0">
                <a:solidFill>
                  <a:srgbClr val="696975"/>
                </a:solidFill>
                <a:latin typeface="Trebuchet MS"/>
                <a:cs typeface="Trebuchet MS"/>
              </a:rPr>
              <a:t>Opt-</a:t>
            </a:r>
            <a:r>
              <a:rPr sz="1550" dirty="0">
                <a:solidFill>
                  <a:srgbClr val="696975"/>
                </a:solidFill>
                <a:latin typeface="Trebuchet MS"/>
                <a:cs typeface="Trebuchet MS"/>
              </a:rPr>
              <a:t>in</a:t>
            </a:r>
            <a:r>
              <a:rPr sz="1550" spc="-70" dirty="0">
                <a:solidFill>
                  <a:srgbClr val="696975"/>
                </a:solidFill>
                <a:latin typeface="Trebuchet MS"/>
                <a:cs typeface="Trebuchet MS"/>
              </a:rPr>
              <a:t> </a:t>
            </a:r>
            <a:r>
              <a:rPr sz="1550" spc="-10" dirty="0">
                <a:solidFill>
                  <a:srgbClr val="696975"/>
                </a:solidFill>
                <a:latin typeface="Trebuchet MS"/>
                <a:cs typeface="Trebuchet MS"/>
              </a:rPr>
              <a:t>offers</a:t>
            </a:r>
            <a:endParaRPr sz="155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810999" y="3048000"/>
            <a:ext cx="4953000" cy="2857500"/>
          </a:xfrm>
          <a:prstGeom prst="rect">
            <a:avLst/>
          </a:prstGeom>
          <a:solidFill>
            <a:srgbClr val="FFFFFF"/>
          </a:solidFill>
          <a:ln w="19049">
            <a:solidFill>
              <a:srgbClr val="D9D9D4"/>
            </a:solidFill>
          </a:ln>
        </p:spPr>
        <p:txBody>
          <a:bodyPr vert="horz" wrap="square" lIns="0" tIns="287655" rIns="0" bIns="0" rtlCol="0">
            <a:spAutoFit/>
          </a:bodyPr>
          <a:lstStyle/>
          <a:p>
            <a:pPr marL="285115">
              <a:lnSpc>
                <a:spcPct val="100000"/>
              </a:lnSpc>
              <a:spcBef>
                <a:spcPts val="2265"/>
              </a:spcBef>
            </a:pPr>
            <a:r>
              <a:rPr sz="2300" b="1" dirty="0">
                <a:solidFill>
                  <a:srgbClr val="1A1A2E"/>
                </a:solidFill>
                <a:latin typeface="Cambria"/>
                <a:cs typeface="Cambria"/>
              </a:rPr>
              <a:t>Youth</a:t>
            </a:r>
            <a:r>
              <a:rPr sz="2300" b="1" spc="75" dirty="0">
                <a:solidFill>
                  <a:srgbClr val="1A1A2E"/>
                </a:solidFill>
                <a:latin typeface="Cambria"/>
                <a:cs typeface="Cambria"/>
              </a:rPr>
              <a:t> </a:t>
            </a:r>
            <a:r>
              <a:rPr sz="2300" b="1" spc="-315" dirty="0">
                <a:solidFill>
                  <a:srgbClr val="1A1A2E"/>
                </a:solidFill>
                <a:latin typeface="Cambria"/>
                <a:cs typeface="Cambria"/>
              </a:rPr>
              <a:t>/</a:t>
            </a:r>
            <a:r>
              <a:rPr sz="2300" b="1" spc="80" dirty="0">
                <a:solidFill>
                  <a:srgbClr val="1A1A2E"/>
                </a:solidFill>
                <a:latin typeface="Cambria"/>
                <a:cs typeface="Cambria"/>
              </a:rPr>
              <a:t> </a:t>
            </a:r>
            <a:r>
              <a:rPr sz="2300" b="1" spc="-10" dirty="0">
                <a:solidFill>
                  <a:srgbClr val="1A1A2E"/>
                </a:solidFill>
                <a:latin typeface="Cambria"/>
                <a:cs typeface="Cambria"/>
              </a:rPr>
              <a:t>Workers</a:t>
            </a:r>
            <a:endParaRPr sz="2300">
              <a:latin typeface="Cambria"/>
              <a:cs typeface="Cambria"/>
            </a:endParaRPr>
          </a:p>
          <a:p>
            <a:pPr marL="285115" marR="2170430">
              <a:lnSpc>
                <a:spcPct val="129000"/>
              </a:lnSpc>
              <a:spcBef>
                <a:spcPts val="1835"/>
              </a:spcBef>
            </a:pPr>
            <a:r>
              <a:rPr sz="1550" dirty="0">
                <a:solidFill>
                  <a:srgbClr val="696975"/>
                </a:solidFill>
                <a:latin typeface="Trebuchet MS"/>
                <a:cs typeface="Trebuchet MS"/>
              </a:rPr>
              <a:t>Free</a:t>
            </a:r>
            <a:r>
              <a:rPr sz="1550" spc="-20" dirty="0">
                <a:solidFill>
                  <a:srgbClr val="696975"/>
                </a:solidFill>
                <a:latin typeface="Trebuchet MS"/>
                <a:cs typeface="Trebuchet MS"/>
              </a:rPr>
              <a:t> </a:t>
            </a:r>
            <a:r>
              <a:rPr sz="1550" spc="75" dirty="0">
                <a:solidFill>
                  <a:srgbClr val="696975"/>
                </a:solidFill>
                <a:latin typeface="Trebuchet MS"/>
                <a:cs typeface="Trebuchet MS"/>
              </a:rPr>
              <a:t>basic</a:t>
            </a:r>
            <a:r>
              <a:rPr sz="1550" spc="-20" dirty="0">
                <a:solidFill>
                  <a:srgbClr val="696975"/>
                </a:solidFill>
                <a:latin typeface="Trebuchet MS"/>
                <a:cs typeface="Trebuchet MS"/>
              </a:rPr>
              <a:t> </a:t>
            </a:r>
            <a:r>
              <a:rPr sz="1550" spc="105" dirty="0">
                <a:solidFill>
                  <a:srgbClr val="696975"/>
                </a:solidFill>
                <a:latin typeface="Trebuchet MS"/>
                <a:cs typeface="Trebuchet MS"/>
              </a:rPr>
              <a:t>access</a:t>
            </a:r>
            <a:r>
              <a:rPr sz="1550" spc="-15" dirty="0">
                <a:solidFill>
                  <a:srgbClr val="696975"/>
                </a:solidFill>
                <a:latin typeface="Trebuchet MS"/>
                <a:cs typeface="Trebuchet MS"/>
              </a:rPr>
              <a:t> </a:t>
            </a:r>
            <a:r>
              <a:rPr sz="1550" dirty="0">
                <a:solidFill>
                  <a:srgbClr val="696975"/>
                </a:solidFill>
                <a:latin typeface="Trebuchet MS"/>
                <a:cs typeface="Trebuchet MS"/>
              </a:rPr>
              <a:t>with</a:t>
            </a:r>
            <a:r>
              <a:rPr sz="1550" spc="-20" dirty="0">
                <a:solidFill>
                  <a:srgbClr val="696975"/>
                </a:solidFill>
                <a:latin typeface="Trebuchet MS"/>
                <a:cs typeface="Trebuchet MS"/>
              </a:rPr>
              <a:t> </a:t>
            </a:r>
            <a:r>
              <a:rPr sz="1550" spc="80" dirty="0">
                <a:solidFill>
                  <a:srgbClr val="696975"/>
                </a:solidFill>
                <a:latin typeface="Trebuchet MS"/>
                <a:cs typeface="Trebuchet MS"/>
              </a:rPr>
              <a:t>ads </a:t>
            </a:r>
            <a:r>
              <a:rPr sz="1550" dirty="0">
                <a:solidFill>
                  <a:srgbClr val="696975"/>
                </a:solidFill>
                <a:latin typeface="Trebuchet MS"/>
                <a:cs typeface="Trebuchet MS"/>
              </a:rPr>
              <a:t>Paid</a:t>
            </a:r>
            <a:r>
              <a:rPr sz="1550" spc="20" dirty="0">
                <a:solidFill>
                  <a:srgbClr val="696975"/>
                </a:solidFill>
                <a:latin typeface="Trebuchet MS"/>
                <a:cs typeface="Trebuchet MS"/>
              </a:rPr>
              <a:t> </a:t>
            </a:r>
            <a:r>
              <a:rPr sz="1550" spc="125" dirty="0">
                <a:solidFill>
                  <a:srgbClr val="696975"/>
                </a:solidFill>
                <a:latin typeface="Trebuchet MS"/>
                <a:cs typeface="Trebuchet MS"/>
              </a:rPr>
              <a:t>ad-</a:t>
            </a:r>
            <a:r>
              <a:rPr sz="1550" dirty="0">
                <a:solidFill>
                  <a:srgbClr val="696975"/>
                </a:solidFill>
                <a:latin typeface="Trebuchet MS"/>
                <a:cs typeface="Trebuchet MS"/>
              </a:rPr>
              <a:t>free</a:t>
            </a:r>
            <a:r>
              <a:rPr sz="1550" spc="25" dirty="0">
                <a:solidFill>
                  <a:srgbClr val="696975"/>
                </a:solidFill>
                <a:latin typeface="Trebuchet MS"/>
                <a:cs typeface="Trebuchet MS"/>
              </a:rPr>
              <a:t> </a:t>
            </a:r>
            <a:r>
              <a:rPr sz="1550" spc="50" dirty="0">
                <a:solidFill>
                  <a:srgbClr val="696975"/>
                </a:solidFill>
                <a:latin typeface="Trebuchet MS"/>
                <a:cs typeface="Trebuchet MS"/>
              </a:rPr>
              <a:t>upgrade</a:t>
            </a:r>
            <a:endParaRPr sz="1550">
              <a:latin typeface="Trebuchet MS"/>
              <a:cs typeface="Trebuchet MS"/>
            </a:endParaRPr>
          </a:p>
          <a:p>
            <a:pPr marL="285115" marR="2879725">
              <a:lnSpc>
                <a:spcPct val="129000"/>
              </a:lnSpc>
            </a:pPr>
            <a:r>
              <a:rPr sz="1550" dirty="0">
                <a:solidFill>
                  <a:srgbClr val="696975"/>
                </a:solidFill>
                <a:latin typeface="Trebuchet MS"/>
                <a:cs typeface="Trebuchet MS"/>
              </a:rPr>
              <a:t>Paid</a:t>
            </a:r>
            <a:r>
              <a:rPr sz="1550" spc="45" dirty="0">
                <a:solidFill>
                  <a:srgbClr val="696975"/>
                </a:solidFill>
                <a:latin typeface="Trebuchet MS"/>
                <a:cs typeface="Trebuchet MS"/>
              </a:rPr>
              <a:t> </a:t>
            </a:r>
            <a:r>
              <a:rPr sz="1550" dirty="0">
                <a:solidFill>
                  <a:srgbClr val="696975"/>
                </a:solidFill>
                <a:latin typeface="Trebuchet MS"/>
                <a:cs typeface="Trebuchet MS"/>
              </a:rPr>
              <a:t>verified</a:t>
            </a:r>
            <a:r>
              <a:rPr sz="1550" spc="45" dirty="0">
                <a:solidFill>
                  <a:srgbClr val="696975"/>
                </a:solidFill>
                <a:latin typeface="Trebuchet MS"/>
                <a:cs typeface="Trebuchet MS"/>
              </a:rPr>
              <a:t> </a:t>
            </a:r>
            <a:r>
              <a:rPr sz="1550" spc="70" dirty="0">
                <a:solidFill>
                  <a:srgbClr val="696975"/>
                </a:solidFill>
                <a:latin typeface="Trebuchet MS"/>
                <a:cs typeface="Trebuchet MS"/>
              </a:rPr>
              <a:t>badge </a:t>
            </a:r>
            <a:r>
              <a:rPr sz="1550" dirty="0">
                <a:solidFill>
                  <a:srgbClr val="696975"/>
                </a:solidFill>
                <a:latin typeface="Trebuchet MS"/>
                <a:cs typeface="Trebuchet MS"/>
              </a:rPr>
              <a:t>Priority </a:t>
            </a:r>
            <a:r>
              <a:rPr sz="1550" spc="35" dirty="0">
                <a:solidFill>
                  <a:srgbClr val="696975"/>
                </a:solidFill>
                <a:latin typeface="Trebuchet MS"/>
                <a:cs typeface="Trebuchet MS"/>
              </a:rPr>
              <a:t>matching</a:t>
            </a:r>
            <a:endParaRPr sz="1550">
              <a:latin typeface="Trebuchet MS"/>
              <a:cs typeface="Trebuchet MS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057275" y="6467474"/>
            <a:ext cx="16173450" cy="1733550"/>
            <a:chOff x="1057275" y="6467474"/>
            <a:chExt cx="16173450" cy="1733550"/>
          </a:xfrm>
        </p:grpSpPr>
        <p:sp>
          <p:nvSpPr>
            <p:cNvPr id="9" name="object 9"/>
            <p:cNvSpPr/>
            <p:nvPr/>
          </p:nvSpPr>
          <p:spPr>
            <a:xfrm>
              <a:off x="1066799" y="6476999"/>
              <a:ext cx="16154400" cy="1714500"/>
            </a:xfrm>
            <a:custGeom>
              <a:avLst/>
              <a:gdLst/>
              <a:ahLst/>
              <a:cxnLst/>
              <a:rect l="l" t="t" r="r" b="b"/>
              <a:pathLst>
                <a:path w="16154400" h="1714500">
                  <a:moveTo>
                    <a:pt x="16153804" y="1714500"/>
                  </a:moveTo>
                  <a:lnTo>
                    <a:pt x="0" y="1714500"/>
                  </a:lnTo>
                  <a:lnTo>
                    <a:pt x="0" y="0"/>
                  </a:lnTo>
                  <a:lnTo>
                    <a:pt x="16153804" y="0"/>
                  </a:lnTo>
                  <a:lnTo>
                    <a:pt x="16153804" y="1714500"/>
                  </a:lnTo>
                  <a:close/>
                </a:path>
              </a:pathLst>
            </a:custGeom>
            <a:solidFill>
              <a:srgbClr val="FFF1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066799" y="6476999"/>
              <a:ext cx="16154400" cy="1714500"/>
            </a:xfrm>
            <a:custGeom>
              <a:avLst/>
              <a:gdLst/>
              <a:ahLst/>
              <a:cxnLst/>
              <a:rect l="l" t="t" r="r" b="b"/>
              <a:pathLst>
                <a:path w="16154400" h="1714500">
                  <a:moveTo>
                    <a:pt x="0" y="0"/>
                  </a:moveTo>
                  <a:lnTo>
                    <a:pt x="16154398" y="0"/>
                  </a:lnTo>
                  <a:lnTo>
                    <a:pt x="16154398" y="1714499"/>
                  </a:lnTo>
                  <a:lnTo>
                    <a:pt x="0" y="17144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D9D9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11" name="object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2176396"/>
              </p:ext>
            </p:extLst>
          </p:nvPr>
        </p:nvGraphicFramePr>
        <p:xfrm>
          <a:off x="1320799" y="6745223"/>
          <a:ext cx="12614909" cy="1031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6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892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10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6395">
                <a:tc>
                  <a:txBody>
                    <a:bodyPr/>
                    <a:lstStyle/>
                    <a:p>
                      <a:pPr marL="31750">
                        <a:lnSpc>
                          <a:spcPts val="1789"/>
                        </a:lnSpc>
                      </a:pPr>
                      <a:r>
                        <a:rPr sz="1500" b="1" spc="-35" dirty="0">
                          <a:solidFill>
                            <a:srgbClr val="1A1A2E"/>
                          </a:solidFill>
                          <a:latin typeface="Trebuchet MS"/>
                          <a:cs typeface="Trebuchet MS"/>
                        </a:rPr>
                        <a:t>T</a:t>
                      </a:r>
                      <a:r>
                        <a:rPr sz="1500" b="1" spc="-210" dirty="0">
                          <a:solidFill>
                            <a:srgbClr val="1A1A2E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500" b="1" dirty="0">
                          <a:solidFill>
                            <a:srgbClr val="1A1A2E"/>
                          </a:solidFill>
                          <a:latin typeface="Trebuchet MS"/>
                          <a:cs typeface="Trebuchet MS"/>
                        </a:rPr>
                        <a:t>R</a:t>
                      </a:r>
                      <a:r>
                        <a:rPr sz="1500" b="1" spc="-215" dirty="0">
                          <a:solidFill>
                            <a:srgbClr val="1A1A2E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500" b="1" spc="95" dirty="0">
                          <a:solidFill>
                            <a:srgbClr val="1A1A2E"/>
                          </a:solidFill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1500" b="1" spc="-210" dirty="0">
                          <a:solidFill>
                            <a:srgbClr val="1A1A2E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500" b="1" spc="80" dirty="0">
                          <a:solidFill>
                            <a:srgbClr val="1A1A2E"/>
                          </a:solidFill>
                          <a:latin typeface="Trebuchet MS"/>
                          <a:cs typeface="Trebuchet MS"/>
                        </a:rPr>
                        <a:t>N</a:t>
                      </a:r>
                      <a:r>
                        <a:rPr sz="1500" b="1" spc="-210" dirty="0">
                          <a:solidFill>
                            <a:srgbClr val="1A1A2E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500" b="1" spc="125" dirty="0">
                          <a:solidFill>
                            <a:srgbClr val="1A1A2E"/>
                          </a:solidFill>
                          <a:latin typeface="Trebuchet MS"/>
                          <a:cs typeface="Trebuchet MS"/>
                        </a:rPr>
                        <a:t>S</a:t>
                      </a:r>
                      <a:r>
                        <a:rPr sz="1500" b="1" spc="-210" dirty="0">
                          <a:solidFill>
                            <a:srgbClr val="1A1A2E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500" b="1" spc="95" dirty="0">
                          <a:solidFill>
                            <a:srgbClr val="1A1A2E"/>
                          </a:solidFill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1500" b="1" spc="-210" dirty="0">
                          <a:solidFill>
                            <a:srgbClr val="1A1A2E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500" b="1" spc="190" dirty="0">
                          <a:solidFill>
                            <a:srgbClr val="1A1A2E"/>
                          </a:solidFill>
                          <a:latin typeface="Trebuchet MS"/>
                          <a:cs typeface="Trebuchet MS"/>
                        </a:rPr>
                        <a:t>C</a:t>
                      </a:r>
                      <a:r>
                        <a:rPr sz="1500" b="1" spc="-210" dirty="0">
                          <a:solidFill>
                            <a:srgbClr val="1A1A2E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500" b="1" spc="-35" dirty="0">
                          <a:solidFill>
                            <a:srgbClr val="1A1A2E"/>
                          </a:solidFill>
                          <a:latin typeface="Trebuchet MS"/>
                          <a:cs typeface="Trebuchet MS"/>
                        </a:rPr>
                        <a:t>T</a:t>
                      </a:r>
                      <a:r>
                        <a:rPr sz="1500" b="1" spc="-210" dirty="0">
                          <a:solidFill>
                            <a:srgbClr val="1A1A2E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500" b="1" spc="-25" dirty="0">
                          <a:solidFill>
                            <a:srgbClr val="1A1A2E"/>
                          </a:solidFill>
                          <a:latin typeface="Trebuchet MS"/>
                          <a:cs typeface="Trebuchet MS"/>
                        </a:rPr>
                        <a:t>I</a:t>
                      </a:r>
                      <a:r>
                        <a:rPr sz="1500" b="1" spc="-210" dirty="0">
                          <a:solidFill>
                            <a:srgbClr val="1A1A2E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500" b="1" spc="135" dirty="0">
                          <a:solidFill>
                            <a:srgbClr val="1A1A2E"/>
                          </a:solidFill>
                          <a:latin typeface="Trebuchet MS"/>
                          <a:cs typeface="Trebuchet MS"/>
                        </a:rPr>
                        <a:t>O</a:t>
                      </a:r>
                      <a:r>
                        <a:rPr sz="1500" b="1" spc="-210" dirty="0">
                          <a:solidFill>
                            <a:srgbClr val="1A1A2E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500" b="1" spc="30" dirty="0">
                          <a:solidFill>
                            <a:srgbClr val="1A1A2E"/>
                          </a:solidFill>
                          <a:latin typeface="Trebuchet MS"/>
                          <a:cs typeface="Trebuchet MS"/>
                        </a:rPr>
                        <a:t>N</a:t>
                      </a:r>
                      <a:endParaRPr sz="15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solidFill>
                      <a:srgbClr val="FFF1DE"/>
                    </a:solidFill>
                  </a:tcPr>
                </a:tc>
                <a:tc>
                  <a:txBody>
                    <a:bodyPr/>
                    <a:lstStyle/>
                    <a:p>
                      <a:pPr marL="1786889">
                        <a:lnSpc>
                          <a:spcPts val="1789"/>
                        </a:lnSpc>
                      </a:pPr>
                      <a:r>
                        <a:rPr sz="1500" b="1" spc="-60" dirty="0">
                          <a:solidFill>
                            <a:srgbClr val="1A1A2E"/>
                          </a:solidFill>
                          <a:latin typeface="Trebuchet MS"/>
                          <a:cs typeface="Trebuchet MS"/>
                        </a:rPr>
                        <a:t>F</a:t>
                      </a:r>
                      <a:r>
                        <a:rPr sz="1500" b="1" spc="-210" dirty="0">
                          <a:solidFill>
                            <a:srgbClr val="1A1A2E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500" b="1" dirty="0">
                          <a:solidFill>
                            <a:srgbClr val="1A1A2E"/>
                          </a:solidFill>
                          <a:latin typeface="Trebuchet MS"/>
                          <a:cs typeface="Trebuchet MS"/>
                        </a:rPr>
                        <a:t>E</a:t>
                      </a:r>
                      <a:r>
                        <a:rPr sz="1500" b="1" spc="-210" dirty="0">
                          <a:solidFill>
                            <a:srgbClr val="1A1A2E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500" b="1" spc="95" dirty="0">
                          <a:solidFill>
                            <a:srgbClr val="1A1A2E"/>
                          </a:solidFill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1500" b="1" spc="-210" dirty="0">
                          <a:solidFill>
                            <a:srgbClr val="1A1A2E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500" b="1" spc="-35" dirty="0">
                          <a:solidFill>
                            <a:srgbClr val="1A1A2E"/>
                          </a:solidFill>
                          <a:latin typeface="Trebuchet MS"/>
                          <a:cs typeface="Trebuchet MS"/>
                        </a:rPr>
                        <a:t>T</a:t>
                      </a:r>
                      <a:r>
                        <a:rPr sz="1500" b="1" spc="-210" dirty="0">
                          <a:solidFill>
                            <a:srgbClr val="1A1A2E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500" b="1" dirty="0">
                          <a:solidFill>
                            <a:srgbClr val="1A1A2E"/>
                          </a:solidFill>
                          <a:latin typeface="Trebuchet MS"/>
                          <a:cs typeface="Trebuchet MS"/>
                        </a:rPr>
                        <a:t>U</a:t>
                      </a:r>
                      <a:r>
                        <a:rPr sz="1500" b="1" spc="-210" dirty="0">
                          <a:solidFill>
                            <a:srgbClr val="1A1A2E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500" b="1" dirty="0">
                          <a:solidFill>
                            <a:srgbClr val="1A1A2E"/>
                          </a:solidFill>
                          <a:latin typeface="Trebuchet MS"/>
                          <a:cs typeface="Trebuchet MS"/>
                        </a:rPr>
                        <a:t>R</a:t>
                      </a:r>
                      <a:r>
                        <a:rPr sz="1500" b="1" spc="-204" dirty="0">
                          <a:solidFill>
                            <a:srgbClr val="1A1A2E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500" b="1" dirty="0">
                          <a:solidFill>
                            <a:srgbClr val="1A1A2E"/>
                          </a:solidFill>
                          <a:latin typeface="Trebuchet MS"/>
                          <a:cs typeface="Trebuchet MS"/>
                        </a:rPr>
                        <a:t>E</a:t>
                      </a:r>
                      <a:r>
                        <a:rPr sz="1500" b="1" spc="-210" dirty="0">
                          <a:solidFill>
                            <a:srgbClr val="1A1A2E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500" b="1" spc="95" dirty="0">
                          <a:solidFill>
                            <a:srgbClr val="1A1A2E"/>
                          </a:solidFill>
                          <a:latin typeface="Trebuchet MS"/>
                          <a:cs typeface="Trebuchet MS"/>
                        </a:rPr>
                        <a:t>D</a:t>
                      </a:r>
                      <a:r>
                        <a:rPr sz="1500" b="1" spc="400" dirty="0">
                          <a:solidFill>
                            <a:srgbClr val="1A1A2E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500" b="1" dirty="0">
                          <a:solidFill>
                            <a:srgbClr val="1A1A2E"/>
                          </a:solidFill>
                          <a:latin typeface="Trebuchet MS"/>
                          <a:cs typeface="Trebuchet MS"/>
                        </a:rPr>
                        <a:t>L</a:t>
                      </a:r>
                      <a:r>
                        <a:rPr sz="1500" b="1" spc="-210" dirty="0">
                          <a:solidFill>
                            <a:srgbClr val="1A1A2E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500" b="1" spc="-25" dirty="0">
                          <a:solidFill>
                            <a:srgbClr val="1A1A2E"/>
                          </a:solidFill>
                          <a:latin typeface="Trebuchet MS"/>
                          <a:cs typeface="Trebuchet MS"/>
                        </a:rPr>
                        <a:t>I</a:t>
                      </a:r>
                      <a:r>
                        <a:rPr sz="1500" b="1" spc="-210" dirty="0">
                          <a:solidFill>
                            <a:srgbClr val="1A1A2E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500" b="1" spc="125" dirty="0">
                          <a:solidFill>
                            <a:srgbClr val="1A1A2E"/>
                          </a:solidFill>
                          <a:latin typeface="Trebuchet MS"/>
                          <a:cs typeface="Trebuchet MS"/>
                        </a:rPr>
                        <a:t>S</a:t>
                      </a:r>
                      <a:r>
                        <a:rPr sz="1500" b="1" spc="-204" dirty="0">
                          <a:solidFill>
                            <a:srgbClr val="1A1A2E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500" b="1" spc="-35" dirty="0">
                          <a:solidFill>
                            <a:srgbClr val="1A1A2E"/>
                          </a:solidFill>
                          <a:latin typeface="Trebuchet MS"/>
                          <a:cs typeface="Trebuchet MS"/>
                        </a:rPr>
                        <a:t>T</a:t>
                      </a:r>
                      <a:r>
                        <a:rPr sz="1500" b="1" spc="-210" dirty="0">
                          <a:solidFill>
                            <a:srgbClr val="1A1A2E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500" b="1" spc="-25" dirty="0">
                          <a:solidFill>
                            <a:srgbClr val="1A1A2E"/>
                          </a:solidFill>
                          <a:latin typeface="Trebuchet MS"/>
                          <a:cs typeface="Trebuchet MS"/>
                        </a:rPr>
                        <a:t>I</a:t>
                      </a:r>
                      <a:r>
                        <a:rPr sz="1500" b="1" spc="-210" dirty="0">
                          <a:solidFill>
                            <a:srgbClr val="1A1A2E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500" b="1" spc="80" dirty="0">
                          <a:solidFill>
                            <a:srgbClr val="1A1A2E"/>
                          </a:solidFill>
                          <a:latin typeface="Trebuchet MS"/>
                          <a:cs typeface="Trebuchet MS"/>
                        </a:rPr>
                        <a:t>N</a:t>
                      </a:r>
                      <a:r>
                        <a:rPr sz="1500" b="1" spc="-210" dirty="0">
                          <a:solidFill>
                            <a:srgbClr val="1A1A2E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500" b="1" spc="90" dirty="0">
                          <a:solidFill>
                            <a:srgbClr val="1A1A2E"/>
                          </a:solidFill>
                          <a:latin typeface="Trebuchet MS"/>
                          <a:cs typeface="Trebuchet MS"/>
                        </a:rPr>
                        <a:t>G</a:t>
                      </a:r>
                      <a:endParaRPr sz="15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solidFill>
                      <a:srgbClr val="FFF1DE"/>
                    </a:solidFill>
                  </a:tcPr>
                </a:tc>
                <a:tc>
                  <a:txBody>
                    <a:bodyPr/>
                    <a:lstStyle/>
                    <a:p>
                      <a:pPr marL="1627505">
                        <a:lnSpc>
                          <a:spcPts val="1789"/>
                        </a:lnSpc>
                      </a:pPr>
                      <a:r>
                        <a:rPr sz="1500" b="1" spc="100" dirty="0">
                          <a:solidFill>
                            <a:srgbClr val="1A1A2E"/>
                          </a:solidFill>
                          <a:latin typeface="Trebuchet MS"/>
                          <a:cs typeface="Trebuchet MS"/>
                        </a:rPr>
                        <a:t>V</a:t>
                      </a:r>
                      <a:r>
                        <a:rPr sz="1500" b="1" spc="-210" dirty="0">
                          <a:solidFill>
                            <a:srgbClr val="1A1A2E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500" b="1" dirty="0">
                          <a:solidFill>
                            <a:srgbClr val="1A1A2E"/>
                          </a:solidFill>
                          <a:latin typeface="Trebuchet MS"/>
                          <a:cs typeface="Trebuchet MS"/>
                        </a:rPr>
                        <a:t>E</a:t>
                      </a:r>
                      <a:r>
                        <a:rPr sz="1500" b="1" spc="-210" dirty="0">
                          <a:solidFill>
                            <a:srgbClr val="1A1A2E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500" b="1" dirty="0">
                          <a:solidFill>
                            <a:srgbClr val="1A1A2E"/>
                          </a:solidFill>
                          <a:latin typeface="Trebuchet MS"/>
                          <a:cs typeface="Trebuchet MS"/>
                        </a:rPr>
                        <a:t>R</a:t>
                      </a:r>
                      <a:r>
                        <a:rPr sz="1500" b="1" spc="-210" dirty="0">
                          <a:solidFill>
                            <a:srgbClr val="1A1A2E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500" b="1" spc="-25" dirty="0">
                          <a:solidFill>
                            <a:srgbClr val="1A1A2E"/>
                          </a:solidFill>
                          <a:latin typeface="Trebuchet MS"/>
                          <a:cs typeface="Trebuchet MS"/>
                        </a:rPr>
                        <a:t>I</a:t>
                      </a:r>
                      <a:r>
                        <a:rPr sz="1500" b="1" spc="-210" dirty="0">
                          <a:solidFill>
                            <a:srgbClr val="1A1A2E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500" b="1" spc="-60" dirty="0">
                          <a:solidFill>
                            <a:srgbClr val="1A1A2E"/>
                          </a:solidFill>
                          <a:latin typeface="Trebuchet MS"/>
                          <a:cs typeface="Trebuchet MS"/>
                        </a:rPr>
                        <a:t>F</a:t>
                      </a:r>
                      <a:r>
                        <a:rPr sz="1500" b="1" spc="-204" dirty="0">
                          <a:solidFill>
                            <a:srgbClr val="1A1A2E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500" b="1" spc="-25" dirty="0">
                          <a:solidFill>
                            <a:srgbClr val="1A1A2E"/>
                          </a:solidFill>
                          <a:latin typeface="Trebuchet MS"/>
                          <a:cs typeface="Trebuchet MS"/>
                        </a:rPr>
                        <a:t>I</a:t>
                      </a:r>
                      <a:r>
                        <a:rPr sz="1500" b="1" spc="-210" dirty="0">
                          <a:solidFill>
                            <a:srgbClr val="1A1A2E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500" b="1" dirty="0">
                          <a:solidFill>
                            <a:srgbClr val="1A1A2E"/>
                          </a:solidFill>
                          <a:latin typeface="Trebuchet MS"/>
                          <a:cs typeface="Trebuchet MS"/>
                        </a:rPr>
                        <a:t>E</a:t>
                      </a:r>
                      <a:r>
                        <a:rPr sz="1500" b="1" spc="-210" dirty="0">
                          <a:solidFill>
                            <a:srgbClr val="1A1A2E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500" b="1" spc="95" dirty="0">
                          <a:solidFill>
                            <a:srgbClr val="1A1A2E"/>
                          </a:solidFill>
                          <a:latin typeface="Trebuchet MS"/>
                          <a:cs typeface="Trebuchet MS"/>
                        </a:rPr>
                        <a:t>D</a:t>
                      </a:r>
                      <a:r>
                        <a:rPr sz="1500" b="1" spc="400" dirty="0">
                          <a:solidFill>
                            <a:srgbClr val="1A1A2E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500" b="1" spc="50" dirty="0">
                          <a:solidFill>
                            <a:srgbClr val="1A1A2E"/>
                          </a:solidFill>
                          <a:latin typeface="Trebuchet MS"/>
                          <a:cs typeface="Trebuchet MS"/>
                        </a:rPr>
                        <a:t>B</a:t>
                      </a:r>
                      <a:r>
                        <a:rPr sz="1500" b="1" spc="-210" dirty="0">
                          <a:solidFill>
                            <a:srgbClr val="1A1A2E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500" b="1" spc="95" dirty="0">
                          <a:solidFill>
                            <a:srgbClr val="1A1A2E"/>
                          </a:solidFill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1500" b="1" spc="-204" dirty="0">
                          <a:solidFill>
                            <a:srgbClr val="1A1A2E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500" b="1" spc="95" dirty="0">
                          <a:solidFill>
                            <a:srgbClr val="1A1A2E"/>
                          </a:solidFill>
                          <a:latin typeface="Trebuchet MS"/>
                          <a:cs typeface="Trebuchet MS"/>
                        </a:rPr>
                        <a:t>D</a:t>
                      </a:r>
                      <a:r>
                        <a:rPr sz="1500" b="1" spc="-210" dirty="0">
                          <a:solidFill>
                            <a:srgbClr val="1A1A2E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500" b="1" spc="140" dirty="0">
                          <a:solidFill>
                            <a:srgbClr val="1A1A2E"/>
                          </a:solidFill>
                          <a:latin typeface="Trebuchet MS"/>
                          <a:cs typeface="Trebuchet MS"/>
                        </a:rPr>
                        <a:t>G</a:t>
                      </a:r>
                      <a:r>
                        <a:rPr sz="1500" b="1" spc="-210" dirty="0">
                          <a:solidFill>
                            <a:srgbClr val="1A1A2E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500" b="1" spc="-50" dirty="0">
                          <a:solidFill>
                            <a:srgbClr val="1A1A2E"/>
                          </a:solidFill>
                          <a:latin typeface="Trebuchet MS"/>
                          <a:cs typeface="Trebuchet MS"/>
                        </a:rPr>
                        <a:t>E</a:t>
                      </a:r>
                      <a:endParaRPr sz="15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solidFill>
                      <a:srgbClr val="FFF1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484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225"/>
                        </a:spcBef>
                      </a:pPr>
                      <a:r>
                        <a:rPr sz="3200" b="1" dirty="0">
                          <a:solidFill>
                            <a:srgbClr val="F6931A"/>
                          </a:solidFill>
                          <a:latin typeface="Cambria"/>
                          <a:cs typeface="Cambria"/>
                        </a:rPr>
                        <a:t>[</a:t>
                      </a:r>
                      <a:r>
                        <a:rPr lang="en-US" sz="3200" b="1" dirty="0">
                          <a:solidFill>
                            <a:srgbClr val="F6931A"/>
                          </a:solidFill>
                          <a:latin typeface="Cambria"/>
                          <a:cs typeface="Cambria"/>
                        </a:rPr>
                        <a:t>400</a:t>
                      </a:r>
                      <a:r>
                        <a:rPr sz="3200" b="1" dirty="0">
                          <a:solidFill>
                            <a:srgbClr val="F6931A"/>
                          </a:solidFill>
                          <a:latin typeface="Cambria"/>
                          <a:cs typeface="Cambria"/>
                        </a:rPr>
                        <a:t>]</a:t>
                      </a:r>
                      <a:r>
                        <a:rPr sz="3200" b="1" spc="-10" dirty="0">
                          <a:solidFill>
                            <a:srgbClr val="F6931A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3200" b="1" spc="-20" dirty="0">
                          <a:solidFill>
                            <a:srgbClr val="F6931A"/>
                          </a:solidFill>
                          <a:latin typeface="Cambria"/>
                          <a:cs typeface="Cambria"/>
                        </a:rPr>
                        <a:t>sats</a:t>
                      </a:r>
                      <a:endParaRPr sz="3200" dirty="0">
                        <a:latin typeface="Cambria"/>
                        <a:cs typeface="Cambria"/>
                      </a:endParaRPr>
                    </a:p>
                  </a:txBody>
                  <a:tcPr marL="0" marR="0" marT="155575" marB="0">
                    <a:solidFill>
                      <a:srgbClr val="FFF1DE"/>
                    </a:solidFill>
                  </a:tcPr>
                </a:tc>
                <a:tc>
                  <a:txBody>
                    <a:bodyPr/>
                    <a:lstStyle/>
                    <a:p>
                      <a:pPr marL="1786889">
                        <a:lnSpc>
                          <a:spcPct val="100000"/>
                        </a:lnSpc>
                        <a:spcBef>
                          <a:spcPts val="1225"/>
                        </a:spcBef>
                      </a:pPr>
                      <a:r>
                        <a:rPr sz="3200" b="1" dirty="0">
                          <a:solidFill>
                            <a:srgbClr val="F6931A"/>
                          </a:solidFill>
                          <a:latin typeface="Cambria"/>
                          <a:cs typeface="Cambria"/>
                        </a:rPr>
                        <a:t>[</a:t>
                      </a:r>
                      <a:r>
                        <a:rPr lang="en-US" sz="3200" b="1" dirty="0">
                          <a:solidFill>
                            <a:srgbClr val="F6931A"/>
                          </a:solidFill>
                          <a:latin typeface="Cambria"/>
                          <a:cs typeface="Cambria"/>
                        </a:rPr>
                        <a:t>450</a:t>
                      </a:r>
                      <a:r>
                        <a:rPr sz="3200" b="1" dirty="0">
                          <a:solidFill>
                            <a:srgbClr val="F6931A"/>
                          </a:solidFill>
                          <a:latin typeface="Cambria"/>
                          <a:cs typeface="Cambria"/>
                        </a:rPr>
                        <a:t>]</a:t>
                      </a:r>
                      <a:r>
                        <a:rPr sz="3200" b="1" spc="-10" dirty="0">
                          <a:solidFill>
                            <a:srgbClr val="F6931A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3200" b="1" spc="-20" dirty="0">
                          <a:solidFill>
                            <a:srgbClr val="F6931A"/>
                          </a:solidFill>
                          <a:latin typeface="Cambria"/>
                          <a:cs typeface="Cambria"/>
                        </a:rPr>
                        <a:t>sats</a:t>
                      </a:r>
                      <a:endParaRPr sz="3200" dirty="0">
                        <a:latin typeface="Cambria"/>
                        <a:cs typeface="Cambria"/>
                      </a:endParaRPr>
                    </a:p>
                  </a:txBody>
                  <a:tcPr marL="0" marR="0" marT="155575" marB="0">
                    <a:solidFill>
                      <a:srgbClr val="FFF1DE"/>
                    </a:solidFill>
                  </a:tcPr>
                </a:tc>
                <a:tc>
                  <a:txBody>
                    <a:bodyPr/>
                    <a:lstStyle/>
                    <a:p>
                      <a:pPr marL="1627505">
                        <a:lnSpc>
                          <a:spcPct val="100000"/>
                        </a:lnSpc>
                        <a:spcBef>
                          <a:spcPts val="1225"/>
                        </a:spcBef>
                      </a:pPr>
                      <a:r>
                        <a:rPr sz="3200" b="1" dirty="0">
                          <a:solidFill>
                            <a:srgbClr val="F6931A"/>
                          </a:solidFill>
                          <a:latin typeface="Cambria"/>
                          <a:cs typeface="Cambria"/>
                        </a:rPr>
                        <a:t>[</a:t>
                      </a:r>
                      <a:r>
                        <a:rPr lang="en-US" sz="3200" b="1" dirty="0">
                          <a:solidFill>
                            <a:srgbClr val="F6931A"/>
                          </a:solidFill>
                          <a:latin typeface="Cambria"/>
                          <a:cs typeface="Cambria"/>
                        </a:rPr>
                        <a:t>500</a:t>
                      </a:r>
                      <a:r>
                        <a:rPr sz="3200" b="1" dirty="0">
                          <a:solidFill>
                            <a:srgbClr val="F6931A"/>
                          </a:solidFill>
                          <a:latin typeface="Cambria"/>
                          <a:cs typeface="Cambria"/>
                        </a:rPr>
                        <a:t>]</a:t>
                      </a:r>
                      <a:r>
                        <a:rPr sz="3200" b="1" spc="-10" dirty="0">
                          <a:solidFill>
                            <a:srgbClr val="F6931A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3200" b="1" spc="-20" dirty="0">
                          <a:solidFill>
                            <a:srgbClr val="F6931A"/>
                          </a:solidFill>
                          <a:latin typeface="Cambria"/>
                          <a:cs typeface="Cambria"/>
                        </a:rPr>
                        <a:t>sats</a:t>
                      </a:r>
                      <a:endParaRPr sz="3200" dirty="0">
                        <a:latin typeface="Cambria"/>
                        <a:cs typeface="Cambria"/>
                      </a:endParaRPr>
                    </a:p>
                  </a:txBody>
                  <a:tcPr marL="0" marR="0" marT="155575" marB="0">
                    <a:solidFill>
                      <a:srgbClr val="FFF1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5"/>
              </a:lnSpc>
              <a:tabLst>
                <a:tab pos="756285" algn="l"/>
              </a:tabLst>
            </a:pPr>
            <a:r>
              <a:rPr spc="130" dirty="0"/>
              <a:t>KAZI</a:t>
            </a:r>
            <a:r>
              <a:rPr spc="-250" dirty="0"/>
              <a:t> </a:t>
            </a:r>
            <a:r>
              <a:rPr sz="1450" b="0" spc="705" dirty="0">
                <a:latin typeface="Segoe UI Symbol"/>
                <a:cs typeface="Segoe UI Symbol"/>
              </a:rPr>
              <a:t>⚡</a:t>
            </a:r>
            <a:r>
              <a:rPr sz="1450" b="0" dirty="0">
                <a:latin typeface="Segoe UI Symbol"/>
                <a:cs typeface="Segoe UI Symbol"/>
              </a:rPr>
              <a:t>	</a:t>
            </a:r>
            <a:r>
              <a:rPr dirty="0"/>
              <a:t>•</a:t>
            </a:r>
            <a:r>
              <a:rPr spc="440" dirty="0"/>
              <a:t> </a:t>
            </a:r>
            <a:r>
              <a:rPr spc="120" dirty="0"/>
              <a:t>2026</a:t>
            </a:r>
            <a:endParaRPr sz="1450">
              <a:latin typeface="Segoe UI Symbol"/>
              <a:cs typeface="Segoe UI Symbo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532510" y="9735528"/>
            <a:ext cx="587375" cy="2362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250" b="1" dirty="0">
                <a:solidFill>
                  <a:srgbClr val="696975"/>
                </a:solidFill>
                <a:latin typeface="Trebuchet MS"/>
                <a:cs typeface="Trebuchet MS"/>
              </a:rPr>
              <a:t>10</a:t>
            </a:r>
            <a:r>
              <a:rPr sz="1250" b="1" spc="195" dirty="0">
                <a:solidFill>
                  <a:srgbClr val="696975"/>
                </a:solidFill>
                <a:latin typeface="Trebuchet MS"/>
                <a:cs typeface="Trebuchet MS"/>
              </a:rPr>
              <a:t> </a:t>
            </a:r>
            <a:r>
              <a:rPr sz="1250" b="1" dirty="0">
                <a:solidFill>
                  <a:srgbClr val="696975"/>
                </a:solidFill>
                <a:latin typeface="Trebuchet MS"/>
                <a:cs typeface="Trebuchet MS"/>
              </a:rPr>
              <a:t>/</a:t>
            </a:r>
            <a:r>
              <a:rPr sz="1250" b="1" spc="195" dirty="0">
                <a:solidFill>
                  <a:srgbClr val="696975"/>
                </a:solidFill>
                <a:latin typeface="Trebuchet MS"/>
                <a:cs typeface="Trebuchet MS"/>
              </a:rPr>
              <a:t> </a:t>
            </a:r>
            <a:r>
              <a:rPr sz="1250" b="1" spc="-60" dirty="0">
                <a:solidFill>
                  <a:srgbClr val="696975"/>
                </a:solidFill>
                <a:latin typeface="Trebuchet MS"/>
                <a:cs typeface="Trebuchet MS"/>
              </a:rPr>
              <a:t>12</a:t>
            </a:r>
            <a:endParaRPr sz="12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54100" y="654050"/>
            <a:ext cx="217805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1A1A2E"/>
                </a:solidFill>
                <a:latin typeface="Trebuchet MS"/>
                <a:cs typeface="Trebuchet MS"/>
              </a:rPr>
              <a:t>E</a:t>
            </a:r>
            <a:r>
              <a:rPr sz="1500" b="1" spc="-210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500" b="1" spc="80" dirty="0">
                <a:solidFill>
                  <a:srgbClr val="1A1A2E"/>
                </a:solidFill>
                <a:latin typeface="Trebuchet MS"/>
                <a:cs typeface="Trebuchet MS"/>
              </a:rPr>
              <a:t>X</a:t>
            </a:r>
            <a:r>
              <a:rPr sz="1500" b="1" spc="-204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500" b="1" dirty="0">
                <a:solidFill>
                  <a:srgbClr val="1A1A2E"/>
                </a:solidFill>
                <a:latin typeface="Trebuchet MS"/>
                <a:cs typeface="Trebuchet MS"/>
              </a:rPr>
              <a:t>P</a:t>
            </a:r>
            <a:r>
              <a:rPr sz="1500" b="1" spc="-204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500" b="1" dirty="0">
                <a:solidFill>
                  <a:srgbClr val="1A1A2E"/>
                </a:solidFill>
                <a:latin typeface="Trebuchet MS"/>
                <a:cs typeface="Trebuchet MS"/>
              </a:rPr>
              <a:t>E</a:t>
            </a:r>
            <a:r>
              <a:rPr sz="1500" b="1" spc="-204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500" b="1" spc="190" dirty="0">
                <a:solidFill>
                  <a:srgbClr val="1A1A2E"/>
                </a:solidFill>
                <a:latin typeface="Trebuchet MS"/>
                <a:cs typeface="Trebuchet MS"/>
              </a:rPr>
              <a:t>C</a:t>
            </a:r>
            <a:r>
              <a:rPr sz="1500" b="1" spc="-204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500" b="1" spc="-35" dirty="0">
                <a:solidFill>
                  <a:srgbClr val="1A1A2E"/>
                </a:solidFill>
                <a:latin typeface="Trebuchet MS"/>
                <a:cs typeface="Trebuchet MS"/>
              </a:rPr>
              <a:t>T</a:t>
            </a:r>
            <a:r>
              <a:rPr sz="1500" b="1" spc="-204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500" b="1" dirty="0">
                <a:solidFill>
                  <a:srgbClr val="1A1A2E"/>
                </a:solidFill>
                <a:latin typeface="Trebuchet MS"/>
                <a:cs typeface="Trebuchet MS"/>
              </a:rPr>
              <a:t>E</a:t>
            </a:r>
            <a:r>
              <a:rPr sz="1500" b="1" spc="-210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500" b="1" spc="95" dirty="0">
                <a:solidFill>
                  <a:srgbClr val="1A1A2E"/>
                </a:solidFill>
                <a:latin typeface="Trebuchet MS"/>
                <a:cs typeface="Trebuchet MS"/>
              </a:rPr>
              <a:t>D</a:t>
            </a:r>
            <a:r>
              <a:rPr sz="1500" b="1" spc="415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500" b="1" spc="-25" dirty="0">
                <a:solidFill>
                  <a:srgbClr val="1A1A2E"/>
                </a:solidFill>
                <a:latin typeface="Trebuchet MS"/>
                <a:cs typeface="Trebuchet MS"/>
              </a:rPr>
              <a:t>I</a:t>
            </a:r>
            <a:r>
              <a:rPr sz="1500" b="1" spc="-204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500" b="1" spc="210" dirty="0">
                <a:solidFill>
                  <a:srgbClr val="1A1A2E"/>
                </a:solidFill>
                <a:latin typeface="Trebuchet MS"/>
                <a:cs typeface="Trebuchet MS"/>
              </a:rPr>
              <a:t>M</a:t>
            </a:r>
            <a:r>
              <a:rPr sz="1500" b="1" spc="-204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500" b="1" dirty="0">
                <a:solidFill>
                  <a:srgbClr val="1A1A2E"/>
                </a:solidFill>
                <a:latin typeface="Trebuchet MS"/>
                <a:cs typeface="Trebuchet MS"/>
              </a:rPr>
              <a:t>P</a:t>
            </a:r>
            <a:r>
              <a:rPr sz="1500" b="1" spc="-204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500" b="1" spc="95" dirty="0">
                <a:solidFill>
                  <a:srgbClr val="1A1A2E"/>
                </a:solidFill>
                <a:latin typeface="Trebuchet MS"/>
                <a:cs typeface="Trebuchet MS"/>
              </a:rPr>
              <a:t>A</a:t>
            </a:r>
            <a:r>
              <a:rPr sz="1500" b="1" spc="-210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500" b="1" spc="190" dirty="0">
                <a:solidFill>
                  <a:srgbClr val="1A1A2E"/>
                </a:solidFill>
                <a:latin typeface="Trebuchet MS"/>
                <a:cs typeface="Trebuchet MS"/>
              </a:rPr>
              <a:t>C</a:t>
            </a:r>
            <a:r>
              <a:rPr sz="1500" b="1" spc="-204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500" b="1" spc="-50" dirty="0">
                <a:solidFill>
                  <a:srgbClr val="1A1A2E"/>
                </a:solidFill>
                <a:latin typeface="Trebuchet MS"/>
                <a:cs typeface="Trebuchet MS"/>
              </a:rPr>
              <a:t>T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884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What</a:t>
            </a:r>
            <a:r>
              <a:rPr spc="30" dirty="0"/>
              <a:t> </a:t>
            </a:r>
            <a:r>
              <a:rPr dirty="0"/>
              <a:t>success</a:t>
            </a:r>
            <a:r>
              <a:rPr spc="30" dirty="0"/>
              <a:t> </a:t>
            </a:r>
            <a:r>
              <a:rPr dirty="0"/>
              <a:t>looks</a:t>
            </a:r>
            <a:r>
              <a:rPr spc="30" dirty="0"/>
              <a:t> </a:t>
            </a:r>
            <a:r>
              <a:rPr spc="-10" dirty="0"/>
              <a:t>like.</a:t>
            </a:r>
          </a:p>
        </p:txBody>
      </p:sp>
      <p:sp>
        <p:nvSpPr>
          <p:cNvPr id="4" name="object 4"/>
          <p:cNvSpPr/>
          <p:nvPr/>
        </p:nvSpPr>
        <p:spPr>
          <a:xfrm>
            <a:off x="1066800" y="9582150"/>
            <a:ext cx="16154400" cy="0"/>
          </a:xfrm>
          <a:custGeom>
            <a:avLst/>
            <a:gdLst/>
            <a:ahLst/>
            <a:cxnLst/>
            <a:rect l="l" t="t" r="r" b="b"/>
            <a:pathLst>
              <a:path w="16154400">
                <a:moveTo>
                  <a:pt x="0" y="0"/>
                </a:moveTo>
                <a:lnTo>
                  <a:pt x="16154398" y="0"/>
                </a:lnTo>
              </a:path>
            </a:pathLst>
          </a:custGeom>
          <a:ln w="9524">
            <a:solidFill>
              <a:srgbClr val="D9D9D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368424" y="3281044"/>
            <a:ext cx="436880" cy="5054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150" b="1" spc="-280" dirty="0">
                <a:solidFill>
                  <a:srgbClr val="F6931A"/>
                </a:solidFill>
                <a:latin typeface="Cambria"/>
                <a:cs typeface="Cambria"/>
              </a:rPr>
              <a:t>01</a:t>
            </a:r>
            <a:endParaRPr sz="315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130549" y="3301047"/>
            <a:ext cx="5533390" cy="3797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300" b="1" spc="100" dirty="0">
                <a:solidFill>
                  <a:srgbClr val="1A1A2E"/>
                </a:solidFill>
                <a:latin typeface="Trebuchet MS"/>
                <a:cs typeface="Trebuchet MS"/>
              </a:rPr>
              <a:t>More</a:t>
            </a:r>
            <a:r>
              <a:rPr sz="2300" b="1" spc="-80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2300" b="1" spc="80" dirty="0">
                <a:solidFill>
                  <a:srgbClr val="1A1A2E"/>
                </a:solidFill>
                <a:latin typeface="Trebuchet MS"/>
                <a:cs typeface="Trebuchet MS"/>
              </a:rPr>
              <a:t>youth</a:t>
            </a:r>
            <a:r>
              <a:rPr sz="2300" b="1" spc="-75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2300" b="1" dirty="0">
                <a:solidFill>
                  <a:srgbClr val="1A1A2E"/>
                </a:solidFill>
                <a:latin typeface="Trebuchet MS"/>
                <a:cs typeface="Trebuchet MS"/>
              </a:rPr>
              <a:t>earning</a:t>
            </a:r>
            <a:r>
              <a:rPr sz="2300" b="1" spc="-75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2300" b="1" spc="50" dirty="0">
                <a:solidFill>
                  <a:srgbClr val="1A1A2E"/>
                </a:solidFill>
                <a:latin typeface="Trebuchet MS"/>
                <a:cs typeface="Trebuchet MS"/>
              </a:rPr>
              <a:t>from</a:t>
            </a:r>
            <a:r>
              <a:rPr sz="2300" b="1" spc="-75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2300" b="1" spc="55" dirty="0">
                <a:solidFill>
                  <a:srgbClr val="1A1A2E"/>
                </a:solidFill>
                <a:latin typeface="Trebuchet MS"/>
                <a:cs typeface="Trebuchet MS"/>
              </a:rPr>
              <a:t>existing</a:t>
            </a:r>
            <a:r>
              <a:rPr sz="2300" b="1" spc="-75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2300" b="1" spc="-10" dirty="0">
                <a:solidFill>
                  <a:srgbClr val="1A1A2E"/>
                </a:solidFill>
                <a:latin typeface="Trebuchet MS"/>
                <a:cs typeface="Trebuchet MS"/>
              </a:rPr>
              <a:t>skills</a:t>
            </a:r>
            <a:endParaRPr sz="2300">
              <a:latin typeface="Trebuchet MS"/>
              <a:cs typeface="Trebuchet M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381124" y="4048125"/>
            <a:ext cx="15192375" cy="0"/>
          </a:xfrm>
          <a:custGeom>
            <a:avLst/>
            <a:gdLst/>
            <a:ahLst/>
            <a:cxnLst/>
            <a:rect l="l" t="t" r="r" b="b"/>
            <a:pathLst>
              <a:path w="15192375">
                <a:moveTo>
                  <a:pt x="0" y="0"/>
                </a:moveTo>
                <a:lnTo>
                  <a:pt x="15192373" y="0"/>
                </a:lnTo>
              </a:path>
            </a:pathLst>
          </a:custGeom>
          <a:ln w="9524">
            <a:solidFill>
              <a:srgbClr val="D9D9D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368424" y="4538344"/>
            <a:ext cx="492759" cy="5054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150" b="1" spc="-25" dirty="0">
                <a:solidFill>
                  <a:srgbClr val="F6931A"/>
                </a:solidFill>
                <a:latin typeface="Cambria"/>
                <a:cs typeface="Cambria"/>
              </a:rPr>
              <a:t>02</a:t>
            </a:r>
            <a:endParaRPr sz="315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130549" y="4558347"/>
            <a:ext cx="4426585" cy="3797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300" b="1" spc="50" dirty="0">
                <a:solidFill>
                  <a:srgbClr val="1A1A2E"/>
                </a:solidFill>
                <a:latin typeface="Trebuchet MS"/>
                <a:cs typeface="Trebuchet MS"/>
              </a:rPr>
              <a:t>Faster</a:t>
            </a:r>
            <a:r>
              <a:rPr sz="2300" b="1" spc="-125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2300" b="1" spc="125" dirty="0">
                <a:solidFill>
                  <a:srgbClr val="1A1A2E"/>
                </a:solidFill>
                <a:latin typeface="Trebuchet MS"/>
                <a:cs typeface="Trebuchet MS"/>
              </a:rPr>
              <a:t>payments</a:t>
            </a:r>
            <a:r>
              <a:rPr sz="2300" b="1" spc="-120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2300" b="1" dirty="0">
                <a:solidFill>
                  <a:srgbClr val="1A1A2E"/>
                </a:solidFill>
                <a:latin typeface="Trebuchet MS"/>
                <a:cs typeface="Trebuchet MS"/>
              </a:rPr>
              <a:t>for</a:t>
            </a:r>
            <a:r>
              <a:rPr sz="2300" b="1" spc="-125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2300" b="1" spc="75" dirty="0">
                <a:solidFill>
                  <a:srgbClr val="1A1A2E"/>
                </a:solidFill>
                <a:latin typeface="Trebuchet MS"/>
                <a:cs typeface="Trebuchet MS"/>
              </a:rPr>
              <a:t>small</a:t>
            </a:r>
            <a:r>
              <a:rPr sz="2300" b="1" spc="-120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2300" b="1" spc="50" dirty="0">
                <a:solidFill>
                  <a:srgbClr val="1A1A2E"/>
                </a:solidFill>
                <a:latin typeface="Trebuchet MS"/>
                <a:cs typeface="Trebuchet MS"/>
              </a:rPr>
              <a:t>jobs</a:t>
            </a:r>
            <a:endParaRPr sz="2300">
              <a:latin typeface="Trebuchet MS"/>
              <a:cs typeface="Trebuchet M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381124" y="5305425"/>
            <a:ext cx="15192375" cy="0"/>
          </a:xfrm>
          <a:custGeom>
            <a:avLst/>
            <a:gdLst/>
            <a:ahLst/>
            <a:cxnLst/>
            <a:rect l="l" t="t" r="r" b="b"/>
            <a:pathLst>
              <a:path w="15192375">
                <a:moveTo>
                  <a:pt x="0" y="0"/>
                </a:moveTo>
                <a:lnTo>
                  <a:pt x="15192373" y="0"/>
                </a:lnTo>
              </a:path>
            </a:pathLst>
          </a:custGeom>
          <a:ln w="9524">
            <a:solidFill>
              <a:srgbClr val="D9D9D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368424" y="5795644"/>
            <a:ext cx="478790" cy="5054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150" b="1" spc="-60" dirty="0">
                <a:solidFill>
                  <a:srgbClr val="F6931A"/>
                </a:solidFill>
                <a:latin typeface="Cambria"/>
                <a:cs typeface="Cambria"/>
              </a:rPr>
              <a:t>03</a:t>
            </a:r>
            <a:endParaRPr sz="3150">
              <a:latin typeface="Cambria"/>
              <a:cs typeface="Cambr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130549" y="5815647"/>
            <a:ext cx="6316345" cy="3797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300" b="1" dirty="0">
                <a:solidFill>
                  <a:srgbClr val="1A1A2E"/>
                </a:solidFill>
                <a:latin typeface="Trebuchet MS"/>
                <a:cs typeface="Trebuchet MS"/>
              </a:rPr>
              <a:t>Lower</a:t>
            </a:r>
            <a:r>
              <a:rPr sz="2300" b="1" spc="-100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2300" b="1" spc="75" dirty="0">
                <a:solidFill>
                  <a:srgbClr val="1A1A2E"/>
                </a:solidFill>
                <a:latin typeface="Trebuchet MS"/>
                <a:cs typeface="Trebuchet MS"/>
              </a:rPr>
              <a:t>transaction</a:t>
            </a:r>
            <a:r>
              <a:rPr sz="2300" b="1" spc="-100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2300" b="1" spc="165" dirty="0">
                <a:solidFill>
                  <a:srgbClr val="1A1A2E"/>
                </a:solidFill>
                <a:latin typeface="Trebuchet MS"/>
                <a:cs typeface="Trebuchet MS"/>
              </a:rPr>
              <a:t>costs</a:t>
            </a:r>
            <a:r>
              <a:rPr sz="2300" b="1" spc="-100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2300" b="1" spc="60" dirty="0">
                <a:solidFill>
                  <a:srgbClr val="1A1A2E"/>
                </a:solidFill>
                <a:latin typeface="Trebuchet MS"/>
                <a:cs typeface="Trebuchet MS"/>
              </a:rPr>
              <a:t>than</a:t>
            </a:r>
            <a:r>
              <a:rPr sz="2300" b="1" spc="-100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2300" b="1" spc="60" dirty="0">
                <a:solidFill>
                  <a:srgbClr val="1A1A2E"/>
                </a:solidFill>
                <a:latin typeface="Trebuchet MS"/>
                <a:cs typeface="Trebuchet MS"/>
              </a:rPr>
              <a:t>mobile</a:t>
            </a:r>
            <a:r>
              <a:rPr sz="2300" b="1" spc="-100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2300" b="1" spc="100" dirty="0">
                <a:solidFill>
                  <a:srgbClr val="1A1A2E"/>
                </a:solidFill>
                <a:latin typeface="Trebuchet MS"/>
                <a:cs typeface="Trebuchet MS"/>
              </a:rPr>
              <a:t>money</a:t>
            </a:r>
            <a:endParaRPr sz="2300">
              <a:latin typeface="Trebuchet MS"/>
              <a:cs typeface="Trebuchet M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381124" y="6562725"/>
            <a:ext cx="15192375" cy="0"/>
          </a:xfrm>
          <a:custGeom>
            <a:avLst/>
            <a:gdLst/>
            <a:ahLst/>
            <a:cxnLst/>
            <a:rect l="l" t="t" r="r" b="b"/>
            <a:pathLst>
              <a:path w="15192375">
                <a:moveTo>
                  <a:pt x="0" y="0"/>
                </a:moveTo>
                <a:lnTo>
                  <a:pt x="15192373" y="0"/>
                </a:lnTo>
              </a:path>
            </a:pathLst>
          </a:custGeom>
          <a:ln w="9524">
            <a:solidFill>
              <a:srgbClr val="D9D9D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368424" y="7052944"/>
            <a:ext cx="494665" cy="5054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150" b="1" spc="-25" dirty="0">
                <a:solidFill>
                  <a:srgbClr val="F6931A"/>
                </a:solidFill>
                <a:latin typeface="Cambria"/>
                <a:cs typeface="Cambria"/>
              </a:rPr>
              <a:t>04</a:t>
            </a:r>
            <a:endParaRPr sz="3150">
              <a:latin typeface="Cambria"/>
              <a:cs typeface="Cambr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130549" y="7097712"/>
            <a:ext cx="7447915" cy="4254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600" b="1" i="1" dirty="0">
                <a:solidFill>
                  <a:srgbClr val="F6931A"/>
                </a:solidFill>
                <a:latin typeface="Cambria"/>
                <a:cs typeface="Cambria"/>
              </a:rPr>
              <a:t>Biľcoin</a:t>
            </a:r>
            <a:r>
              <a:rPr sz="2600" b="1" i="1" spc="95" dirty="0">
                <a:solidFill>
                  <a:srgbClr val="F6931A"/>
                </a:solidFill>
                <a:latin typeface="Cambria"/>
                <a:cs typeface="Cambria"/>
              </a:rPr>
              <a:t> </a:t>
            </a:r>
            <a:r>
              <a:rPr sz="2600" b="1" i="1" spc="-10" dirty="0">
                <a:solidFill>
                  <a:srgbClr val="F6931A"/>
                </a:solidFill>
                <a:latin typeface="Cambria"/>
                <a:cs typeface="Cambria"/>
              </a:rPr>
              <a:t>Lighľning</a:t>
            </a:r>
            <a:r>
              <a:rPr sz="2600" b="1" i="1" spc="100" dirty="0">
                <a:solidFill>
                  <a:srgbClr val="F6931A"/>
                </a:solidFill>
                <a:latin typeface="Cambria"/>
                <a:cs typeface="Cambria"/>
              </a:rPr>
              <a:t> </a:t>
            </a:r>
            <a:r>
              <a:rPr sz="2600" b="1" i="1" dirty="0">
                <a:solidFill>
                  <a:srgbClr val="F6931A"/>
                </a:solidFill>
                <a:latin typeface="Cambria"/>
                <a:cs typeface="Cambria"/>
              </a:rPr>
              <a:t>solving</a:t>
            </a:r>
            <a:r>
              <a:rPr sz="2600" b="1" i="1" spc="95" dirty="0">
                <a:solidFill>
                  <a:srgbClr val="F6931A"/>
                </a:solidFill>
                <a:latin typeface="Cambria"/>
                <a:cs typeface="Cambria"/>
              </a:rPr>
              <a:t> </a:t>
            </a:r>
            <a:r>
              <a:rPr sz="2600" b="1" i="1" dirty="0">
                <a:solidFill>
                  <a:srgbClr val="F6931A"/>
                </a:solidFill>
                <a:latin typeface="Cambria"/>
                <a:cs typeface="Cambria"/>
              </a:rPr>
              <a:t>a</a:t>
            </a:r>
            <a:r>
              <a:rPr sz="2600" b="1" i="1" spc="100" dirty="0">
                <a:solidFill>
                  <a:srgbClr val="F6931A"/>
                </a:solidFill>
                <a:latin typeface="Cambria"/>
                <a:cs typeface="Cambria"/>
              </a:rPr>
              <a:t> </a:t>
            </a:r>
            <a:r>
              <a:rPr sz="2600" b="1" i="1" dirty="0">
                <a:solidFill>
                  <a:srgbClr val="F6931A"/>
                </a:solidFill>
                <a:latin typeface="Cambria"/>
                <a:cs typeface="Cambria"/>
              </a:rPr>
              <a:t>real</a:t>
            </a:r>
            <a:r>
              <a:rPr sz="2600" b="1" i="1" spc="95" dirty="0">
                <a:solidFill>
                  <a:srgbClr val="F6931A"/>
                </a:solidFill>
                <a:latin typeface="Cambria"/>
                <a:cs typeface="Cambria"/>
              </a:rPr>
              <a:t> </a:t>
            </a:r>
            <a:r>
              <a:rPr sz="2600" b="1" i="1" dirty="0">
                <a:solidFill>
                  <a:srgbClr val="F6931A"/>
                </a:solidFill>
                <a:latin typeface="Cambria"/>
                <a:cs typeface="Cambria"/>
              </a:rPr>
              <a:t>African</a:t>
            </a:r>
            <a:r>
              <a:rPr sz="2600" b="1" i="1" spc="100" dirty="0">
                <a:solidFill>
                  <a:srgbClr val="F6931A"/>
                </a:solidFill>
                <a:latin typeface="Cambria"/>
                <a:cs typeface="Cambria"/>
              </a:rPr>
              <a:t> </a:t>
            </a:r>
            <a:r>
              <a:rPr sz="2600" b="1" i="1" spc="-10" dirty="0">
                <a:solidFill>
                  <a:srgbClr val="F6931A"/>
                </a:solidFill>
                <a:latin typeface="Cambria"/>
                <a:cs typeface="Cambria"/>
              </a:rPr>
              <a:t>challenge</a:t>
            </a:r>
            <a:endParaRPr sz="2600">
              <a:latin typeface="Cambria"/>
              <a:cs typeface="Cambri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381124" y="7820025"/>
            <a:ext cx="15192375" cy="0"/>
          </a:xfrm>
          <a:custGeom>
            <a:avLst/>
            <a:gdLst/>
            <a:ahLst/>
            <a:cxnLst/>
            <a:rect l="l" t="t" r="r" b="b"/>
            <a:pathLst>
              <a:path w="15192375">
                <a:moveTo>
                  <a:pt x="0" y="0"/>
                </a:moveTo>
                <a:lnTo>
                  <a:pt x="15192373" y="0"/>
                </a:lnTo>
              </a:path>
            </a:pathLst>
          </a:custGeom>
          <a:ln w="9524">
            <a:solidFill>
              <a:srgbClr val="D9D9D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5"/>
              </a:lnSpc>
              <a:tabLst>
                <a:tab pos="756285" algn="l"/>
              </a:tabLst>
            </a:pPr>
            <a:r>
              <a:rPr spc="130" dirty="0"/>
              <a:t>KAZI</a:t>
            </a:r>
            <a:r>
              <a:rPr spc="-250" dirty="0"/>
              <a:t> </a:t>
            </a:r>
            <a:r>
              <a:rPr sz="1450" b="0" spc="705" dirty="0">
                <a:latin typeface="Segoe UI Symbol"/>
                <a:cs typeface="Segoe UI Symbol"/>
              </a:rPr>
              <a:t>⚡</a:t>
            </a:r>
            <a:r>
              <a:rPr sz="1450" b="0" dirty="0">
                <a:latin typeface="Segoe UI Symbol"/>
                <a:cs typeface="Segoe UI Symbol"/>
              </a:rPr>
              <a:t>	</a:t>
            </a:r>
            <a:r>
              <a:rPr dirty="0"/>
              <a:t>•</a:t>
            </a:r>
            <a:r>
              <a:rPr spc="440" dirty="0"/>
              <a:t> </a:t>
            </a:r>
            <a:r>
              <a:rPr spc="120" dirty="0"/>
              <a:t>2026</a:t>
            </a:r>
            <a:endParaRPr sz="1450">
              <a:latin typeface="Segoe UI Symbol"/>
              <a:cs typeface="Segoe UI Symbo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532510" y="9735528"/>
            <a:ext cx="564515" cy="2362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250" b="1" dirty="0">
                <a:solidFill>
                  <a:srgbClr val="696975"/>
                </a:solidFill>
                <a:latin typeface="Trebuchet MS"/>
                <a:cs typeface="Trebuchet MS"/>
              </a:rPr>
              <a:t>11</a:t>
            </a:r>
            <a:r>
              <a:rPr sz="1250" b="1" spc="105" dirty="0">
                <a:solidFill>
                  <a:srgbClr val="696975"/>
                </a:solidFill>
                <a:latin typeface="Trebuchet MS"/>
                <a:cs typeface="Trebuchet MS"/>
              </a:rPr>
              <a:t> </a:t>
            </a:r>
            <a:r>
              <a:rPr sz="1250" b="1" dirty="0">
                <a:solidFill>
                  <a:srgbClr val="696975"/>
                </a:solidFill>
                <a:latin typeface="Trebuchet MS"/>
                <a:cs typeface="Trebuchet MS"/>
              </a:rPr>
              <a:t>/</a:t>
            </a:r>
            <a:r>
              <a:rPr sz="1250" b="1" spc="110" dirty="0">
                <a:solidFill>
                  <a:srgbClr val="696975"/>
                </a:solidFill>
                <a:latin typeface="Trebuchet MS"/>
                <a:cs typeface="Trebuchet MS"/>
              </a:rPr>
              <a:t> </a:t>
            </a:r>
            <a:r>
              <a:rPr sz="1250" b="1" spc="-60" dirty="0">
                <a:solidFill>
                  <a:srgbClr val="696975"/>
                </a:solidFill>
                <a:latin typeface="Trebuchet MS"/>
                <a:cs typeface="Trebuchet MS"/>
              </a:rPr>
              <a:t>12</a:t>
            </a:r>
            <a:endParaRPr sz="12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54100" y="654050"/>
            <a:ext cx="116586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35" dirty="0">
                <a:solidFill>
                  <a:srgbClr val="1A1A2E"/>
                </a:solidFill>
                <a:latin typeface="Trebuchet MS"/>
                <a:cs typeface="Trebuchet MS"/>
              </a:rPr>
              <a:t>T</a:t>
            </a:r>
            <a:r>
              <a:rPr sz="1500" b="1" spc="-220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500" b="1" dirty="0">
                <a:solidFill>
                  <a:srgbClr val="1A1A2E"/>
                </a:solidFill>
                <a:latin typeface="Trebuchet MS"/>
                <a:cs typeface="Trebuchet MS"/>
              </a:rPr>
              <a:t>H</a:t>
            </a:r>
            <a:r>
              <a:rPr sz="1500" b="1" spc="-204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500" b="1" dirty="0">
                <a:solidFill>
                  <a:srgbClr val="1A1A2E"/>
                </a:solidFill>
                <a:latin typeface="Trebuchet MS"/>
                <a:cs typeface="Trebuchet MS"/>
              </a:rPr>
              <a:t>E</a:t>
            </a:r>
            <a:r>
              <a:rPr sz="1500" b="1" spc="415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500" b="1" spc="-35" dirty="0">
                <a:solidFill>
                  <a:srgbClr val="1A1A2E"/>
                </a:solidFill>
                <a:latin typeface="Trebuchet MS"/>
                <a:cs typeface="Trebuchet MS"/>
              </a:rPr>
              <a:t>T</a:t>
            </a:r>
            <a:r>
              <a:rPr sz="1500" b="1" spc="-204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500" b="1" dirty="0">
                <a:solidFill>
                  <a:srgbClr val="1A1A2E"/>
                </a:solidFill>
                <a:latin typeface="Trebuchet MS"/>
                <a:cs typeface="Trebuchet MS"/>
              </a:rPr>
              <a:t>E</a:t>
            </a:r>
            <a:r>
              <a:rPr sz="1500" b="1" spc="-204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500" b="1" spc="95" dirty="0">
                <a:solidFill>
                  <a:srgbClr val="1A1A2E"/>
                </a:solidFill>
                <a:latin typeface="Trebuchet MS"/>
                <a:cs typeface="Trebuchet MS"/>
              </a:rPr>
              <a:t>A</a:t>
            </a:r>
            <a:r>
              <a:rPr sz="1500" b="1" spc="-204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500" b="1" spc="160" dirty="0">
                <a:solidFill>
                  <a:srgbClr val="1A1A2E"/>
                </a:solidFill>
                <a:latin typeface="Trebuchet MS"/>
                <a:cs typeface="Trebuchet MS"/>
              </a:rPr>
              <a:t>M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The</a:t>
            </a:r>
            <a:r>
              <a:rPr spc="-105" dirty="0"/>
              <a:t> </a:t>
            </a:r>
            <a:r>
              <a:rPr dirty="0"/>
              <a:t>team</a:t>
            </a:r>
            <a:r>
              <a:rPr spc="-45" dirty="0"/>
              <a:t> </a:t>
            </a:r>
            <a:r>
              <a:rPr dirty="0"/>
              <a:t>behind</a:t>
            </a:r>
            <a:r>
              <a:rPr spc="-55" dirty="0"/>
              <a:t> </a:t>
            </a:r>
            <a:r>
              <a:rPr spc="605" dirty="0"/>
              <a:t>Kazi</a:t>
            </a:r>
            <a:r>
              <a:rPr sz="5850" b="0" spc="605" dirty="0">
                <a:latin typeface="Segoe UI Symbol"/>
                <a:cs typeface="Segoe UI Symbol"/>
              </a:rPr>
              <a:t>⚡</a:t>
            </a:r>
            <a:r>
              <a:rPr sz="5850" b="0" spc="-975" dirty="0">
                <a:latin typeface="Segoe UI Symbol"/>
                <a:cs typeface="Segoe UI Symbol"/>
              </a:rPr>
              <a:t> </a:t>
            </a:r>
            <a:r>
              <a:rPr spc="125" dirty="0"/>
              <a:t>.</a:t>
            </a:r>
            <a:endParaRPr sz="5850">
              <a:latin typeface="Segoe UI Symbol"/>
              <a:cs typeface="Segoe UI Symbo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66800" y="9582150"/>
            <a:ext cx="16154400" cy="0"/>
          </a:xfrm>
          <a:custGeom>
            <a:avLst/>
            <a:gdLst/>
            <a:ahLst/>
            <a:cxnLst/>
            <a:rect l="l" t="t" r="r" b="b"/>
            <a:pathLst>
              <a:path w="16154400">
                <a:moveTo>
                  <a:pt x="0" y="0"/>
                </a:moveTo>
                <a:lnTo>
                  <a:pt x="16154398" y="0"/>
                </a:lnTo>
              </a:path>
            </a:pathLst>
          </a:custGeom>
          <a:ln w="9524">
            <a:solidFill>
              <a:srgbClr val="D9D9D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1057275" y="3038475"/>
            <a:ext cx="4972050" cy="1828800"/>
            <a:chOff x="1057275" y="3038475"/>
            <a:chExt cx="4972050" cy="1828800"/>
          </a:xfrm>
        </p:grpSpPr>
        <p:sp>
          <p:nvSpPr>
            <p:cNvPr id="6" name="object 6"/>
            <p:cNvSpPr/>
            <p:nvPr/>
          </p:nvSpPr>
          <p:spPr>
            <a:xfrm>
              <a:off x="1066799" y="3047999"/>
              <a:ext cx="4953000" cy="1809750"/>
            </a:xfrm>
            <a:custGeom>
              <a:avLst/>
              <a:gdLst/>
              <a:ahLst/>
              <a:cxnLst/>
              <a:rect l="l" t="t" r="r" b="b"/>
              <a:pathLst>
                <a:path w="4953000" h="1809750">
                  <a:moveTo>
                    <a:pt x="4952999" y="1809749"/>
                  </a:moveTo>
                  <a:lnTo>
                    <a:pt x="0" y="1809749"/>
                  </a:lnTo>
                  <a:lnTo>
                    <a:pt x="0" y="0"/>
                  </a:lnTo>
                  <a:lnTo>
                    <a:pt x="4952999" y="0"/>
                  </a:lnTo>
                  <a:lnTo>
                    <a:pt x="4952999" y="18097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066799" y="3047999"/>
              <a:ext cx="4953000" cy="1809750"/>
            </a:xfrm>
            <a:custGeom>
              <a:avLst/>
              <a:gdLst/>
              <a:ahLst/>
              <a:cxnLst/>
              <a:rect l="l" t="t" r="r" b="b"/>
              <a:pathLst>
                <a:path w="4953000" h="1809750">
                  <a:moveTo>
                    <a:pt x="0" y="0"/>
                  </a:moveTo>
                  <a:lnTo>
                    <a:pt x="4952999" y="0"/>
                  </a:lnTo>
                  <a:lnTo>
                    <a:pt x="4952999" y="1809749"/>
                  </a:lnTo>
                  <a:lnTo>
                    <a:pt x="0" y="180974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D9D9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371600" y="3419474"/>
              <a:ext cx="1000125" cy="1000125"/>
            </a:xfrm>
            <a:custGeom>
              <a:avLst/>
              <a:gdLst/>
              <a:ahLst/>
              <a:cxnLst/>
              <a:rect l="l" t="t" r="r" b="b"/>
              <a:pathLst>
                <a:path w="1000125" h="1000125">
                  <a:moveTo>
                    <a:pt x="500062" y="1000124"/>
                  </a:moveTo>
                  <a:lnTo>
                    <a:pt x="451903" y="997835"/>
                  </a:lnTo>
                  <a:lnTo>
                    <a:pt x="405038" y="991108"/>
                  </a:lnTo>
                  <a:lnTo>
                    <a:pt x="359679" y="980151"/>
                  </a:lnTo>
                  <a:lnTo>
                    <a:pt x="316034" y="965175"/>
                  </a:lnTo>
                  <a:lnTo>
                    <a:pt x="274313" y="946389"/>
                  </a:lnTo>
                  <a:lnTo>
                    <a:pt x="234725" y="924002"/>
                  </a:lnTo>
                  <a:lnTo>
                    <a:pt x="197480" y="898225"/>
                  </a:lnTo>
                  <a:lnTo>
                    <a:pt x="162788" y="869266"/>
                  </a:lnTo>
                  <a:lnTo>
                    <a:pt x="130858" y="837336"/>
                  </a:lnTo>
                  <a:lnTo>
                    <a:pt x="101899" y="802644"/>
                  </a:lnTo>
                  <a:lnTo>
                    <a:pt x="76122" y="765399"/>
                  </a:lnTo>
                  <a:lnTo>
                    <a:pt x="53735" y="725811"/>
                  </a:lnTo>
                  <a:lnTo>
                    <a:pt x="34949" y="684090"/>
                  </a:lnTo>
                  <a:lnTo>
                    <a:pt x="19973" y="640445"/>
                  </a:lnTo>
                  <a:lnTo>
                    <a:pt x="9016" y="595086"/>
                  </a:lnTo>
                  <a:lnTo>
                    <a:pt x="2289" y="548221"/>
                  </a:lnTo>
                  <a:lnTo>
                    <a:pt x="0" y="500062"/>
                  </a:lnTo>
                  <a:lnTo>
                    <a:pt x="2289" y="451903"/>
                  </a:lnTo>
                  <a:lnTo>
                    <a:pt x="9016" y="405038"/>
                  </a:lnTo>
                  <a:lnTo>
                    <a:pt x="19973" y="359679"/>
                  </a:lnTo>
                  <a:lnTo>
                    <a:pt x="34949" y="316034"/>
                  </a:lnTo>
                  <a:lnTo>
                    <a:pt x="53735" y="274313"/>
                  </a:lnTo>
                  <a:lnTo>
                    <a:pt x="76122" y="234725"/>
                  </a:lnTo>
                  <a:lnTo>
                    <a:pt x="101899" y="197480"/>
                  </a:lnTo>
                  <a:lnTo>
                    <a:pt x="130858" y="162788"/>
                  </a:lnTo>
                  <a:lnTo>
                    <a:pt x="162788" y="130858"/>
                  </a:lnTo>
                  <a:lnTo>
                    <a:pt x="197480" y="101899"/>
                  </a:lnTo>
                  <a:lnTo>
                    <a:pt x="234725" y="76122"/>
                  </a:lnTo>
                  <a:lnTo>
                    <a:pt x="274313" y="53735"/>
                  </a:lnTo>
                  <a:lnTo>
                    <a:pt x="316034" y="34949"/>
                  </a:lnTo>
                  <a:lnTo>
                    <a:pt x="359679" y="19973"/>
                  </a:lnTo>
                  <a:lnTo>
                    <a:pt x="405038" y="9016"/>
                  </a:lnTo>
                  <a:lnTo>
                    <a:pt x="451903" y="2289"/>
                  </a:lnTo>
                  <a:lnTo>
                    <a:pt x="500062" y="0"/>
                  </a:lnTo>
                  <a:lnTo>
                    <a:pt x="548221" y="2289"/>
                  </a:lnTo>
                  <a:lnTo>
                    <a:pt x="595085" y="9016"/>
                  </a:lnTo>
                  <a:lnTo>
                    <a:pt x="640445" y="19973"/>
                  </a:lnTo>
                  <a:lnTo>
                    <a:pt x="684090" y="34949"/>
                  </a:lnTo>
                  <a:lnTo>
                    <a:pt x="725811" y="53735"/>
                  </a:lnTo>
                  <a:lnTo>
                    <a:pt x="765399" y="76122"/>
                  </a:lnTo>
                  <a:lnTo>
                    <a:pt x="802644" y="101899"/>
                  </a:lnTo>
                  <a:lnTo>
                    <a:pt x="837336" y="130858"/>
                  </a:lnTo>
                  <a:lnTo>
                    <a:pt x="869266" y="162788"/>
                  </a:lnTo>
                  <a:lnTo>
                    <a:pt x="898225" y="197480"/>
                  </a:lnTo>
                  <a:lnTo>
                    <a:pt x="924002" y="234725"/>
                  </a:lnTo>
                  <a:lnTo>
                    <a:pt x="946388" y="274313"/>
                  </a:lnTo>
                  <a:lnTo>
                    <a:pt x="965175" y="316034"/>
                  </a:lnTo>
                  <a:lnTo>
                    <a:pt x="980151" y="359679"/>
                  </a:lnTo>
                  <a:lnTo>
                    <a:pt x="991108" y="405038"/>
                  </a:lnTo>
                  <a:lnTo>
                    <a:pt x="997835" y="451903"/>
                  </a:lnTo>
                  <a:lnTo>
                    <a:pt x="1000124" y="500062"/>
                  </a:lnTo>
                  <a:lnTo>
                    <a:pt x="997835" y="548221"/>
                  </a:lnTo>
                  <a:lnTo>
                    <a:pt x="991108" y="595086"/>
                  </a:lnTo>
                  <a:lnTo>
                    <a:pt x="980151" y="640445"/>
                  </a:lnTo>
                  <a:lnTo>
                    <a:pt x="965175" y="684090"/>
                  </a:lnTo>
                  <a:lnTo>
                    <a:pt x="946388" y="725811"/>
                  </a:lnTo>
                  <a:lnTo>
                    <a:pt x="924002" y="765399"/>
                  </a:lnTo>
                  <a:lnTo>
                    <a:pt x="898225" y="802644"/>
                  </a:lnTo>
                  <a:lnTo>
                    <a:pt x="869266" y="837336"/>
                  </a:lnTo>
                  <a:lnTo>
                    <a:pt x="837336" y="869266"/>
                  </a:lnTo>
                  <a:lnTo>
                    <a:pt x="802644" y="898225"/>
                  </a:lnTo>
                  <a:lnTo>
                    <a:pt x="765399" y="924002"/>
                  </a:lnTo>
                  <a:lnTo>
                    <a:pt x="725811" y="946389"/>
                  </a:lnTo>
                  <a:lnTo>
                    <a:pt x="684090" y="965175"/>
                  </a:lnTo>
                  <a:lnTo>
                    <a:pt x="640445" y="980151"/>
                  </a:lnTo>
                  <a:lnTo>
                    <a:pt x="595085" y="991108"/>
                  </a:lnTo>
                  <a:lnTo>
                    <a:pt x="548221" y="997835"/>
                  </a:lnTo>
                  <a:lnTo>
                    <a:pt x="500062" y="1000124"/>
                  </a:lnTo>
                  <a:close/>
                </a:path>
              </a:pathLst>
            </a:custGeom>
            <a:solidFill>
              <a:srgbClr val="1A1A2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683246" y="3730625"/>
            <a:ext cx="38989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100" b="1" spc="114" dirty="0">
                <a:solidFill>
                  <a:srgbClr val="FFFFFF"/>
                </a:solidFill>
                <a:latin typeface="Trebuchet MS"/>
                <a:cs typeface="Trebuchet MS"/>
              </a:rPr>
              <a:t>DA</a:t>
            </a:r>
            <a:endParaRPr sz="21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447924" y="3279140"/>
            <a:ext cx="2406650" cy="7150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b="1" spc="60" dirty="0">
                <a:solidFill>
                  <a:srgbClr val="1A1A2E"/>
                </a:solidFill>
                <a:latin typeface="Trebuchet MS"/>
                <a:cs typeface="Trebuchet MS"/>
              </a:rPr>
              <a:t>Dushime</a:t>
            </a:r>
            <a:r>
              <a:rPr sz="1800" b="1" spc="-80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1A1A2E"/>
                </a:solidFill>
                <a:latin typeface="Trebuchet MS"/>
                <a:cs typeface="Trebuchet MS"/>
              </a:rPr>
              <a:t>Aline</a:t>
            </a:r>
            <a:r>
              <a:rPr sz="1800" b="1" spc="-80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800" b="1" spc="40" dirty="0">
                <a:solidFill>
                  <a:srgbClr val="1A1A2E"/>
                </a:solidFill>
                <a:latin typeface="Trebuchet MS"/>
                <a:cs typeface="Trebuchet MS"/>
              </a:rPr>
              <a:t>Denise</a:t>
            </a:r>
            <a:endParaRPr sz="18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470"/>
              </a:spcBef>
            </a:pPr>
            <a:r>
              <a:rPr sz="1500" spc="100" dirty="0">
                <a:solidFill>
                  <a:srgbClr val="F6931A"/>
                </a:solidFill>
                <a:latin typeface="Trebuchet MS"/>
                <a:cs typeface="Trebuchet MS"/>
              </a:rPr>
              <a:t>CEO</a:t>
            </a:r>
            <a:endParaRPr sz="1500" dirty="0">
              <a:latin typeface="Trebuchet MS"/>
              <a:cs typeface="Trebuchet MS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429374" y="3038475"/>
            <a:ext cx="4972050" cy="1828800"/>
            <a:chOff x="6429374" y="3038475"/>
            <a:chExt cx="4972050" cy="1828800"/>
          </a:xfrm>
        </p:grpSpPr>
        <p:sp>
          <p:nvSpPr>
            <p:cNvPr id="12" name="object 12"/>
            <p:cNvSpPr/>
            <p:nvPr/>
          </p:nvSpPr>
          <p:spPr>
            <a:xfrm>
              <a:off x="6438900" y="3047999"/>
              <a:ext cx="4953000" cy="1809750"/>
            </a:xfrm>
            <a:custGeom>
              <a:avLst/>
              <a:gdLst/>
              <a:ahLst/>
              <a:cxnLst/>
              <a:rect l="l" t="t" r="r" b="b"/>
              <a:pathLst>
                <a:path w="4953000" h="1809750">
                  <a:moveTo>
                    <a:pt x="4952999" y="1809749"/>
                  </a:moveTo>
                  <a:lnTo>
                    <a:pt x="0" y="1809749"/>
                  </a:lnTo>
                  <a:lnTo>
                    <a:pt x="0" y="0"/>
                  </a:lnTo>
                  <a:lnTo>
                    <a:pt x="4952999" y="0"/>
                  </a:lnTo>
                  <a:lnTo>
                    <a:pt x="4952999" y="18097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438899" y="3047999"/>
              <a:ext cx="4953000" cy="1809750"/>
            </a:xfrm>
            <a:custGeom>
              <a:avLst/>
              <a:gdLst/>
              <a:ahLst/>
              <a:cxnLst/>
              <a:rect l="l" t="t" r="r" b="b"/>
              <a:pathLst>
                <a:path w="4953000" h="1809750">
                  <a:moveTo>
                    <a:pt x="0" y="0"/>
                  </a:moveTo>
                  <a:lnTo>
                    <a:pt x="4952999" y="0"/>
                  </a:lnTo>
                  <a:lnTo>
                    <a:pt x="4952999" y="1809749"/>
                  </a:lnTo>
                  <a:lnTo>
                    <a:pt x="0" y="180974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D9D9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743699" y="3419474"/>
              <a:ext cx="1000125" cy="1000125"/>
            </a:xfrm>
            <a:custGeom>
              <a:avLst/>
              <a:gdLst/>
              <a:ahLst/>
              <a:cxnLst/>
              <a:rect l="l" t="t" r="r" b="b"/>
              <a:pathLst>
                <a:path w="1000125" h="1000125">
                  <a:moveTo>
                    <a:pt x="500062" y="1000124"/>
                  </a:moveTo>
                  <a:lnTo>
                    <a:pt x="451903" y="997835"/>
                  </a:lnTo>
                  <a:lnTo>
                    <a:pt x="405039" y="991108"/>
                  </a:lnTo>
                  <a:lnTo>
                    <a:pt x="359679" y="980151"/>
                  </a:lnTo>
                  <a:lnTo>
                    <a:pt x="316034" y="965175"/>
                  </a:lnTo>
                  <a:lnTo>
                    <a:pt x="274313" y="946389"/>
                  </a:lnTo>
                  <a:lnTo>
                    <a:pt x="234725" y="924002"/>
                  </a:lnTo>
                  <a:lnTo>
                    <a:pt x="197480" y="898225"/>
                  </a:lnTo>
                  <a:lnTo>
                    <a:pt x="162788" y="869266"/>
                  </a:lnTo>
                  <a:lnTo>
                    <a:pt x="130858" y="837336"/>
                  </a:lnTo>
                  <a:lnTo>
                    <a:pt x="101899" y="802644"/>
                  </a:lnTo>
                  <a:lnTo>
                    <a:pt x="76122" y="765399"/>
                  </a:lnTo>
                  <a:lnTo>
                    <a:pt x="53736" y="725811"/>
                  </a:lnTo>
                  <a:lnTo>
                    <a:pt x="34949" y="684090"/>
                  </a:lnTo>
                  <a:lnTo>
                    <a:pt x="19973" y="640445"/>
                  </a:lnTo>
                  <a:lnTo>
                    <a:pt x="9016" y="595086"/>
                  </a:lnTo>
                  <a:lnTo>
                    <a:pt x="2289" y="548221"/>
                  </a:lnTo>
                  <a:lnTo>
                    <a:pt x="0" y="500062"/>
                  </a:lnTo>
                  <a:lnTo>
                    <a:pt x="2289" y="451903"/>
                  </a:lnTo>
                  <a:lnTo>
                    <a:pt x="9016" y="405038"/>
                  </a:lnTo>
                  <a:lnTo>
                    <a:pt x="19973" y="359679"/>
                  </a:lnTo>
                  <a:lnTo>
                    <a:pt x="34949" y="316034"/>
                  </a:lnTo>
                  <a:lnTo>
                    <a:pt x="53736" y="274313"/>
                  </a:lnTo>
                  <a:lnTo>
                    <a:pt x="76122" y="234725"/>
                  </a:lnTo>
                  <a:lnTo>
                    <a:pt x="101899" y="197480"/>
                  </a:lnTo>
                  <a:lnTo>
                    <a:pt x="130858" y="162788"/>
                  </a:lnTo>
                  <a:lnTo>
                    <a:pt x="162788" y="130858"/>
                  </a:lnTo>
                  <a:lnTo>
                    <a:pt x="197480" y="101899"/>
                  </a:lnTo>
                  <a:lnTo>
                    <a:pt x="234725" y="76122"/>
                  </a:lnTo>
                  <a:lnTo>
                    <a:pt x="274313" y="53735"/>
                  </a:lnTo>
                  <a:lnTo>
                    <a:pt x="316034" y="34949"/>
                  </a:lnTo>
                  <a:lnTo>
                    <a:pt x="359679" y="19973"/>
                  </a:lnTo>
                  <a:lnTo>
                    <a:pt x="405039" y="9016"/>
                  </a:lnTo>
                  <a:lnTo>
                    <a:pt x="451903" y="2289"/>
                  </a:lnTo>
                  <a:lnTo>
                    <a:pt x="500062" y="0"/>
                  </a:lnTo>
                  <a:lnTo>
                    <a:pt x="548221" y="2289"/>
                  </a:lnTo>
                  <a:lnTo>
                    <a:pt x="595085" y="9016"/>
                  </a:lnTo>
                  <a:lnTo>
                    <a:pt x="640445" y="19973"/>
                  </a:lnTo>
                  <a:lnTo>
                    <a:pt x="684090" y="34949"/>
                  </a:lnTo>
                  <a:lnTo>
                    <a:pt x="725811" y="53735"/>
                  </a:lnTo>
                  <a:lnTo>
                    <a:pt x="765399" y="76122"/>
                  </a:lnTo>
                  <a:lnTo>
                    <a:pt x="802644" y="101899"/>
                  </a:lnTo>
                  <a:lnTo>
                    <a:pt x="837336" y="130858"/>
                  </a:lnTo>
                  <a:lnTo>
                    <a:pt x="869266" y="162788"/>
                  </a:lnTo>
                  <a:lnTo>
                    <a:pt x="898225" y="197480"/>
                  </a:lnTo>
                  <a:lnTo>
                    <a:pt x="924002" y="234725"/>
                  </a:lnTo>
                  <a:lnTo>
                    <a:pt x="946388" y="274313"/>
                  </a:lnTo>
                  <a:lnTo>
                    <a:pt x="965175" y="316034"/>
                  </a:lnTo>
                  <a:lnTo>
                    <a:pt x="980151" y="359679"/>
                  </a:lnTo>
                  <a:lnTo>
                    <a:pt x="991108" y="405038"/>
                  </a:lnTo>
                  <a:lnTo>
                    <a:pt x="997835" y="451903"/>
                  </a:lnTo>
                  <a:lnTo>
                    <a:pt x="1000124" y="500062"/>
                  </a:lnTo>
                  <a:lnTo>
                    <a:pt x="997835" y="548221"/>
                  </a:lnTo>
                  <a:lnTo>
                    <a:pt x="991108" y="595086"/>
                  </a:lnTo>
                  <a:lnTo>
                    <a:pt x="980151" y="640445"/>
                  </a:lnTo>
                  <a:lnTo>
                    <a:pt x="965175" y="684090"/>
                  </a:lnTo>
                  <a:lnTo>
                    <a:pt x="946388" y="725811"/>
                  </a:lnTo>
                  <a:lnTo>
                    <a:pt x="924002" y="765399"/>
                  </a:lnTo>
                  <a:lnTo>
                    <a:pt x="898225" y="802644"/>
                  </a:lnTo>
                  <a:lnTo>
                    <a:pt x="869266" y="837336"/>
                  </a:lnTo>
                  <a:lnTo>
                    <a:pt x="837336" y="869266"/>
                  </a:lnTo>
                  <a:lnTo>
                    <a:pt x="802644" y="898225"/>
                  </a:lnTo>
                  <a:lnTo>
                    <a:pt x="765399" y="924002"/>
                  </a:lnTo>
                  <a:lnTo>
                    <a:pt x="725811" y="946389"/>
                  </a:lnTo>
                  <a:lnTo>
                    <a:pt x="684090" y="965175"/>
                  </a:lnTo>
                  <a:lnTo>
                    <a:pt x="640445" y="980151"/>
                  </a:lnTo>
                  <a:lnTo>
                    <a:pt x="595085" y="991108"/>
                  </a:lnTo>
                  <a:lnTo>
                    <a:pt x="548221" y="997835"/>
                  </a:lnTo>
                  <a:lnTo>
                    <a:pt x="500062" y="1000124"/>
                  </a:lnTo>
                  <a:close/>
                </a:path>
              </a:pathLst>
            </a:custGeom>
            <a:solidFill>
              <a:srgbClr val="F693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7131397" y="3730625"/>
            <a:ext cx="23749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100" b="1" spc="-25" dirty="0">
                <a:solidFill>
                  <a:srgbClr val="FFFFFF"/>
                </a:solidFill>
                <a:latin typeface="Trebuchet MS"/>
                <a:cs typeface="Trebuchet MS"/>
              </a:rPr>
              <a:t>IE</a:t>
            </a:r>
            <a:endParaRPr sz="2100">
              <a:latin typeface="Trebuchet MS"/>
              <a:cs typeface="Trebuchet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820025" y="3279140"/>
            <a:ext cx="1315720" cy="7150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1A1A2E"/>
                </a:solidFill>
                <a:latin typeface="Trebuchet MS"/>
                <a:cs typeface="Trebuchet MS"/>
              </a:rPr>
              <a:t>Izabayo</a:t>
            </a:r>
            <a:r>
              <a:rPr sz="1800" b="1" spc="190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800" b="1" spc="-20" dirty="0">
                <a:solidFill>
                  <a:srgbClr val="1A1A2E"/>
                </a:solidFill>
                <a:latin typeface="Trebuchet MS"/>
                <a:cs typeface="Trebuchet MS"/>
              </a:rPr>
              <a:t>Eloi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470"/>
              </a:spcBef>
            </a:pPr>
            <a:r>
              <a:rPr sz="1500" spc="75" dirty="0">
                <a:solidFill>
                  <a:srgbClr val="F6931A"/>
                </a:solidFill>
                <a:latin typeface="Trebuchet MS"/>
                <a:cs typeface="Trebuchet MS"/>
              </a:rPr>
              <a:t>CTO</a:t>
            </a:r>
            <a:endParaRPr sz="1500">
              <a:latin typeface="Trebuchet MS"/>
              <a:cs typeface="Trebuchet MS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1801474" y="3038475"/>
            <a:ext cx="4972050" cy="1828800"/>
            <a:chOff x="11801474" y="3038475"/>
            <a:chExt cx="4972050" cy="1828800"/>
          </a:xfrm>
        </p:grpSpPr>
        <p:sp>
          <p:nvSpPr>
            <p:cNvPr id="18" name="object 18"/>
            <p:cNvSpPr/>
            <p:nvPr/>
          </p:nvSpPr>
          <p:spPr>
            <a:xfrm>
              <a:off x="11810999" y="3047999"/>
              <a:ext cx="4953000" cy="1809750"/>
            </a:xfrm>
            <a:custGeom>
              <a:avLst/>
              <a:gdLst/>
              <a:ahLst/>
              <a:cxnLst/>
              <a:rect l="l" t="t" r="r" b="b"/>
              <a:pathLst>
                <a:path w="4953000" h="1809750">
                  <a:moveTo>
                    <a:pt x="4952999" y="1809749"/>
                  </a:moveTo>
                  <a:lnTo>
                    <a:pt x="0" y="1809749"/>
                  </a:lnTo>
                  <a:lnTo>
                    <a:pt x="0" y="0"/>
                  </a:lnTo>
                  <a:lnTo>
                    <a:pt x="4952999" y="0"/>
                  </a:lnTo>
                  <a:lnTo>
                    <a:pt x="4952999" y="18097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1810999" y="3047999"/>
              <a:ext cx="4953000" cy="1809750"/>
            </a:xfrm>
            <a:custGeom>
              <a:avLst/>
              <a:gdLst/>
              <a:ahLst/>
              <a:cxnLst/>
              <a:rect l="l" t="t" r="r" b="b"/>
              <a:pathLst>
                <a:path w="4953000" h="1809750">
                  <a:moveTo>
                    <a:pt x="0" y="0"/>
                  </a:moveTo>
                  <a:lnTo>
                    <a:pt x="4952999" y="0"/>
                  </a:lnTo>
                  <a:lnTo>
                    <a:pt x="4952999" y="1809749"/>
                  </a:lnTo>
                  <a:lnTo>
                    <a:pt x="0" y="180974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D9D9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2115800" y="3419474"/>
              <a:ext cx="1000125" cy="1000125"/>
            </a:xfrm>
            <a:custGeom>
              <a:avLst/>
              <a:gdLst/>
              <a:ahLst/>
              <a:cxnLst/>
              <a:rect l="l" t="t" r="r" b="b"/>
              <a:pathLst>
                <a:path w="1000125" h="1000125">
                  <a:moveTo>
                    <a:pt x="500062" y="1000124"/>
                  </a:moveTo>
                  <a:lnTo>
                    <a:pt x="451903" y="997835"/>
                  </a:lnTo>
                  <a:lnTo>
                    <a:pt x="405039" y="991108"/>
                  </a:lnTo>
                  <a:lnTo>
                    <a:pt x="359679" y="980151"/>
                  </a:lnTo>
                  <a:lnTo>
                    <a:pt x="316034" y="965175"/>
                  </a:lnTo>
                  <a:lnTo>
                    <a:pt x="274313" y="946389"/>
                  </a:lnTo>
                  <a:lnTo>
                    <a:pt x="234725" y="924002"/>
                  </a:lnTo>
                  <a:lnTo>
                    <a:pt x="197480" y="898225"/>
                  </a:lnTo>
                  <a:lnTo>
                    <a:pt x="162788" y="869266"/>
                  </a:lnTo>
                  <a:lnTo>
                    <a:pt x="130858" y="837336"/>
                  </a:lnTo>
                  <a:lnTo>
                    <a:pt x="101899" y="802644"/>
                  </a:lnTo>
                  <a:lnTo>
                    <a:pt x="76122" y="765399"/>
                  </a:lnTo>
                  <a:lnTo>
                    <a:pt x="53736" y="725811"/>
                  </a:lnTo>
                  <a:lnTo>
                    <a:pt x="34949" y="684090"/>
                  </a:lnTo>
                  <a:lnTo>
                    <a:pt x="19973" y="640445"/>
                  </a:lnTo>
                  <a:lnTo>
                    <a:pt x="9016" y="595086"/>
                  </a:lnTo>
                  <a:lnTo>
                    <a:pt x="2289" y="548221"/>
                  </a:lnTo>
                  <a:lnTo>
                    <a:pt x="0" y="500062"/>
                  </a:lnTo>
                  <a:lnTo>
                    <a:pt x="2289" y="451903"/>
                  </a:lnTo>
                  <a:lnTo>
                    <a:pt x="9016" y="405038"/>
                  </a:lnTo>
                  <a:lnTo>
                    <a:pt x="19973" y="359679"/>
                  </a:lnTo>
                  <a:lnTo>
                    <a:pt x="34949" y="316034"/>
                  </a:lnTo>
                  <a:lnTo>
                    <a:pt x="53736" y="274313"/>
                  </a:lnTo>
                  <a:lnTo>
                    <a:pt x="76122" y="234725"/>
                  </a:lnTo>
                  <a:lnTo>
                    <a:pt x="101899" y="197480"/>
                  </a:lnTo>
                  <a:lnTo>
                    <a:pt x="130858" y="162788"/>
                  </a:lnTo>
                  <a:lnTo>
                    <a:pt x="162788" y="130858"/>
                  </a:lnTo>
                  <a:lnTo>
                    <a:pt x="197480" y="101899"/>
                  </a:lnTo>
                  <a:lnTo>
                    <a:pt x="234725" y="76122"/>
                  </a:lnTo>
                  <a:lnTo>
                    <a:pt x="274313" y="53735"/>
                  </a:lnTo>
                  <a:lnTo>
                    <a:pt x="316034" y="34949"/>
                  </a:lnTo>
                  <a:lnTo>
                    <a:pt x="359679" y="19973"/>
                  </a:lnTo>
                  <a:lnTo>
                    <a:pt x="405039" y="9016"/>
                  </a:lnTo>
                  <a:lnTo>
                    <a:pt x="451903" y="2289"/>
                  </a:lnTo>
                  <a:lnTo>
                    <a:pt x="500062" y="0"/>
                  </a:lnTo>
                  <a:lnTo>
                    <a:pt x="548221" y="2289"/>
                  </a:lnTo>
                  <a:lnTo>
                    <a:pt x="595086" y="9016"/>
                  </a:lnTo>
                  <a:lnTo>
                    <a:pt x="640445" y="19973"/>
                  </a:lnTo>
                  <a:lnTo>
                    <a:pt x="684090" y="34949"/>
                  </a:lnTo>
                  <a:lnTo>
                    <a:pt x="725812" y="53735"/>
                  </a:lnTo>
                  <a:lnTo>
                    <a:pt x="765399" y="76122"/>
                  </a:lnTo>
                  <a:lnTo>
                    <a:pt x="802644" y="101899"/>
                  </a:lnTo>
                  <a:lnTo>
                    <a:pt x="837336" y="130858"/>
                  </a:lnTo>
                  <a:lnTo>
                    <a:pt x="869266" y="162788"/>
                  </a:lnTo>
                  <a:lnTo>
                    <a:pt x="898225" y="197480"/>
                  </a:lnTo>
                  <a:lnTo>
                    <a:pt x="924002" y="234725"/>
                  </a:lnTo>
                  <a:lnTo>
                    <a:pt x="946389" y="274313"/>
                  </a:lnTo>
                  <a:lnTo>
                    <a:pt x="965175" y="316034"/>
                  </a:lnTo>
                  <a:lnTo>
                    <a:pt x="980151" y="359679"/>
                  </a:lnTo>
                  <a:lnTo>
                    <a:pt x="991108" y="405038"/>
                  </a:lnTo>
                  <a:lnTo>
                    <a:pt x="997835" y="451903"/>
                  </a:lnTo>
                  <a:lnTo>
                    <a:pt x="1000124" y="500062"/>
                  </a:lnTo>
                  <a:lnTo>
                    <a:pt x="997835" y="548221"/>
                  </a:lnTo>
                  <a:lnTo>
                    <a:pt x="991108" y="595086"/>
                  </a:lnTo>
                  <a:lnTo>
                    <a:pt x="980151" y="640445"/>
                  </a:lnTo>
                  <a:lnTo>
                    <a:pt x="965175" y="684090"/>
                  </a:lnTo>
                  <a:lnTo>
                    <a:pt x="946389" y="725811"/>
                  </a:lnTo>
                  <a:lnTo>
                    <a:pt x="924002" y="765399"/>
                  </a:lnTo>
                  <a:lnTo>
                    <a:pt x="898225" y="802644"/>
                  </a:lnTo>
                  <a:lnTo>
                    <a:pt x="869266" y="837336"/>
                  </a:lnTo>
                  <a:lnTo>
                    <a:pt x="837336" y="869266"/>
                  </a:lnTo>
                  <a:lnTo>
                    <a:pt x="802644" y="898225"/>
                  </a:lnTo>
                  <a:lnTo>
                    <a:pt x="765399" y="924002"/>
                  </a:lnTo>
                  <a:lnTo>
                    <a:pt x="725812" y="946389"/>
                  </a:lnTo>
                  <a:lnTo>
                    <a:pt x="684090" y="965175"/>
                  </a:lnTo>
                  <a:lnTo>
                    <a:pt x="640445" y="980151"/>
                  </a:lnTo>
                  <a:lnTo>
                    <a:pt x="595086" y="991108"/>
                  </a:lnTo>
                  <a:lnTo>
                    <a:pt x="548221" y="997835"/>
                  </a:lnTo>
                  <a:lnTo>
                    <a:pt x="500062" y="1000124"/>
                  </a:lnTo>
                  <a:close/>
                </a:path>
              </a:pathLst>
            </a:custGeom>
            <a:solidFill>
              <a:srgbClr val="1A1A2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12449471" y="3730625"/>
            <a:ext cx="34544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100" b="1" spc="-25" dirty="0">
                <a:solidFill>
                  <a:srgbClr val="FFFFFF"/>
                </a:solidFill>
                <a:latin typeface="Trebuchet MS"/>
                <a:cs typeface="Trebuchet MS"/>
              </a:rPr>
              <a:t>KP</a:t>
            </a:r>
            <a:endParaRPr sz="2100">
              <a:latin typeface="Trebuchet MS"/>
              <a:cs typeface="Trebuchet M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3192125" y="3279140"/>
            <a:ext cx="1628775" cy="7150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b="1" spc="60" dirty="0">
                <a:solidFill>
                  <a:srgbClr val="1A1A2E"/>
                </a:solidFill>
                <a:latin typeface="Trebuchet MS"/>
                <a:cs typeface="Trebuchet MS"/>
              </a:rPr>
              <a:t>Kabuye</a:t>
            </a:r>
            <a:r>
              <a:rPr sz="1800" b="1" spc="-90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800" b="1" spc="-10" dirty="0">
                <a:solidFill>
                  <a:srgbClr val="1A1A2E"/>
                </a:solidFill>
                <a:latin typeface="Trebuchet MS"/>
                <a:cs typeface="Trebuchet MS"/>
              </a:rPr>
              <a:t>Prince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470"/>
              </a:spcBef>
            </a:pPr>
            <a:r>
              <a:rPr sz="1500" dirty="0">
                <a:solidFill>
                  <a:srgbClr val="F6931A"/>
                </a:solidFill>
                <a:latin typeface="Trebuchet MS"/>
                <a:cs typeface="Trebuchet MS"/>
              </a:rPr>
              <a:t>Frontend</a:t>
            </a:r>
            <a:r>
              <a:rPr sz="1500" spc="175" dirty="0">
                <a:solidFill>
                  <a:srgbClr val="F6931A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F6931A"/>
                </a:solidFill>
                <a:latin typeface="Trebuchet MS"/>
                <a:cs typeface="Trebuchet MS"/>
              </a:rPr>
              <a:t>Engineer</a:t>
            </a:r>
            <a:endParaRPr sz="1500">
              <a:latin typeface="Trebuchet MS"/>
              <a:cs typeface="Trebuchet MS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1057275" y="5610224"/>
            <a:ext cx="4972050" cy="1828800"/>
            <a:chOff x="1057275" y="5610224"/>
            <a:chExt cx="4972050" cy="1828800"/>
          </a:xfrm>
        </p:grpSpPr>
        <p:sp>
          <p:nvSpPr>
            <p:cNvPr id="24" name="object 24"/>
            <p:cNvSpPr/>
            <p:nvPr/>
          </p:nvSpPr>
          <p:spPr>
            <a:xfrm>
              <a:off x="1066799" y="5619750"/>
              <a:ext cx="4953000" cy="1809750"/>
            </a:xfrm>
            <a:custGeom>
              <a:avLst/>
              <a:gdLst/>
              <a:ahLst/>
              <a:cxnLst/>
              <a:rect l="l" t="t" r="r" b="b"/>
              <a:pathLst>
                <a:path w="4953000" h="1809750">
                  <a:moveTo>
                    <a:pt x="4952999" y="1809749"/>
                  </a:moveTo>
                  <a:lnTo>
                    <a:pt x="0" y="1809749"/>
                  </a:lnTo>
                  <a:lnTo>
                    <a:pt x="0" y="0"/>
                  </a:lnTo>
                  <a:lnTo>
                    <a:pt x="4952999" y="0"/>
                  </a:lnTo>
                  <a:lnTo>
                    <a:pt x="4952999" y="18097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066799" y="5619749"/>
              <a:ext cx="4953000" cy="1809750"/>
            </a:xfrm>
            <a:custGeom>
              <a:avLst/>
              <a:gdLst/>
              <a:ahLst/>
              <a:cxnLst/>
              <a:rect l="l" t="t" r="r" b="b"/>
              <a:pathLst>
                <a:path w="4953000" h="1809750">
                  <a:moveTo>
                    <a:pt x="0" y="0"/>
                  </a:moveTo>
                  <a:lnTo>
                    <a:pt x="4952999" y="0"/>
                  </a:lnTo>
                  <a:lnTo>
                    <a:pt x="4952999" y="1809749"/>
                  </a:lnTo>
                  <a:lnTo>
                    <a:pt x="0" y="180974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D9D9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371600" y="5991224"/>
              <a:ext cx="1000125" cy="1000125"/>
            </a:xfrm>
            <a:custGeom>
              <a:avLst/>
              <a:gdLst/>
              <a:ahLst/>
              <a:cxnLst/>
              <a:rect l="l" t="t" r="r" b="b"/>
              <a:pathLst>
                <a:path w="1000125" h="1000125">
                  <a:moveTo>
                    <a:pt x="500062" y="1000124"/>
                  </a:moveTo>
                  <a:lnTo>
                    <a:pt x="451903" y="997835"/>
                  </a:lnTo>
                  <a:lnTo>
                    <a:pt x="405038" y="991108"/>
                  </a:lnTo>
                  <a:lnTo>
                    <a:pt x="359679" y="980151"/>
                  </a:lnTo>
                  <a:lnTo>
                    <a:pt x="316034" y="965175"/>
                  </a:lnTo>
                  <a:lnTo>
                    <a:pt x="274313" y="946388"/>
                  </a:lnTo>
                  <a:lnTo>
                    <a:pt x="234725" y="924002"/>
                  </a:lnTo>
                  <a:lnTo>
                    <a:pt x="197480" y="898225"/>
                  </a:lnTo>
                  <a:lnTo>
                    <a:pt x="162788" y="869266"/>
                  </a:lnTo>
                  <a:lnTo>
                    <a:pt x="130858" y="837336"/>
                  </a:lnTo>
                  <a:lnTo>
                    <a:pt x="101899" y="802644"/>
                  </a:lnTo>
                  <a:lnTo>
                    <a:pt x="76122" y="765399"/>
                  </a:lnTo>
                  <a:lnTo>
                    <a:pt x="53735" y="725811"/>
                  </a:lnTo>
                  <a:lnTo>
                    <a:pt x="34949" y="684090"/>
                  </a:lnTo>
                  <a:lnTo>
                    <a:pt x="19973" y="640445"/>
                  </a:lnTo>
                  <a:lnTo>
                    <a:pt x="9016" y="595085"/>
                  </a:lnTo>
                  <a:lnTo>
                    <a:pt x="2289" y="548221"/>
                  </a:lnTo>
                  <a:lnTo>
                    <a:pt x="0" y="500062"/>
                  </a:lnTo>
                  <a:lnTo>
                    <a:pt x="2289" y="451903"/>
                  </a:lnTo>
                  <a:lnTo>
                    <a:pt x="9016" y="405038"/>
                  </a:lnTo>
                  <a:lnTo>
                    <a:pt x="19973" y="359679"/>
                  </a:lnTo>
                  <a:lnTo>
                    <a:pt x="34949" y="316034"/>
                  </a:lnTo>
                  <a:lnTo>
                    <a:pt x="53735" y="274313"/>
                  </a:lnTo>
                  <a:lnTo>
                    <a:pt x="76122" y="234725"/>
                  </a:lnTo>
                  <a:lnTo>
                    <a:pt x="101899" y="197480"/>
                  </a:lnTo>
                  <a:lnTo>
                    <a:pt x="130858" y="162788"/>
                  </a:lnTo>
                  <a:lnTo>
                    <a:pt x="162788" y="130858"/>
                  </a:lnTo>
                  <a:lnTo>
                    <a:pt x="197480" y="101899"/>
                  </a:lnTo>
                  <a:lnTo>
                    <a:pt x="234725" y="76122"/>
                  </a:lnTo>
                  <a:lnTo>
                    <a:pt x="274313" y="53735"/>
                  </a:lnTo>
                  <a:lnTo>
                    <a:pt x="316034" y="34949"/>
                  </a:lnTo>
                  <a:lnTo>
                    <a:pt x="359679" y="19973"/>
                  </a:lnTo>
                  <a:lnTo>
                    <a:pt x="405038" y="9016"/>
                  </a:lnTo>
                  <a:lnTo>
                    <a:pt x="451903" y="2289"/>
                  </a:lnTo>
                  <a:lnTo>
                    <a:pt x="500062" y="0"/>
                  </a:lnTo>
                  <a:lnTo>
                    <a:pt x="548221" y="2289"/>
                  </a:lnTo>
                  <a:lnTo>
                    <a:pt x="595085" y="9016"/>
                  </a:lnTo>
                  <a:lnTo>
                    <a:pt x="640445" y="19973"/>
                  </a:lnTo>
                  <a:lnTo>
                    <a:pt x="684090" y="34949"/>
                  </a:lnTo>
                  <a:lnTo>
                    <a:pt x="725811" y="53735"/>
                  </a:lnTo>
                  <a:lnTo>
                    <a:pt x="765399" y="76122"/>
                  </a:lnTo>
                  <a:lnTo>
                    <a:pt x="802644" y="101899"/>
                  </a:lnTo>
                  <a:lnTo>
                    <a:pt x="837336" y="130858"/>
                  </a:lnTo>
                  <a:lnTo>
                    <a:pt x="869266" y="162788"/>
                  </a:lnTo>
                  <a:lnTo>
                    <a:pt x="898225" y="197480"/>
                  </a:lnTo>
                  <a:lnTo>
                    <a:pt x="924002" y="234725"/>
                  </a:lnTo>
                  <a:lnTo>
                    <a:pt x="946388" y="274313"/>
                  </a:lnTo>
                  <a:lnTo>
                    <a:pt x="965175" y="316034"/>
                  </a:lnTo>
                  <a:lnTo>
                    <a:pt x="980151" y="359679"/>
                  </a:lnTo>
                  <a:lnTo>
                    <a:pt x="991108" y="405038"/>
                  </a:lnTo>
                  <a:lnTo>
                    <a:pt x="997835" y="451903"/>
                  </a:lnTo>
                  <a:lnTo>
                    <a:pt x="1000124" y="500062"/>
                  </a:lnTo>
                  <a:lnTo>
                    <a:pt x="997835" y="548221"/>
                  </a:lnTo>
                  <a:lnTo>
                    <a:pt x="991108" y="595085"/>
                  </a:lnTo>
                  <a:lnTo>
                    <a:pt x="980151" y="640445"/>
                  </a:lnTo>
                  <a:lnTo>
                    <a:pt x="965175" y="684090"/>
                  </a:lnTo>
                  <a:lnTo>
                    <a:pt x="946388" y="725811"/>
                  </a:lnTo>
                  <a:lnTo>
                    <a:pt x="924002" y="765399"/>
                  </a:lnTo>
                  <a:lnTo>
                    <a:pt x="898225" y="802644"/>
                  </a:lnTo>
                  <a:lnTo>
                    <a:pt x="869266" y="837336"/>
                  </a:lnTo>
                  <a:lnTo>
                    <a:pt x="837336" y="869266"/>
                  </a:lnTo>
                  <a:lnTo>
                    <a:pt x="802644" y="898225"/>
                  </a:lnTo>
                  <a:lnTo>
                    <a:pt x="765399" y="924002"/>
                  </a:lnTo>
                  <a:lnTo>
                    <a:pt x="725811" y="946388"/>
                  </a:lnTo>
                  <a:lnTo>
                    <a:pt x="684090" y="965175"/>
                  </a:lnTo>
                  <a:lnTo>
                    <a:pt x="640445" y="980151"/>
                  </a:lnTo>
                  <a:lnTo>
                    <a:pt x="595085" y="991108"/>
                  </a:lnTo>
                  <a:lnTo>
                    <a:pt x="548221" y="997835"/>
                  </a:lnTo>
                  <a:lnTo>
                    <a:pt x="500062" y="1000124"/>
                  </a:lnTo>
                  <a:close/>
                </a:path>
              </a:pathLst>
            </a:custGeom>
            <a:solidFill>
              <a:srgbClr val="F693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1660326" y="6302374"/>
            <a:ext cx="435609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100" b="1" spc="185" dirty="0">
                <a:solidFill>
                  <a:srgbClr val="FFFFFF"/>
                </a:solidFill>
                <a:latin typeface="Trebuchet MS"/>
                <a:cs typeface="Trebuchet MS"/>
              </a:rPr>
              <a:t>MA</a:t>
            </a:r>
            <a:endParaRPr sz="2100">
              <a:latin typeface="Trebuchet MS"/>
              <a:cs typeface="Trebuchet MS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447924" y="5850889"/>
            <a:ext cx="1584960" cy="7150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1A1A2E"/>
                </a:solidFill>
                <a:latin typeface="Trebuchet MS"/>
                <a:cs typeface="Trebuchet MS"/>
              </a:rPr>
              <a:t>Manzi</a:t>
            </a:r>
            <a:r>
              <a:rPr sz="1800" b="1" spc="70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800" b="1" spc="-20" dirty="0">
                <a:solidFill>
                  <a:srgbClr val="1A1A2E"/>
                </a:solidFill>
                <a:latin typeface="Trebuchet MS"/>
                <a:cs typeface="Trebuchet MS"/>
              </a:rPr>
              <a:t>Alpe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470"/>
              </a:spcBef>
            </a:pPr>
            <a:r>
              <a:rPr sz="1500" spc="50" dirty="0">
                <a:solidFill>
                  <a:srgbClr val="F6931A"/>
                </a:solidFill>
                <a:latin typeface="Trebuchet MS"/>
                <a:cs typeface="Trebuchet MS"/>
              </a:rPr>
              <a:t>Backend</a:t>
            </a:r>
            <a:r>
              <a:rPr sz="1500" spc="-55" dirty="0">
                <a:solidFill>
                  <a:srgbClr val="F6931A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F6931A"/>
                </a:solidFill>
                <a:latin typeface="Trebuchet MS"/>
                <a:cs typeface="Trebuchet MS"/>
              </a:rPr>
              <a:t>Engineer</a:t>
            </a:r>
            <a:endParaRPr sz="1500">
              <a:latin typeface="Trebuchet MS"/>
              <a:cs typeface="Trebuchet MS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6429374" y="5610224"/>
            <a:ext cx="4972050" cy="1828800"/>
            <a:chOff x="6429374" y="5610224"/>
            <a:chExt cx="4972050" cy="1828800"/>
          </a:xfrm>
        </p:grpSpPr>
        <p:sp>
          <p:nvSpPr>
            <p:cNvPr id="30" name="object 30"/>
            <p:cNvSpPr/>
            <p:nvPr/>
          </p:nvSpPr>
          <p:spPr>
            <a:xfrm>
              <a:off x="6438900" y="5619750"/>
              <a:ext cx="4953000" cy="1809750"/>
            </a:xfrm>
            <a:custGeom>
              <a:avLst/>
              <a:gdLst/>
              <a:ahLst/>
              <a:cxnLst/>
              <a:rect l="l" t="t" r="r" b="b"/>
              <a:pathLst>
                <a:path w="4953000" h="1809750">
                  <a:moveTo>
                    <a:pt x="4952999" y="1809749"/>
                  </a:moveTo>
                  <a:lnTo>
                    <a:pt x="0" y="1809749"/>
                  </a:lnTo>
                  <a:lnTo>
                    <a:pt x="0" y="0"/>
                  </a:lnTo>
                  <a:lnTo>
                    <a:pt x="4952999" y="0"/>
                  </a:lnTo>
                  <a:lnTo>
                    <a:pt x="4952999" y="18097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438899" y="5619749"/>
              <a:ext cx="4953000" cy="1809750"/>
            </a:xfrm>
            <a:custGeom>
              <a:avLst/>
              <a:gdLst/>
              <a:ahLst/>
              <a:cxnLst/>
              <a:rect l="l" t="t" r="r" b="b"/>
              <a:pathLst>
                <a:path w="4953000" h="1809750">
                  <a:moveTo>
                    <a:pt x="0" y="0"/>
                  </a:moveTo>
                  <a:lnTo>
                    <a:pt x="4952999" y="0"/>
                  </a:lnTo>
                  <a:lnTo>
                    <a:pt x="4952999" y="1809749"/>
                  </a:lnTo>
                  <a:lnTo>
                    <a:pt x="0" y="180974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D9D9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743699" y="5991224"/>
              <a:ext cx="1000125" cy="1000125"/>
            </a:xfrm>
            <a:custGeom>
              <a:avLst/>
              <a:gdLst/>
              <a:ahLst/>
              <a:cxnLst/>
              <a:rect l="l" t="t" r="r" b="b"/>
              <a:pathLst>
                <a:path w="1000125" h="1000125">
                  <a:moveTo>
                    <a:pt x="500062" y="1000124"/>
                  </a:moveTo>
                  <a:lnTo>
                    <a:pt x="451903" y="997835"/>
                  </a:lnTo>
                  <a:lnTo>
                    <a:pt x="405039" y="991108"/>
                  </a:lnTo>
                  <a:lnTo>
                    <a:pt x="359679" y="980151"/>
                  </a:lnTo>
                  <a:lnTo>
                    <a:pt x="316034" y="965175"/>
                  </a:lnTo>
                  <a:lnTo>
                    <a:pt x="274313" y="946388"/>
                  </a:lnTo>
                  <a:lnTo>
                    <a:pt x="234725" y="924002"/>
                  </a:lnTo>
                  <a:lnTo>
                    <a:pt x="197480" y="898225"/>
                  </a:lnTo>
                  <a:lnTo>
                    <a:pt x="162788" y="869266"/>
                  </a:lnTo>
                  <a:lnTo>
                    <a:pt x="130858" y="837336"/>
                  </a:lnTo>
                  <a:lnTo>
                    <a:pt x="101899" y="802644"/>
                  </a:lnTo>
                  <a:lnTo>
                    <a:pt x="76122" y="765399"/>
                  </a:lnTo>
                  <a:lnTo>
                    <a:pt x="53736" y="725811"/>
                  </a:lnTo>
                  <a:lnTo>
                    <a:pt x="34949" y="684090"/>
                  </a:lnTo>
                  <a:lnTo>
                    <a:pt x="19973" y="640445"/>
                  </a:lnTo>
                  <a:lnTo>
                    <a:pt x="9016" y="595085"/>
                  </a:lnTo>
                  <a:lnTo>
                    <a:pt x="2289" y="548221"/>
                  </a:lnTo>
                  <a:lnTo>
                    <a:pt x="0" y="500062"/>
                  </a:lnTo>
                  <a:lnTo>
                    <a:pt x="2289" y="451903"/>
                  </a:lnTo>
                  <a:lnTo>
                    <a:pt x="9016" y="405038"/>
                  </a:lnTo>
                  <a:lnTo>
                    <a:pt x="19973" y="359679"/>
                  </a:lnTo>
                  <a:lnTo>
                    <a:pt x="34949" y="316034"/>
                  </a:lnTo>
                  <a:lnTo>
                    <a:pt x="53736" y="274313"/>
                  </a:lnTo>
                  <a:lnTo>
                    <a:pt x="76122" y="234725"/>
                  </a:lnTo>
                  <a:lnTo>
                    <a:pt x="101899" y="197480"/>
                  </a:lnTo>
                  <a:lnTo>
                    <a:pt x="130858" y="162788"/>
                  </a:lnTo>
                  <a:lnTo>
                    <a:pt x="162788" y="130858"/>
                  </a:lnTo>
                  <a:lnTo>
                    <a:pt x="197480" y="101899"/>
                  </a:lnTo>
                  <a:lnTo>
                    <a:pt x="234725" y="76122"/>
                  </a:lnTo>
                  <a:lnTo>
                    <a:pt x="274313" y="53735"/>
                  </a:lnTo>
                  <a:lnTo>
                    <a:pt x="316034" y="34949"/>
                  </a:lnTo>
                  <a:lnTo>
                    <a:pt x="359679" y="19973"/>
                  </a:lnTo>
                  <a:lnTo>
                    <a:pt x="405039" y="9016"/>
                  </a:lnTo>
                  <a:lnTo>
                    <a:pt x="451903" y="2289"/>
                  </a:lnTo>
                  <a:lnTo>
                    <a:pt x="500062" y="0"/>
                  </a:lnTo>
                  <a:lnTo>
                    <a:pt x="548221" y="2289"/>
                  </a:lnTo>
                  <a:lnTo>
                    <a:pt x="595085" y="9016"/>
                  </a:lnTo>
                  <a:lnTo>
                    <a:pt x="640445" y="19973"/>
                  </a:lnTo>
                  <a:lnTo>
                    <a:pt x="684090" y="34949"/>
                  </a:lnTo>
                  <a:lnTo>
                    <a:pt x="725811" y="53735"/>
                  </a:lnTo>
                  <a:lnTo>
                    <a:pt x="765399" y="76122"/>
                  </a:lnTo>
                  <a:lnTo>
                    <a:pt x="802644" y="101899"/>
                  </a:lnTo>
                  <a:lnTo>
                    <a:pt x="837336" y="130858"/>
                  </a:lnTo>
                  <a:lnTo>
                    <a:pt x="869266" y="162788"/>
                  </a:lnTo>
                  <a:lnTo>
                    <a:pt x="898225" y="197480"/>
                  </a:lnTo>
                  <a:lnTo>
                    <a:pt x="924002" y="234725"/>
                  </a:lnTo>
                  <a:lnTo>
                    <a:pt x="946388" y="274313"/>
                  </a:lnTo>
                  <a:lnTo>
                    <a:pt x="965175" y="316034"/>
                  </a:lnTo>
                  <a:lnTo>
                    <a:pt x="980151" y="359679"/>
                  </a:lnTo>
                  <a:lnTo>
                    <a:pt x="991108" y="405038"/>
                  </a:lnTo>
                  <a:lnTo>
                    <a:pt x="997835" y="451903"/>
                  </a:lnTo>
                  <a:lnTo>
                    <a:pt x="1000124" y="500062"/>
                  </a:lnTo>
                  <a:lnTo>
                    <a:pt x="997835" y="548221"/>
                  </a:lnTo>
                  <a:lnTo>
                    <a:pt x="991108" y="595085"/>
                  </a:lnTo>
                  <a:lnTo>
                    <a:pt x="980151" y="640445"/>
                  </a:lnTo>
                  <a:lnTo>
                    <a:pt x="965175" y="684090"/>
                  </a:lnTo>
                  <a:lnTo>
                    <a:pt x="946388" y="725811"/>
                  </a:lnTo>
                  <a:lnTo>
                    <a:pt x="924002" y="765399"/>
                  </a:lnTo>
                  <a:lnTo>
                    <a:pt x="898225" y="802644"/>
                  </a:lnTo>
                  <a:lnTo>
                    <a:pt x="869266" y="837336"/>
                  </a:lnTo>
                  <a:lnTo>
                    <a:pt x="837336" y="869266"/>
                  </a:lnTo>
                  <a:lnTo>
                    <a:pt x="802644" y="898225"/>
                  </a:lnTo>
                  <a:lnTo>
                    <a:pt x="765399" y="924002"/>
                  </a:lnTo>
                  <a:lnTo>
                    <a:pt x="725811" y="946388"/>
                  </a:lnTo>
                  <a:lnTo>
                    <a:pt x="684090" y="965175"/>
                  </a:lnTo>
                  <a:lnTo>
                    <a:pt x="640445" y="980151"/>
                  </a:lnTo>
                  <a:lnTo>
                    <a:pt x="595085" y="991108"/>
                  </a:lnTo>
                  <a:lnTo>
                    <a:pt x="548221" y="997835"/>
                  </a:lnTo>
                  <a:lnTo>
                    <a:pt x="500062" y="1000124"/>
                  </a:lnTo>
                  <a:close/>
                </a:path>
              </a:pathLst>
            </a:custGeom>
            <a:solidFill>
              <a:srgbClr val="1A1A2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7031831" y="6302374"/>
            <a:ext cx="43688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100" b="1" spc="135" dirty="0">
                <a:solidFill>
                  <a:srgbClr val="FFFFFF"/>
                </a:solidFill>
                <a:latin typeface="Trebuchet MS"/>
                <a:cs typeface="Trebuchet MS"/>
              </a:rPr>
              <a:t>MH</a:t>
            </a:r>
            <a:endParaRPr sz="2100">
              <a:latin typeface="Trebuchet MS"/>
              <a:cs typeface="Trebuchet MS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7820025" y="5850889"/>
            <a:ext cx="1525905" cy="7150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b="1" spc="114" dirty="0">
                <a:solidFill>
                  <a:srgbClr val="1A1A2E"/>
                </a:solidFill>
                <a:latin typeface="Trebuchet MS"/>
                <a:cs typeface="Trebuchet MS"/>
              </a:rPr>
              <a:t>Mucyo</a:t>
            </a:r>
            <a:r>
              <a:rPr sz="1800" b="1" spc="-95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800" b="1" spc="-20" dirty="0">
                <a:solidFill>
                  <a:srgbClr val="1A1A2E"/>
                </a:solidFill>
                <a:latin typeface="Trebuchet MS"/>
                <a:cs typeface="Trebuchet MS"/>
              </a:rPr>
              <a:t>Herve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470"/>
              </a:spcBef>
            </a:pPr>
            <a:r>
              <a:rPr sz="1500" dirty="0">
                <a:solidFill>
                  <a:srgbClr val="F6931A"/>
                </a:solidFill>
                <a:latin typeface="Trebuchet MS"/>
                <a:cs typeface="Trebuchet MS"/>
              </a:rPr>
              <a:t>Product</a:t>
            </a:r>
            <a:r>
              <a:rPr sz="1500" spc="229" dirty="0">
                <a:solidFill>
                  <a:srgbClr val="F6931A"/>
                </a:solidFill>
                <a:latin typeface="Trebuchet MS"/>
                <a:cs typeface="Trebuchet MS"/>
              </a:rPr>
              <a:t> </a:t>
            </a:r>
            <a:r>
              <a:rPr sz="1500" spc="40" dirty="0">
                <a:solidFill>
                  <a:srgbClr val="F6931A"/>
                </a:solidFill>
                <a:latin typeface="Trebuchet MS"/>
                <a:cs typeface="Trebuchet MS"/>
              </a:rPr>
              <a:t>Manager</a:t>
            </a:r>
            <a:endParaRPr sz="1500">
              <a:latin typeface="Trebuchet MS"/>
              <a:cs typeface="Trebuchet MS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11801474" y="5610224"/>
            <a:ext cx="4972050" cy="1828800"/>
            <a:chOff x="11801474" y="5610224"/>
            <a:chExt cx="4972050" cy="1828800"/>
          </a:xfrm>
        </p:grpSpPr>
        <p:sp>
          <p:nvSpPr>
            <p:cNvPr id="36" name="object 36"/>
            <p:cNvSpPr/>
            <p:nvPr/>
          </p:nvSpPr>
          <p:spPr>
            <a:xfrm>
              <a:off x="11810999" y="5619750"/>
              <a:ext cx="4953000" cy="1809750"/>
            </a:xfrm>
            <a:custGeom>
              <a:avLst/>
              <a:gdLst/>
              <a:ahLst/>
              <a:cxnLst/>
              <a:rect l="l" t="t" r="r" b="b"/>
              <a:pathLst>
                <a:path w="4953000" h="1809750">
                  <a:moveTo>
                    <a:pt x="4952999" y="1809749"/>
                  </a:moveTo>
                  <a:lnTo>
                    <a:pt x="0" y="1809749"/>
                  </a:lnTo>
                  <a:lnTo>
                    <a:pt x="0" y="0"/>
                  </a:lnTo>
                  <a:lnTo>
                    <a:pt x="4952999" y="0"/>
                  </a:lnTo>
                  <a:lnTo>
                    <a:pt x="4952999" y="18097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11810999" y="5619749"/>
              <a:ext cx="4953000" cy="1809750"/>
            </a:xfrm>
            <a:custGeom>
              <a:avLst/>
              <a:gdLst/>
              <a:ahLst/>
              <a:cxnLst/>
              <a:rect l="l" t="t" r="r" b="b"/>
              <a:pathLst>
                <a:path w="4953000" h="1809750">
                  <a:moveTo>
                    <a:pt x="0" y="0"/>
                  </a:moveTo>
                  <a:lnTo>
                    <a:pt x="4952999" y="0"/>
                  </a:lnTo>
                  <a:lnTo>
                    <a:pt x="4952999" y="1809749"/>
                  </a:lnTo>
                  <a:lnTo>
                    <a:pt x="0" y="180974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D9D9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12115800" y="5991224"/>
              <a:ext cx="1000125" cy="1000125"/>
            </a:xfrm>
            <a:custGeom>
              <a:avLst/>
              <a:gdLst/>
              <a:ahLst/>
              <a:cxnLst/>
              <a:rect l="l" t="t" r="r" b="b"/>
              <a:pathLst>
                <a:path w="1000125" h="1000125">
                  <a:moveTo>
                    <a:pt x="500062" y="1000124"/>
                  </a:moveTo>
                  <a:lnTo>
                    <a:pt x="451903" y="997835"/>
                  </a:lnTo>
                  <a:lnTo>
                    <a:pt x="405039" y="991108"/>
                  </a:lnTo>
                  <a:lnTo>
                    <a:pt x="359679" y="980151"/>
                  </a:lnTo>
                  <a:lnTo>
                    <a:pt x="316034" y="965175"/>
                  </a:lnTo>
                  <a:lnTo>
                    <a:pt x="274313" y="946388"/>
                  </a:lnTo>
                  <a:lnTo>
                    <a:pt x="234725" y="924002"/>
                  </a:lnTo>
                  <a:lnTo>
                    <a:pt x="197480" y="898225"/>
                  </a:lnTo>
                  <a:lnTo>
                    <a:pt x="162788" y="869266"/>
                  </a:lnTo>
                  <a:lnTo>
                    <a:pt x="130858" y="837336"/>
                  </a:lnTo>
                  <a:lnTo>
                    <a:pt x="101899" y="802644"/>
                  </a:lnTo>
                  <a:lnTo>
                    <a:pt x="76122" y="765399"/>
                  </a:lnTo>
                  <a:lnTo>
                    <a:pt x="53736" y="725811"/>
                  </a:lnTo>
                  <a:lnTo>
                    <a:pt x="34949" y="684090"/>
                  </a:lnTo>
                  <a:lnTo>
                    <a:pt x="19973" y="640445"/>
                  </a:lnTo>
                  <a:lnTo>
                    <a:pt x="9016" y="595085"/>
                  </a:lnTo>
                  <a:lnTo>
                    <a:pt x="2289" y="548221"/>
                  </a:lnTo>
                  <a:lnTo>
                    <a:pt x="0" y="500062"/>
                  </a:lnTo>
                  <a:lnTo>
                    <a:pt x="2289" y="451903"/>
                  </a:lnTo>
                  <a:lnTo>
                    <a:pt x="9016" y="405038"/>
                  </a:lnTo>
                  <a:lnTo>
                    <a:pt x="19973" y="359679"/>
                  </a:lnTo>
                  <a:lnTo>
                    <a:pt x="34949" y="316034"/>
                  </a:lnTo>
                  <a:lnTo>
                    <a:pt x="53736" y="274313"/>
                  </a:lnTo>
                  <a:lnTo>
                    <a:pt x="76122" y="234725"/>
                  </a:lnTo>
                  <a:lnTo>
                    <a:pt x="101899" y="197480"/>
                  </a:lnTo>
                  <a:lnTo>
                    <a:pt x="130858" y="162788"/>
                  </a:lnTo>
                  <a:lnTo>
                    <a:pt x="162788" y="130858"/>
                  </a:lnTo>
                  <a:lnTo>
                    <a:pt x="197480" y="101899"/>
                  </a:lnTo>
                  <a:lnTo>
                    <a:pt x="234725" y="76122"/>
                  </a:lnTo>
                  <a:lnTo>
                    <a:pt x="274313" y="53735"/>
                  </a:lnTo>
                  <a:lnTo>
                    <a:pt x="316034" y="34949"/>
                  </a:lnTo>
                  <a:lnTo>
                    <a:pt x="359679" y="19973"/>
                  </a:lnTo>
                  <a:lnTo>
                    <a:pt x="405039" y="9016"/>
                  </a:lnTo>
                  <a:lnTo>
                    <a:pt x="451903" y="2289"/>
                  </a:lnTo>
                  <a:lnTo>
                    <a:pt x="500062" y="0"/>
                  </a:lnTo>
                  <a:lnTo>
                    <a:pt x="548221" y="2289"/>
                  </a:lnTo>
                  <a:lnTo>
                    <a:pt x="595086" y="9016"/>
                  </a:lnTo>
                  <a:lnTo>
                    <a:pt x="640445" y="19973"/>
                  </a:lnTo>
                  <a:lnTo>
                    <a:pt x="684090" y="34949"/>
                  </a:lnTo>
                  <a:lnTo>
                    <a:pt x="725812" y="53735"/>
                  </a:lnTo>
                  <a:lnTo>
                    <a:pt x="765399" y="76122"/>
                  </a:lnTo>
                  <a:lnTo>
                    <a:pt x="802644" y="101899"/>
                  </a:lnTo>
                  <a:lnTo>
                    <a:pt x="837336" y="130858"/>
                  </a:lnTo>
                  <a:lnTo>
                    <a:pt x="869266" y="162788"/>
                  </a:lnTo>
                  <a:lnTo>
                    <a:pt x="898225" y="197480"/>
                  </a:lnTo>
                  <a:lnTo>
                    <a:pt x="924002" y="234725"/>
                  </a:lnTo>
                  <a:lnTo>
                    <a:pt x="946389" y="274313"/>
                  </a:lnTo>
                  <a:lnTo>
                    <a:pt x="965175" y="316034"/>
                  </a:lnTo>
                  <a:lnTo>
                    <a:pt x="980151" y="359679"/>
                  </a:lnTo>
                  <a:lnTo>
                    <a:pt x="991108" y="405038"/>
                  </a:lnTo>
                  <a:lnTo>
                    <a:pt x="997835" y="451903"/>
                  </a:lnTo>
                  <a:lnTo>
                    <a:pt x="1000124" y="500062"/>
                  </a:lnTo>
                  <a:lnTo>
                    <a:pt x="997835" y="548221"/>
                  </a:lnTo>
                  <a:lnTo>
                    <a:pt x="991108" y="595085"/>
                  </a:lnTo>
                  <a:lnTo>
                    <a:pt x="980151" y="640445"/>
                  </a:lnTo>
                  <a:lnTo>
                    <a:pt x="965175" y="684090"/>
                  </a:lnTo>
                  <a:lnTo>
                    <a:pt x="946389" y="725811"/>
                  </a:lnTo>
                  <a:lnTo>
                    <a:pt x="924002" y="765399"/>
                  </a:lnTo>
                  <a:lnTo>
                    <a:pt x="898225" y="802644"/>
                  </a:lnTo>
                  <a:lnTo>
                    <a:pt x="869266" y="837336"/>
                  </a:lnTo>
                  <a:lnTo>
                    <a:pt x="837336" y="869266"/>
                  </a:lnTo>
                  <a:lnTo>
                    <a:pt x="802644" y="898225"/>
                  </a:lnTo>
                  <a:lnTo>
                    <a:pt x="765399" y="924002"/>
                  </a:lnTo>
                  <a:lnTo>
                    <a:pt x="725812" y="946388"/>
                  </a:lnTo>
                  <a:lnTo>
                    <a:pt x="684090" y="965175"/>
                  </a:lnTo>
                  <a:lnTo>
                    <a:pt x="640445" y="980151"/>
                  </a:lnTo>
                  <a:lnTo>
                    <a:pt x="595086" y="991108"/>
                  </a:lnTo>
                  <a:lnTo>
                    <a:pt x="548221" y="997835"/>
                  </a:lnTo>
                  <a:lnTo>
                    <a:pt x="500062" y="1000124"/>
                  </a:lnTo>
                  <a:close/>
                </a:path>
              </a:pathLst>
            </a:custGeom>
            <a:solidFill>
              <a:srgbClr val="F693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12450662" y="6302374"/>
            <a:ext cx="34290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100" b="1" spc="30" dirty="0">
                <a:solidFill>
                  <a:srgbClr val="FFFFFF"/>
                </a:solidFill>
                <a:latin typeface="Trebuchet MS"/>
                <a:cs typeface="Trebuchet MS"/>
              </a:rPr>
              <a:t>PB</a:t>
            </a:r>
            <a:endParaRPr sz="2100">
              <a:latin typeface="Trebuchet MS"/>
              <a:cs typeface="Trebuchet MS"/>
            </a:endParaRPr>
          </a:p>
        </p:txBody>
      </p:sp>
      <p:sp>
        <p:nvSpPr>
          <p:cNvPr id="42" name="object 4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5"/>
              </a:lnSpc>
              <a:tabLst>
                <a:tab pos="756285" algn="l"/>
              </a:tabLst>
            </a:pPr>
            <a:r>
              <a:rPr spc="130" dirty="0"/>
              <a:t>KAZI</a:t>
            </a:r>
            <a:r>
              <a:rPr spc="-250" dirty="0"/>
              <a:t> </a:t>
            </a:r>
            <a:r>
              <a:rPr sz="1450" b="0" spc="705" dirty="0">
                <a:latin typeface="Segoe UI Symbol"/>
                <a:cs typeface="Segoe UI Symbol"/>
              </a:rPr>
              <a:t>⚡</a:t>
            </a:r>
            <a:r>
              <a:rPr sz="1450" b="0" dirty="0">
                <a:latin typeface="Segoe UI Symbol"/>
                <a:cs typeface="Segoe UI Symbol"/>
              </a:rPr>
              <a:t>	</a:t>
            </a:r>
            <a:r>
              <a:rPr dirty="0"/>
              <a:t>•</a:t>
            </a:r>
            <a:r>
              <a:rPr spc="440" dirty="0"/>
              <a:t> </a:t>
            </a:r>
            <a:r>
              <a:rPr spc="120" dirty="0"/>
              <a:t>2026</a:t>
            </a:r>
            <a:endParaRPr sz="1450">
              <a:latin typeface="Segoe UI Symbol"/>
              <a:cs typeface="Segoe UI Symbo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4532510" y="9735528"/>
            <a:ext cx="564515" cy="2362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250" b="1" dirty="0">
                <a:solidFill>
                  <a:srgbClr val="696975"/>
                </a:solidFill>
                <a:latin typeface="Trebuchet MS"/>
                <a:cs typeface="Trebuchet MS"/>
              </a:rPr>
              <a:t>12</a:t>
            </a:r>
            <a:r>
              <a:rPr sz="1250" b="1" spc="105" dirty="0">
                <a:solidFill>
                  <a:srgbClr val="696975"/>
                </a:solidFill>
                <a:latin typeface="Trebuchet MS"/>
                <a:cs typeface="Trebuchet MS"/>
              </a:rPr>
              <a:t> </a:t>
            </a:r>
            <a:r>
              <a:rPr sz="1250" b="1" dirty="0">
                <a:solidFill>
                  <a:srgbClr val="696975"/>
                </a:solidFill>
                <a:latin typeface="Trebuchet MS"/>
                <a:cs typeface="Trebuchet MS"/>
              </a:rPr>
              <a:t>/</a:t>
            </a:r>
            <a:r>
              <a:rPr sz="1250" b="1" spc="110" dirty="0">
                <a:solidFill>
                  <a:srgbClr val="696975"/>
                </a:solidFill>
                <a:latin typeface="Trebuchet MS"/>
                <a:cs typeface="Trebuchet MS"/>
              </a:rPr>
              <a:t> </a:t>
            </a:r>
            <a:r>
              <a:rPr sz="1250" b="1" spc="-60" dirty="0">
                <a:solidFill>
                  <a:srgbClr val="696975"/>
                </a:solidFill>
                <a:latin typeface="Trebuchet MS"/>
                <a:cs typeface="Trebuchet MS"/>
              </a:rPr>
              <a:t>12</a:t>
            </a:r>
            <a:endParaRPr sz="1250">
              <a:latin typeface="Trebuchet MS"/>
              <a:cs typeface="Trebuchet MS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3192125" y="5850889"/>
            <a:ext cx="1426210" cy="7150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1A1A2E"/>
                </a:solidFill>
                <a:latin typeface="Trebuchet MS"/>
                <a:cs typeface="Trebuchet MS"/>
              </a:rPr>
              <a:t>Pierre</a:t>
            </a:r>
            <a:r>
              <a:rPr sz="1800" b="1" spc="-85" dirty="0">
                <a:solidFill>
                  <a:srgbClr val="1A1A2E"/>
                </a:solidFill>
                <a:latin typeface="Trebuchet MS"/>
                <a:cs typeface="Trebuchet MS"/>
              </a:rPr>
              <a:t> </a:t>
            </a:r>
            <a:r>
              <a:rPr sz="1800" b="1" spc="-10" dirty="0">
                <a:solidFill>
                  <a:srgbClr val="1A1A2E"/>
                </a:solidFill>
                <a:latin typeface="Trebuchet MS"/>
                <a:cs typeface="Trebuchet MS"/>
              </a:rPr>
              <a:t>Bahati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470"/>
              </a:spcBef>
            </a:pPr>
            <a:r>
              <a:rPr sz="1500" spc="130" dirty="0">
                <a:solidFill>
                  <a:srgbClr val="F6931A"/>
                </a:solidFill>
                <a:latin typeface="Trebuchet MS"/>
                <a:cs typeface="Trebuchet MS"/>
              </a:rPr>
              <a:t>QA</a:t>
            </a:r>
            <a:r>
              <a:rPr sz="1500" spc="-50" dirty="0">
                <a:solidFill>
                  <a:srgbClr val="F6931A"/>
                </a:solidFill>
                <a:latin typeface="Trebuchet MS"/>
                <a:cs typeface="Trebuchet MS"/>
              </a:rPr>
              <a:t> </a:t>
            </a:r>
            <a:r>
              <a:rPr sz="1500" spc="-210" dirty="0">
                <a:solidFill>
                  <a:srgbClr val="F6931A"/>
                </a:solidFill>
                <a:latin typeface="Trebuchet MS"/>
                <a:cs typeface="Trebuchet MS"/>
              </a:rPr>
              <a:t>/</a:t>
            </a:r>
            <a:r>
              <a:rPr sz="1500" spc="-50" dirty="0">
                <a:solidFill>
                  <a:srgbClr val="F6931A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F6931A"/>
                </a:solidFill>
                <a:latin typeface="Trebuchet MS"/>
                <a:cs typeface="Trebuchet MS"/>
              </a:rPr>
              <a:t>Testing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054100" y="8417282"/>
            <a:ext cx="2755265" cy="3409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800" i="1" spc="250" dirty="0">
                <a:solidFill>
                  <a:srgbClr val="1A1A2E"/>
                </a:solidFill>
                <a:latin typeface="Times New Roman"/>
                <a:cs typeface="Times New Roman"/>
              </a:rPr>
              <a:t>Kazi</a:t>
            </a:r>
            <a:r>
              <a:rPr sz="2050" spc="250" dirty="0">
                <a:solidFill>
                  <a:srgbClr val="1A1A2E"/>
                </a:solidFill>
                <a:latin typeface="Segoe UI Symbol"/>
                <a:cs typeface="Segoe UI Symbol"/>
              </a:rPr>
              <a:t>⚡</a:t>
            </a:r>
            <a:r>
              <a:rPr sz="2050" spc="135" dirty="0">
                <a:solidFill>
                  <a:srgbClr val="1A1A2E"/>
                </a:solidFill>
                <a:latin typeface="Segoe UI Symbol"/>
                <a:cs typeface="Segoe UI Symbol"/>
              </a:rPr>
              <a:t> </a:t>
            </a:r>
            <a:r>
              <a:rPr sz="1800" i="1" dirty="0">
                <a:solidFill>
                  <a:srgbClr val="1A1A2E"/>
                </a:solidFill>
                <a:latin typeface="Times New Roman"/>
                <a:cs typeface="Times New Roman"/>
              </a:rPr>
              <a:t>Project</a:t>
            </a:r>
            <a:r>
              <a:rPr sz="1800" i="1" spc="20" dirty="0">
                <a:solidFill>
                  <a:srgbClr val="1A1A2E"/>
                </a:solidFill>
                <a:latin typeface="Times New Roman"/>
                <a:cs typeface="Times New Roman"/>
              </a:rPr>
              <a:t> </a:t>
            </a:r>
            <a:r>
              <a:rPr sz="1800" i="1" spc="65" dirty="0">
                <a:solidFill>
                  <a:srgbClr val="1A1A2E"/>
                </a:solidFill>
                <a:latin typeface="Times New Roman"/>
                <a:cs typeface="Times New Roman"/>
              </a:rPr>
              <a:t>Team,</a:t>
            </a:r>
            <a:r>
              <a:rPr sz="1800" i="1" spc="20" dirty="0">
                <a:solidFill>
                  <a:srgbClr val="1A1A2E"/>
                </a:solidFill>
                <a:latin typeface="Times New Roman"/>
                <a:cs typeface="Times New Roman"/>
              </a:rPr>
              <a:t> </a:t>
            </a:r>
            <a:r>
              <a:rPr sz="1800" i="1" spc="-20" dirty="0">
                <a:solidFill>
                  <a:srgbClr val="1A1A2E"/>
                </a:solidFill>
                <a:latin typeface="Times New Roman"/>
                <a:cs typeface="Times New Roman"/>
              </a:rPr>
              <a:t>2026.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</TotalTime>
  <Words>716</Words>
  <Application>Microsoft Office PowerPoint</Application>
  <PresentationFormat>Custom</PresentationFormat>
  <Paragraphs>170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Cambria</vt:lpstr>
      <vt:lpstr>Segoe UI Symbol</vt:lpstr>
      <vt:lpstr>Times New Roman</vt:lpstr>
      <vt:lpstr>Trebuchet MS</vt:lpstr>
      <vt:lpstr>Office Theme</vt:lpstr>
      <vt:lpstr>Kazi⚡ A smarter micro-earnings project</vt:lpstr>
      <vt:lpstr>Youth unemployment is slowing Rwanda down.</vt:lpstr>
      <vt:lpstr>The evidence shows a widening gap.</vt:lpstr>
      <vt:lpstr>The challenge isn't a lack of skill — it's a lack of access.</vt:lpstr>
      <vt:lpstr>From a small task to instant settlement.</vt:lpstr>
      <vt:lpstr>Kazi⚡ complements the tools people already use.</vt:lpstr>
      <vt:lpstr>A direct pathway to instant settlement.</vt:lpstr>
      <vt:lpstr>One app, instant earnings.</vt:lpstr>
      <vt:lpstr>How Kazi⚡ makes money.</vt:lpstr>
      <vt:lpstr>What success looks like.</vt:lpstr>
      <vt:lpstr>The team behind Kazi⚡ 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Kazi-system </dc:title>
  <dc:creator>Dushime Aline Denise</dc:creator>
  <cp:keywords>DAHTkOeBt1I,BAHAjTzdz6Q</cp:keywords>
  <cp:lastModifiedBy>prince gaby</cp:lastModifiedBy>
  <cp:revision>1</cp:revision>
  <dcterms:created xsi:type="dcterms:W3CDTF">2026-08-28T11:41:59Z</dcterms:created>
  <dcterms:modified xsi:type="dcterms:W3CDTF">2026-08-28T12:06:26Z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2026-08-28T00:00:00Z</vt:filetime>
  </property>
  <property fmtid="{D5CDD505-2E9C-101B-9397-08002B2CF9AE}" pid="4" name="Creator">
    <vt:lpwstr>Canva</vt:lpwstr>
  </property>
  <property fmtid="{D5CDD505-2E9C-101B-9397-08002B2CF9AE}" pid="5" name="LastSaved">
    <vt:filetime>2026-08-28T00:00:00Z</vt:filetime>
  </property>
  <property fmtid="{D5CDD505-2E9C-101B-9397-08002B2CF9AE}" pid="6" name="Producer">
    <vt:lpwstr>Canva</vt:lpwstr>
  </property>
  <property fmtid="{D5CDD505-2E9C-101B-9397-08002B2CF9AE}" pid="7" name="containsAiGeneratedContent">
    <vt:lpwstr>Yes</vt:lpwstr>
  </property>
</Properties>
</file>